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731520" y="1051560"/>
            <a:ext cx="10424160" cy="1920240"/>
          </a:xfrm>
          <a:prstGeom prst="rect">
            <a:avLst/>
          </a:prstGeom>
          <a:noFill/>
          <a:ln/>
        </p:spPr>
        <p:txBody>
          <a:bodyPr wrap="square" lIns="0" tIns="0" rIns="0" bIns="0" rtlCol="0" anchor="b"/>
          <a:lstStyle/>
          <a:p>
            <a:pPr indent="0" marL="0">
              <a:buNone/>
            </a:pPr>
            <a:r>
              <a:rPr lang="en-US" sz="5200" b="1" dirty="0">
                <a:solidFill>
                  <a:srgbClr val="FFFFFF"/>
                </a:solidFill>
                <a:latin typeface="Cambria" pitchFamily="34" charset="0"/>
                <a:ea typeface="Cambria" pitchFamily="34" charset="-122"/>
                <a:cs typeface="Cambria" pitchFamily="34" charset="-120"/>
              </a:rPr>
              <a:t>From Committee to Continuum</a:t>
            </a:r>
            <a:endParaRPr lang="en-US" sz="5200" dirty="0"/>
          </a:p>
        </p:txBody>
      </p:sp>
      <p:sp>
        <p:nvSpPr>
          <p:cNvPr id="3" name="Text 1"/>
          <p:cNvSpPr txBox="1"/>
          <p:nvPr/>
        </p:nvSpPr>
        <p:spPr>
          <a:xfrm>
            <a:off x="731520" y="3154680"/>
            <a:ext cx="10424160" cy="914400"/>
          </a:xfrm>
          <a:prstGeom prst="rect">
            <a:avLst/>
          </a:prstGeom>
          <a:noFill/>
          <a:ln/>
        </p:spPr>
        <p:txBody>
          <a:bodyPr wrap="square" lIns="0" tIns="0" rIns="0" bIns="0" rtlCol="0" anchor="t"/>
          <a:lstStyle/>
          <a:p>
            <a:pPr indent="0" marL="0">
              <a:buNone/>
            </a:pPr>
            <a:r>
              <a:rPr lang="en-US" sz="2600" i="1" dirty="0">
                <a:solidFill>
                  <a:srgbClr val="F3C97A"/>
                </a:solidFill>
                <a:latin typeface="Cambria" pitchFamily="34" charset="0"/>
                <a:ea typeface="Cambria" pitchFamily="34" charset="-122"/>
                <a:cs typeface="Cambria" pitchFamily="34" charset="-120"/>
              </a:rPr>
              <a:t>Can Markets Price Default Faster Than Rating Agencies?</a:t>
            </a:r>
            <a:endParaRPr lang="en-US" sz="2600" dirty="0"/>
          </a:p>
        </p:txBody>
      </p:sp>
      <p:sp>
        <p:nvSpPr>
          <p:cNvPr id="4" name="Shape 2"/>
          <p:cNvSpPr/>
          <p:nvPr/>
        </p:nvSpPr>
        <p:spPr>
          <a:xfrm>
            <a:off x="731520" y="3977640"/>
            <a:ext cx="2743200" cy="0"/>
          </a:xfrm>
          <a:prstGeom prst="line">
            <a:avLst/>
          </a:prstGeom>
          <a:noFill/>
          <a:ln w="19050">
            <a:solidFill>
              <a:srgbClr val="F3C97A"/>
            </a:solidFill>
            <a:prstDash val="solid"/>
          </a:ln>
        </p:spPr>
      </p:sp>
      <p:sp>
        <p:nvSpPr>
          <p:cNvPr id="5" name="Text 3"/>
          <p:cNvSpPr txBox="1"/>
          <p:nvPr/>
        </p:nvSpPr>
        <p:spPr>
          <a:xfrm>
            <a:off x="731520" y="4206240"/>
            <a:ext cx="10424160" cy="1280160"/>
          </a:xfrm>
          <a:prstGeom prst="rect">
            <a:avLst/>
          </a:prstGeom>
          <a:noFill/>
          <a:ln/>
        </p:spPr>
        <p:txBody>
          <a:bodyPr wrap="square" lIns="0" tIns="0" rIns="0" bIns="0" rtlCol="0" anchor="t"/>
          <a:lstStyle/>
          <a:p>
            <a:pPr indent="0" marL="0">
              <a:buNone/>
            </a:pPr>
            <a:r>
              <a:rPr lang="en-US" sz="1600" i="1" dirty="0">
                <a:solidFill>
                  <a:srgbClr val="AFC0DB"/>
                </a:solidFill>
                <a:latin typeface="Calibri" pitchFamily="34" charset="0"/>
                <a:ea typeface="Calibri" pitchFamily="34" charset="-122"/>
                <a:cs typeface="Calibri" pitchFamily="34" charset="-120"/>
              </a:rPr>
              <a:t>A structural credit-risk model tested against a real bank failure</a:t>
            </a:r>
            <a:endParaRPr lang="en-US" sz="1600" dirty="0"/>
          </a:p>
        </p:txBody>
      </p:sp>
      <p:sp>
        <p:nvSpPr>
          <p:cNvPr id="6" name="Text 4"/>
          <p:cNvSpPr txBox="1"/>
          <p:nvPr/>
        </p:nvSpPr>
        <p:spPr>
          <a:xfrm>
            <a:off x="731520" y="5806440"/>
            <a:ext cx="10424160" cy="1005840"/>
          </a:xfrm>
          <a:prstGeom prst="rect">
            <a:avLst/>
          </a:prstGeom>
          <a:noFill/>
          <a:ln/>
        </p:spPr>
        <p:txBody>
          <a:bodyPr wrap="square" lIns="0" tIns="0" rIns="0" bIns="0" rtlCol="0" anchor="t"/>
          <a:lstStyle/>
          <a:p>
            <a:pPr indent="0" marL="0">
              <a:buNone/>
            </a:pPr>
            <a:r>
              <a:rPr lang="en-US" sz="1400" dirty="0">
                <a:solidFill>
                  <a:srgbClr val="D6DEEC"/>
                </a:solidFill>
                <a:latin typeface="Calibri" pitchFamily="34" charset="0"/>
                <a:ea typeface="Calibri" pitchFamily="34" charset="-122"/>
                <a:cs typeface="Calibri" pitchFamily="34" charset="-120"/>
              </a:rPr>
              <a:t>MS37025 · Managing Financial Services and Institutions</a:t>
            </a:r>
            <a:endParaRPr lang="en-US" sz="1400" dirty="0"/>
          </a:p>
          <a:p>
            <a:pPr indent="0" marL="0">
              <a:buNone/>
            </a:pPr>
            <a:r>
              <a:rPr lang="en-US" sz="1400" dirty="0">
                <a:solidFill>
                  <a:srgbClr val="D6DEEC"/>
                </a:solidFill>
                <a:latin typeface="Calibri" pitchFamily="34" charset="0"/>
                <a:ea typeface="Calibri" pitchFamily="34" charset="-122"/>
                <a:cs typeface="Calibri" pitchFamily="34" charset="-120"/>
              </a:rPr>
              <a:t>Department of Management Studies, NIT Warangal</a:t>
            </a:r>
            <a:endParaRPr lang="en-US" sz="1400" dirty="0"/>
          </a:p>
          <a:p>
            <a:pPr indent="0" marL="0">
              <a:buNone/>
            </a:pPr>
            <a:r>
              <a:rPr lang="en-US" sz="1400" dirty="0">
                <a:solidFill>
                  <a:srgbClr val="D6DEEC"/>
                </a:solidFill>
                <a:latin typeface="Calibri" pitchFamily="34" charset="0"/>
                <a:ea typeface="Calibri" pitchFamily="34" charset="-122"/>
                <a:cs typeface="Calibri" pitchFamily="34" charset="-120"/>
              </a:rPr>
              <a:t>Dhritabrata Swarnakar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320040"/>
          </a:xfrm>
          <a:prstGeom prst="rect">
            <a:avLst/>
          </a:prstGeom>
          <a:noFill/>
          <a:ln/>
        </p:spPr>
        <p:txBody>
          <a:bodyPr wrap="square" lIns="0" tIns="0" rIns="0" bIns="0" rtlCol="0" anchor="t"/>
          <a:lstStyle/>
          <a:p>
            <a:pPr indent="0" marL="0">
              <a:buNone/>
            </a:pPr>
            <a:r>
              <a:rPr lang="en-US" sz="1200" b="1" spc="200" kern="0" dirty="0">
                <a:solidFill>
                  <a:srgbClr val="1F8A7A"/>
                </a:solidFill>
                <a:latin typeface="Calibri" pitchFamily="34" charset="0"/>
                <a:ea typeface="Calibri" pitchFamily="34" charset="-122"/>
                <a:cs typeface="Calibri" pitchFamily="34" charset="-120"/>
              </a:rPr>
              <a:t>AGENDA</a:t>
            </a:r>
            <a:endParaRPr lang="en-US" sz="1200" dirty="0"/>
          </a:p>
        </p:txBody>
      </p:sp>
      <p:sp>
        <p:nvSpPr>
          <p:cNvPr id="3" name="Text 1"/>
          <p:cNvSpPr txBox="1"/>
          <p:nvPr/>
        </p:nvSpPr>
        <p:spPr>
          <a:xfrm>
            <a:off x="548640" y="457200"/>
            <a:ext cx="11064240" cy="731520"/>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Roadmap</a:t>
            </a:r>
            <a:endParaRPr lang="en-US" sz="2900" dirty="0"/>
          </a:p>
        </p:txBody>
      </p:sp>
      <p:sp>
        <p:nvSpPr>
          <p:cNvPr id="4" name="Shape 2"/>
          <p:cNvSpPr/>
          <p:nvPr/>
        </p:nvSpPr>
        <p:spPr>
          <a:xfrm>
            <a:off x="548640" y="1371600"/>
            <a:ext cx="5394960" cy="1115568"/>
          </a:xfrm>
          <a:prstGeom prst="roundRect">
            <a:avLst>
              <a:gd name="adj" fmla="val 6557"/>
            </a:avLst>
          </a:prstGeom>
          <a:solidFill>
            <a:srgbClr val="EEF2F8"/>
          </a:solidFill>
          <a:ln w="12700">
            <a:solidFill>
              <a:srgbClr val="EEF2F8"/>
            </a:solidFill>
            <a:prstDash val="solid"/>
          </a:ln>
        </p:spPr>
      </p:sp>
      <p:sp>
        <p:nvSpPr>
          <p:cNvPr id="5" name="Text 3"/>
          <p:cNvSpPr txBox="1"/>
          <p:nvPr/>
        </p:nvSpPr>
        <p:spPr>
          <a:xfrm>
            <a:off x="777240" y="1536192"/>
            <a:ext cx="914400" cy="822960"/>
          </a:xfrm>
          <a:prstGeom prst="rect">
            <a:avLst/>
          </a:prstGeom>
          <a:noFill/>
          <a:ln/>
        </p:spPr>
        <p:txBody>
          <a:bodyPr wrap="square" lIns="0" tIns="0" rIns="0" bIns="0" rtlCol="0" anchor="t"/>
          <a:lstStyle/>
          <a:p>
            <a:pPr indent="0" marL="0">
              <a:buNone/>
            </a:pPr>
            <a:r>
              <a:rPr lang="en-US" sz="3000" b="1" dirty="0">
                <a:solidFill>
                  <a:srgbClr val="C9D3E4"/>
                </a:solidFill>
                <a:latin typeface="Cambria" pitchFamily="34" charset="0"/>
                <a:ea typeface="Cambria" pitchFamily="34" charset="-122"/>
                <a:cs typeface="Cambria" pitchFamily="34" charset="-120"/>
              </a:rPr>
              <a:t>01</a:t>
            </a:r>
            <a:endParaRPr lang="en-US" sz="3000" dirty="0"/>
          </a:p>
        </p:txBody>
      </p:sp>
      <p:sp>
        <p:nvSpPr>
          <p:cNvPr id="6" name="Text 4"/>
          <p:cNvSpPr txBox="1"/>
          <p:nvPr/>
        </p:nvSpPr>
        <p:spPr>
          <a:xfrm>
            <a:off x="1645920" y="1517904"/>
            <a:ext cx="4023360" cy="41148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The setup</a:t>
            </a:r>
            <a:endParaRPr lang="en-US" sz="1700" dirty="0"/>
          </a:p>
        </p:txBody>
      </p:sp>
      <p:sp>
        <p:nvSpPr>
          <p:cNvPr id="7" name="Text 5"/>
          <p:cNvSpPr txBox="1"/>
          <p:nvPr/>
        </p:nvSpPr>
        <p:spPr>
          <a:xfrm>
            <a:off x="1645920" y="1938528"/>
            <a:ext cx="4023360" cy="457200"/>
          </a:xfrm>
          <a:prstGeom prst="rect">
            <a:avLst/>
          </a:prstGeom>
          <a:noFill/>
          <a:ln/>
        </p:spPr>
        <p:txBody>
          <a:bodyPr wrap="square" lIns="0" tIns="0" rIns="0" bIns="0" rtlCol="0" anchor="t"/>
          <a:lstStyle/>
          <a:p>
            <a:pPr indent="0" marL="0">
              <a:buNone/>
            </a:pPr>
            <a:r>
              <a:rPr lang="en-US" sz="1250" dirty="0">
                <a:solidFill>
                  <a:srgbClr val="5B6577"/>
                </a:solidFill>
                <a:latin typeface="Calibri" pitchFamily="34" charset="0"/>
                <a:ea typeface="Calibri" pitchFamily="34" charset="-122"/>
                <a:cs typeface="Calibri" pitchFamily="34" charset="-120"/>
              </a:rPr>
              <a:t>How India rates bank credit risk today</a:t>
            </a:r>
            <a:endParaRPr lang="en-US" sz="1250" dirty="0"/>
          </a:p>
        </p:txBody>
      </p:sp>
      <p:sp>
        <p:nvSpPr>
          <p:cNvPr id="8" name="Shape 6"/>
          <p:cNvSpPr/>
          <p:nvPr/>
        </p:nvSpPr>
        <p:spPr>
          <a:xfrm>
            <a:off x="6217920" y="1371600"/>
            <a:ext cx="5394960" cy="1115568"/>
          </a:xfrm>
          <a:prstGeom prst="roundRect">
            <a:avLst>
              <a:gd name="adj" fmla="val 6557"/>
            </a:avLst>
          </a:prstGeom>
          <a:solidFill>
            <a:srgbClr val="EEF2F8"/>
          </a:solidFill>
          <a:ln w="12700">
            <a:solidFill>
              <a:srgbClr val="EEF2F8"/>
            </a:solidFill>
            <a:prstDash val="solid"/>
          </a:ln>
        </p:spPr>
      </p:sp>
      <p:sp>
        <p:nvSpPr>
          <p:cNvPr id="9" name="Text 7"/>
          <p:cNvSpPr txBox="1"/>
          <p:nvPr/>
        </p:nvSpPr>
        <p:spPr>
          <a:xfrm>
            <a:off x="6446520" y="1536192"/>
            <a:ext cx="914400" cy="822960"/>
          </a:xfrm>
          <a:prstGeom prst="rect">
            <a:avLst/>
          </a:prstGeom>
          <a:noFill/>
          <a:ln/>
        </p:spPr>
        <p:txBody>
          <a:bodyPr wrap="square" lIns="0" tIns="0" rIns="0" bIns="0" rtlCol="0" anchor="t"/>
          <a:lstStyle/>
          <a:p>
            <a:pPr indent="0" marL="0">
              <a:buNone/>
            </a:pPr>
            <a:r>
              <a:rPr lang="en-US" sz="3000" b="1" dirty="0">
                <a:solidFill>
                  <a:srgbClr val="C9D3E4"/>
                </a:solidFill>
                <a:latin typeface="Cambria" pitchFamily="34" charset="0"/>
                <a:ea typeface="Cambria" pitchFamily="34" charset="-122"/>
                <a:cs typeface="Cambria" pitchFamily="34" charset="-120"/>
              </a:rPr>
              <a:t>02</a:t>
            </a:r>
            <a:endParaRPr lang="en-US" sz="3000" dirty="0"/>
          </a:p>
        </p:txBody>
      </p:sp>
      <p:sp>
        <p:nvSpPr>
          <p:cNvPr id="10" name="Text 8"/>
          <p:cNvSpPr txBox="1"/>
          <p:nvPr/>
        </p:nvSpPr>
        <p:spPr>
          <a:xfrm>
            <a:off x="7315200" y="1517904"/>
            <a:ext cx="4023360" cy="41148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The critique</a:t>
            </a:r>
            <a:endParaRPr lang="en-US" sz="1700" dirty="0"/>
          </a:p>
        </p:txBody>
      </p:sp>
      <p:sp>
        <p:nvSpPr>
          <p:cNvPr id="11" name="Text 9"/>
          <p:cNvSpPr txBox="1"/>
          <p:nvPr/>
        </p:nvSpPr>
        <p:spPr>
          <a:xfrm>
            <a:off x="7315200" y="1938528"/>
            <a:ext cx="4023360" cy="457200"/>
          </a:xfrm>
          <a:prstGeom prst="rect">
            <a:avLst/>
          </a:prstGeom>
          <a:noFill/>
          <a:ln/>
        </p:spPr>
        <p:txBody>
          <a:bodyPr wrap="square" lIns="0" tIns="0" rIns="0" bIns="0" rtlCol="0" anchor="t"/>
          <a:lstStyle/>
          <a:p>
            <a:pPr indent="0" marL="0">
              <a:buNone/>
            </a:pPr>
            <a:r>
              <a:rPr lang="en-US" sz="1250" dirty="0">
                <a:solidFill>
                  <a:srgbClr val="5B6577"/>
                </a:solidFill>
                <a:latin typeface="Calibri" pitchFamily="34" charset="0"/>
                <a:ea typeface="Calibri" pitchFamily="34" charset="-122"/>
                <a:cs typeface="Calibri" pitchFamily="34" charset="-120"/>
              </a:rPr>
              <a:t>Why ratings are structurally slow to move</a:t>
            </a:r>
            <a:endParaRPr lang="en-US" sz="1250" dirty="0"/>
          </a:p>
        </p:txBody>
      </p:sp>
      <p:sp>
        <p:nvSpPr>
          <p:cNvPr id="12" name="Shape 10"/>
          <p:cNvSpPr/>
          <p:nvPr/>
        </p:nvSpPr>
        <p:spPr>
          <a:xfrm>
            <a:off x="548640" y="2670048"/>
            <a:ext cx="5394960" cy="1115568"/>
          </a:xfrm>
          <a:prstGeom prst="roundRect">
            <a:avLst>
              <a:gd name="adj" fmla="val 6557"/>
            </a:avLst>
          </a:prstGeom>
          <a:solidFill>
            <a:srgbClr val="EEF2F8"/>
          </a:solidFill>
          <a:ln w="12700">
            <a:solidFill>
              <a:srgbClr val="EEF2F8"/>
            </a:solidFill>
            <a:prstDash val="solid"/>
          </a:ln>
        </p:spPr>
      </p:sp>
      <p:sp>
        <p:nvSpPr>
          <p:cNvPr id="13" name="Text 11"/>
          <p:cNvSpPr txBox="1"/>
          <p:nvPr/>
        </p:nvSpPr>
        <p:spPr>
          <a:xfrm>
            <a:off x="777240" y="2834640"/>
            <a:ext cx="914400" cy="822960"/>
          </a:xfrm>
          <a:prstGeom prst="rect">
            <a:avLst/>
          </a:prstGeom>
          <a:noFill/>
          <a:ln/>
        </p:spPr>
        <p:txBody>
          <a:bodyPr wrap="square" lIns="0" tIns="0" rIns="0" bIns="0" rtlCol="0" anchor="t"/>
          <a:lstStyle/>
          <a:p>
            <a:pPr indent="0" marL="0">
              <a:buNone/>
            </a:pPr>
            <a:r>
              <a:rPr lang="en-US" sz="3000" b="1" dirty="0">
                <a:solidFill>
                  <a:srgbClr val="C9D3E4"/>
                </a:solidFill>
                <a:latin typeface="Cambria" pitchFamily="34" charset="0"/>
                <a:ea typeface="Cambria" pitchFamily="34" charset="-122"/>
                <a:cs typeface="Cambria" pitchFamily="34" charset="-120"/>
              </a:rPr>
              <a:t>03</a:t>
            </a:r>
            <a:endParaRPr lang="en-US" sz="3000" dirty="0"/>
          </a:p>
        </p:txBody>
      </p:sp>
      <p:sp>
        <p:nvSpPr>
          <p:cNvPr id="14" name="Text 12"/>
          <p:cNvSpPr txBox="1"/>
          <p:nvPr/>
        </p:nvSpPr>
        <p:spPr>
          <a:xfrm>
            <a:off x="1645920" y="2816352"/>
            <a:ext cx="4023360" cy="41148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The model</a:t>
            </a:r>
            <a:endParaRPr lang="en-US" sz="1700" dirty="0"/>
          </a:p>
        </p:txBody>
      </p:sp>
      <p:sp>
        <p:nvSpPr>
          <p:cNvPr id="15" name="Text 13"/>
          <p:cNvSpPr txBox="1"/>
          <p:nvPr/>
        </p:nvSpPr>
        <p:spPr>
          <a:xfrm>
            <a:off x="1645920" y="3236976"/>
            <a:ext cx="4023360" cy="457200"/>
          </a:xfrm>
          <a:prstGeom prst="rect">
            <a:avLst/>
          </a:prstGeom>
          <a:noFill/>
          <a:ln/>
        </p:spPr>
        <p:txBody>
          <a:bodyPr wrap="square" lIns="0" tIns="0" rIns="0" bIns="0" rtlCol="0" anchor="t"/>
          <a:lstStyle/>
          <a:p>
            <a:pPr indent="0" marL="0">
              <a:buNone/>
            </a:pPr>
            <a:r>
              <a:rPr lang="en-US" sz="1250" dirty="0">
                <a:solidFill>
                  <a:srgbClr val="5B6577"/>
                </a:solidFill>
                <a:latin typeface="Calibri" pitchFamily="34" charset="0"/>
                <a:ea typeface="Calibri" pitchFamily="34" charset="-122"/>
                <a:cs typeface="Calibri" pitchFamily="34" charset="-120"/>
              </a:rPr>
              <a:t>Merton / KMV, built from first principles</a:t>
            </a:r>
            <a:endParaRPr lang="en-US" sz="1250" dirty="0"/>
          </a:p>
        </p:txBody>
      </p:sp>
      <p:sp>
        <p:nvSpPr>
          <p:cNvPr id="16" name="Shape 14"/>
          <p:cNvSpPr/>
          <p:nvPr/>
        </p:nvSpPr>
        <p:spPr>
          <a:xfrm>
            <a:off x="6217920" y="2670048"/>
            <a:ext cx="5394960" cy="1115568"/>
          </a:xfrm>
          <a:prstGeom prst="roundRect">
            <a:avLst>
              <a:gd name="adj" fmla="val 6557"/>
            </a:avLst>
          </a:prstGeom>
          <a:solidFill>
            <a:srgbClr val="EEF2F8"/>
          </a:solidFill>
          <a:ln w="12700">
            <a:solidFill>
              <a:srgbClr val="EEF2F8"/>
            </a:solidFill>
            <a:prstDash val="solid"/>
          </a:ln>
        </p:spPr>
      </p:sp>
      <p:sp>
        <p:nvSpPr>
          <p:cNvPr id="17" name="Text 15"/>
          <p:cNvSpPr txBox="1"/>
          <p:nvPr/>
        </p:nvSpPr>
        <p:spPr>
          <a:xfrm>
            <a:off x="6446520" y="2834640"/>
            <a:ext cx="914400" cy="822960"/>
          </a:xfrm>
          <a:prstGeom prst="rect">
            <a:avLst/>
          </a:prstGeom>
          <a:noFill/>
          <a:ln/>
        </p:spPr>
        <p:txBody>
          <a:bodyPr wrap="square" lIns="0" tIns="0" rIns="0" bIns="0" rtlCol="0" anchor="t"/>
          <a:lstStyle/>
          <a:p>
            <a:pPr indent="0" marL="0">
              <a:buNone/>
            </a:pPr>
            <a:r>
              <a:rPr lang="en-US" sz="3000" b="1" dirty="0">
                <a:solidFill>
                  <a:srgbClr val="C9D3E4"/>
                </a:solidFill>
                <a:latin typeface="Cambria" pitchFamily="34" charset="0"/>
                <a:ea typeface="Cambria" pitchFamily="34" charset="-122"/>
                <a:cs typeface="Cambria" pitchFamily="34" charset="-120"/>
              </a:rPr>
              <a:t>04</a:t>
            </a:r>
            <a:endParaRPr lang="en-US" sz="3000" dirty="0"/>
          </a:p>
        </p:txBody>
      </p:sp>
      <p:sp>
        <p:nvSpPr>
          <p:cNvPr id="18" name="Text 16"/>
          <p:cNvSpPr txBox="1"/>
          <p:nvPr/>
        </p:nvSpPr>
        <p:spPr>
          <a:xfrm>
            <a:off x="7315200" y="2816352"/>
            <a:ext cx="4023360" cy="41148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The mechanics</a:t>
            </a:r>
            <a:endParaRPr lang="en-US" sz="1700" dirty="0"/>
          </a:p>
        </p:txBody>
      </p:sp>
      <p:sp>
        <p:nvSpPr>
          <p:cNvPr id="19" name="Text 17"/>
          <p:cNvSpPr txBox="1"/>
          <p:nvPr/>
        </p:nvSpPr>
        <p:spPr>
          <a:xfrm>
            <a:off x="7315200" y="3236976"/>
            <a:ext cx="4023360" cy="457200"/>
          </a:xfrm>
          <a:prstGeom prst="rect">
            <a:avLst/>
          </a:prstGeom>
          <a:noFill/>
          <a:ln/>
        </p:spPr>
        <p:txBody>
          <a:bodyPr wrap="square" lIns="0" tIns="0" rIns="0" bIns="0" rtlCol="0" anchor="t"/>
          <a:lstStyle/>
          <a:p>
            <a:pPr indent="0" marL="0">
              <a:buNone/>
            </a:pPr>
            <a:r>
              <a:rPr lang="en-US" sz="1250" dirty="0">
                <a:solidFill>
                  <a:srgbClr val="5B6577"/>
                </a:solidFill>
                <a:latin typeface="Calibri" pitchFamily="34" charset="0"/>
                <a:ea typeface="Calibri" pitchFamily="34" charset="-122"/>
                <a:cs typeface="Calibri" pitchFamily="34" charset="-120"/>
              </a:rPr>
              <a:t>A Monte Carlo check of the formula</a:t>
            </a:r>
            <a:endParaRPr lang="en-US" sz="1250" dirty="0"/>
          </a:p>
        </p:txBody>
      </p:sp>
      <p:sp>
        <p:nvSpPr>
          <p:cNvPr id="20" name="Shape 18"/>
          <p:cNvSpPr/>
          <p:nvPr/>
        </p:nvSpPr>
        <p:spPr>
          <a:xfrm>
            <a:off x="548640" y="3968496"/>
            <a:ext cx="5394960" cy="1115568"/>
          </a:xfrm>
          <a:prstGeom prst="roundRect">
            <a:avLst>
              <a:gd name="adj" fmla="val 6557"/>
            </a:avLst>
          </a:prstGeom>
          <a:solidFill>
            <a:srgbClr val="EEF2F8"/>
          </a:solidFill>
          <a:ln w="12700">
            <a:solidFill>
              <a:srgbClr val="EEF2F8"/>
            </a:solidFill>
            <a:prstDash val="solid"/>
          </a:ln>
        </p:spPr>
      </p:sp>
      <p:sp>
        <p:nvSpPr>
          <p:cNvPr id="21" name="Text 19"/>
          <p:cNvSpPr txBox="1"/>
          <p:nvPr/>
        </p:nvSpPr>
        <p:spPr>
          <a:xfrm>
            <a:off x="777240" y="4133088"/>
            <a:ext cx="914400" cy="822960"/>
          </a:xfrm>
          <a:prstGeom prst="rect">
            <a:avLst/>
          </a:prstGeom>
          <a:noFill/>
          <a:ln/>
        </p:spPr>
        <p:txBody>
          <a:bodyPr wrap="square" lIns="0" tIns="0" rIns="0" bIns="0" rtlCol="0" anchor="t"/>
          <a:lstStyle/>
          <a:p>
            <a:pPr indent="0" marL="0">
              <a:buNone/>
            </a:pPr>
            <a:r>
              <a:rPr lang="en-US" sz="3000" b="1" dirty="0">
                <a:solidFill>
                  <a:srgbClr val="C9D3E4"/>
                </a:solidFill>
                <a:latin typeface="Cambria" pitchFamily="34" charset="0"/>
                <a:ea typeface="Cambria" pitchFamily="34" charset="-122"/>
                <a:cs typeface="Cambria" pitchFamily="34" charset="-120"/>
              </a:rPr>
              <a:t>05</a:t>
            </a:r>
            <a:endParaRPr lang="en-US" sz="3000" dirty="0"/>
          </a:p>
        </p:txBody>
      </p:sp>
      <p:sp>
        <p:nvSpPr>
          <p:cNvPr id="22" name="Text 20"/>
          <p:cNvSpPr txBox="1"/>
          <p:nvPr/>
        </p:nvSpPr>
        <p:spPr>
          <a:xfrm>
            <a:off x="1645920" y="4114800"/>
            <a:ext cx="4023360" cy="41148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The case</a:t>
            </a:r>
            <a:endParaRPr lang="en-US" sz="1700" dirty="0"/>
          </a:p>
        </p:txBody>
      </p:sp>
      <p:sp>
        <p:nvSpPr>
          <p:cNvPr id="23" name="Text 21"/>
          <p:cNvSpPr txBox="1"/>
          <p:nvPr/>
        </p:nvSpPr>
        <p:spPr>
          <a:xfrm>
            <a:off x="1645920" y="4535424"/>
            <a:ext cx="4023360" cy="457200"/>
          </a:xfrm>
          <a:prstGeom prst="rect">
            <a:avLst/>
          </a:prstGeom>
          <a:noFill/>
          <a:ln/>
        </p:spPr>
        <p:txBody>
          <a:bodyPr wrap="square" lIns="0" tIns="0" rIns="0" bIns="0" rtlCol="0" anchor="t"/>
          <a:lstStyle/>
          <a:p>
            <a:pPr indent="0" marL="0">
              <a:buNone/>
            </a:pPr>
            <a:r>
              <a:rPr lang="en-US" sz="1250" dirty="0">
                <a:solidFill>
                  <a:srgbClr val="5B6577"/>
                </a:solidFill>
                <a:latin typeface="Calibri" pitchFamily="34" charset="0"/>
                <a:ea typeface="Calibri" pitchFamily="34" charset="-122"/>
                <a:cs typeface="Calibri" pitchFamily="34" charset="-120"/>
              </a:rPr>
              <a:t>Yes Bank, 2018-2020, market vs. agencies</a:t>
            </a:r>
            <a:endParaRPr lang="en-US" sz="1250" dirty="0"/>
          </a:p>
        </p:txBody>
      </p:sp>
      <p:sp>
        <p:nvSpPr>
          <p:cNvPr id="24" name="Shape 22"/>
          <p:cNvSpPr/>
          <p:nvPr/>
        </p:nvSpPr>
        <p:spPr>
          <a:xfrm>
            <a:off x="6217920" y="3968496"/>
            <a:ext cx="5394960" cy="1115568"/>
          </a:xfrm>
          <a:prstGeom prst="roundRect">
            <a:avLst>
              <a:gd name="adj" fmla="val 6557"/>
            </a:avLst>
          </a:prstGeom>
          <a:solidFill>
            <a:srgbClr val="EEF2F8"/>
          </a:solidFill>
          <a:ln w="12700">
            <a:solidFill>
              <a:srgbClr val="EEF2F8"/>
            </a:solidFill>
            <a:prstDash val="solid"/>
          </a:ln>
        </p:spPr>
      </p:sp>
      <p:sp>
        <p:nvSpPr>
          <p:cNvPr id="25" name="Text 23"/>
          <p:cNvSpPr txBox="1"/>
          <p:nvPr/>
        </p:nvSpPr>
        <p:spPr>
          <a:xfrm>
            <a:off x="6446520" y="4133088"/>
            <a:ext cx="914400" cy="822960"/>
          </a:xfrm>
          <a:prstGeom prst="rect">
            <a:avLst/>
          </a:prstGeom>
          <a:noFill/>
          <a:ln/>
        </p:spPr>
        <p:txBody>
          <a:bodyPr wrap="square" lIns="0" tIns="0" rIns="0" bIns="0" rtlCol="0" anchor="t"/>
          <a:lstStyle/>
          <a:p>
            <a:pPr indent="0" marL="0">
              <a:buNone/>
            </a:pPr>
            <a:r>
              <a:rPr lang="en-US" sz="3000" b="1" dirty="0">
                <a:solidFill>
                  <a:srgbClr val="C9D3E4"/>
                </a:solidFill>
                <a:latin typeface="Cambria" pitchFamily="34" charset="0"/>
                <a:ea typeface="Cambria" pitchFamily="34" charset="-122"/>
                <a:cs typeface="Cambria" pitchFamily="34" charset="-120"/>
              </a:rPr>
              <a:t>06</a:t>
            </a:r>
            <a:endParaRPr lang="en-US" sz="3000" dirty="0"/>
          </a:p>
        </p:txBody>
      </p:sp>
      <p:sp>
        <p:nvSpPr>
          <p:cNvPr id="26" name="Text 24"/>
          <p:cNvSpPr txBox="1"/>
          <p:nvPr/>
        </p:nvSpPr>
        <p:spPr>
          <a:xfrm>
            <a:off x="7315200" y="4114800"/>
            <a:ext cx="4023360" cy="41148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The verdict &amp; limits</a:t>
            </a:r>
            <a:endParaRPr lang="en-US" sz="1700" dirty="0"/>
          </a:p>
        </p:txBody>
      </p:sp>
      <p:sp>
        <p:nvSpPr>
          <p:cNvPr id="27" name="Text 25"/>
          <p:cNvSpPr txBox="1"/>
          <p:nvPr/>
        </p:nvSpPr>
        <p:spPr>
          <a:xfrm>
            <a:off x="7315200" y="4535424"/>
            <a:ext cx="4023360" cy="457200"/>
          </a:xfrm>
          <a:prstGeom prst="rect">
            <a:avLst/>
          </a:prstGeom>
          <a:noFill/>
          <a:ln/>
        </p:spPr>
        <p:txBody>
          <a:bodyPr wrap="square" lIns="0" tIns="0" rIns="0" bIns="0" rtlCol="0" anchor="t"/>
          <a:lstStyle/>
          <a:p>
            <a:pPr indent="0" marL="0">
              <a:buNone/>
            </a:pPr>
            <a:r>
              <a:rPr lang="en-US" sz="1250" dirty="0">
                <a:solidFill>
                  <a:srgbClr val="5B6577"/>
                </a:solidFill>
                <a:latin typeface="Calibri" pitchFamily="34" charset="0"/>
                <a:ea typeface="Calibri" pitchFamily="34" charset="-122"/>
                <a:cs typeface="Calibri" pitchFamily="34" charset="-120"/>
              </a:rPr>
              <a:t>What won, and where the model breaks for banks</a:t>
            </a:r>
            <a:endParaRPr lang="en-US" sz="1250" dirty="0"/>
          </a:p>
        </p:txBody>
      </p:sp>
      <p:sp>
        <p:nvSpPr>
          <p:cNvPr id="28" name="Shape 26"/>
          <p:cNvSpPr/>
          <p:nvPr/>
        </p:nvSpPr>
        <p:spPr>
          <a:xfrm>
            <a:off x="548640" y="5266944"/>
            <a:ext cx="5394960" cy="1115568"/>
          </a:xfrm>
          <a:prstGeom prst="roundRect">
            <a:avLst>
              <a:gd name="adj" fmla="val 6557"/>
            </a:avLst>
          </a:prstGeom>
          <a:solidFill>
            <a:srgbClr val="EEF2F8"/>
          </a:solidFill>
          <a:ln w="12700">
            <a:solidFill>
              <a:srgbClr val="EEF2F8"/>
            </a:solidFill>
            <a:prstDash val="solid"/>
          </a:ln>
        </p:spPr>
      </p:sp>
      <p:sp>
        <p:nvSpPr>
          <p:cNvPr id="29" name="Text 27"/>
          <p:cNvSpPr txBox="1"/>
          <p:nvPr/>
        </p:nvSpPr>
        <p:spPr>
          <a:xfrm>
            <a:off x="777240" y="5431536"/>
            <a:ext cx="914400" cy="822960"/>
          </a:xfrm>
          <a:prstGeom prst="rect">
            <a:avLst/>
          </a:prstGeom>
          <a:noFill/>
          <a:ln/>
        </p:spPr>
        <p:txBody>
          <a:bodyPr wrap="square" lIns="0" tIns="0" rIns="0" bIns="0" rtlCol="0" anchor="t"/>
          <a:lstStyle/>
          <a:p>
            <a:pPr indent="0" marL="0">
              <a:buNone/>
            </a:pPr>
            <a:r>
              <a:rPr lang="en-US" sz="3000" b="1" dirty="0">
                <a:solidFill>
                  <a:srgbClr val="C9D3E4"/>
                </a:solidFill>
                <a:latin typeface="Cambria" pitchFamily="34" charset="0"/>
                <a:ea typeface="Cambria" pitchFamily="34" charset="-122"/>
                <a:cs typeface="Cambria" pitchFamily="34" charset="-120"/>
              </a:rPr>
              <a:t>07</a:t>
            </a:r>
            <a:endParaRPr lang="en-US" sz="3000" dirty="0"/>
          </a:p>
        </p:txBody>
      </p:sp>
      <p:sp>
        <p:nvSpPr>
          <p:cNvPr id="30" name="Text 28"/>
          <p:cNvSpPr txBox="1"/>
          <p:nvPr/>
        </p:nvSpPr>
        <p:spPr>
          <a:xfrm>
            <a:off x="1645920" y="5413248"/>
            <a:ext cx="4023360" cy="41148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The synthesis</a:t>
            </a:r>
            <a:endParaRPr lang="en-US" sz="1700" dirty="0"/>
          </a:p>
        </p:txBody>
      </p:sp>
      <p:sp>
        <p:nvSpPr>
          <p:cNvPr id="31" name="Text 29"/>
          <p:cNvSpPr txBox="1"/>
          <p:nvPr/>
        </p:nvSpPr>
        <p:spPr>
          <a:xfrm>
            <a:off x="1645920" y="5833872"/>
            <a:ext cx="4023360" cy="457200"/>
          </a:xfrm>
          <a:prstGeom prst="rect">
            <a:avLst/>
          </a:prstGeom>
          <a:noFill/>
          <a:ln/>
        </p:spPr>
        <p:txBody>
          <a:bodyPr wrap="square" lIns="0" tIns="0" rIns="0" bIns="0" rtlCol="0" anchor="t"/>
          <a:lstStyle/>
          <a:p>
            <a:pPr indent="0" marL="0">
              <a:buNone/>
            </a:pPr>
            <a:r>
              <a:rPr lang="en-US" sz="1250" dirty="0">
                <a:solidFill>
                  <a:srgbClr val="5B6577"/>
                </a:solidFill>
                <a:latin typeface="Calibri" pitchFamily="34" charset="0"/>
                <a:ea typeface="Calibri" pitchFamily="34" charset="-122"/>
                <a:cs typeface="Calibri" pitchFamily="34" charset="-120"/>
              </a:rPr>
              <a:t>Why both signals are needed</a:t>
            </a:r>
            <a:endParaRPr lang="en-US" sz="1250" dirty="0"/>
          </a:p>
        </p:txBody>
      </p:sp>
      <p:sp>
        <p:nvSpPr>
          <p:cNvPr id="32" name="Text 30"/>
          <p:cNvSpPr txBox="1"/>
          <p:nvPr/>
        </p:nvSpPr>
        <p:spPr>
          <a:xfrm>
            <a:off x="11521440" y="6510528"/>
            <a:ext cx="548640" cy="274320"/>
          </a:xfrm>
          <a:prstGeom prst="rect">
            <a:avLst/>
          </a:prstGeom>
          <a:noFill/>
          <a:ln/>
        </p:spPr>
        <p:txBody>
          <a:bodyPr wrap="square" lIns="0" tIns="0" rIns="0" bIns="0" rtlCol="0" anchor="t"/>
          <a:lstStyle/>
          <a:p>
            <a:pPr algn="r" indent="0" marL="0">
              <a:buNone/>
            </a:pPr>
            <a:r>
              <a:rPr lang="en-US" sz="1000" dirty="0">
                <a:solidFill>
                  <a:srgbClr val="B8BFCC"/>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320040"/>
          </a:xfrm>
          <a:prstGeom prst="rect">
            <a:avLst/>
          </a:prstGeom>
          <a:noFill/>
          <a:ln/>
        </p:spPr>
        <p:txBody>
          <a:bodyPr wrap="square" lIns="0" tIns="0" rIns="0" bIns="0" rtlCol="0" anchor="t"/>
          <a:lstStyle/>
          <a:p>
            <a:pPr indent="0" marL="0">
              <a:buNone/>
            </a:pPr>
            <a:r>
              <a:rPr lang="en-US" sz="1200" b="1" spc="200" kern="0" dirty="0">
                <a:solidFill>
                  <a:srgbClr val="1F8A7A"/>
                </a:solidFill>
                <a:latin typeface="Calibri" pitchFamily="34" charset="0"/>
                <a:ea typeface="Calibri" pitchFamily="34" charset="-122"/>
                <a:cs typeface="Calibri" pitchFamily="34" charset="-120"/>
              </a:rPr>
              <a:t>01 · THE SETUP</a:t>
            </a:r>
            <a:endParaRPr lang="en-US" sz="1200" dirty="0"/>
          </a:p>
        </p:txBody>
      </p:sp>
      <p:sp>
        <p:nvSpPr>
          <p:cNvPr id="3" name="Text 1"/>
          <p:cNvSpPr txBox="1"/>
          <p:nvPr/>
        </p:nvSpPr>
        <p:spPr>
          <a:xfrm>
            <a:off x="548640" y="457200"/>
            <a:ext cx="11064240" cy="731520"/>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What a credit rating actually is</a:t>
            </a:r>
            <a:endParaRPr lang="en-US" sz="2900" dirty="0"/>
          </a:p>
        </p:txBody>
      </p:sp>
      <p:sp>
        <p:nvSpPr>
          <p:cNvPr id="4" name="Text 2"/>
          <p:cNvSpPr txBox="1"/>
          <p:nvPr/>
        </p:nvSpPr>
        <p:spPr>
          <a:xfrm>
            <a:off x="548640" y="1143000"/>
            <a:ext cx="11064240" cy="548640"/>
          </a:xfrm>
          <a:prstGeom prst="rect">
            <a:avLst/>
          </a:prstGeom>
          <a:noFill/>
          <a:ln/>
        </p:spPr>
        <p:txBody>
          <a:bodyPr wrap="square" lIns="0" tIns="0" rIns="0" bIns="0" rtlCol="0" anchor="t"/>
          <a:lstStyle/>
          <a:p>
            <a:pPr indent="0" marL="0">
              <a:buNone/>
            </a:pPr>
            <a:r>
              <a:rPr lang="en-US" sz="1550" dirty="0">
                <a:solidFill>
                  <a:srgbClr val="1B2333"/>
                </a:solidFill>
                <a:latin typeface="Calibri" pitchFamily="34" charset="0"/>
                <a:ea typeface="Calibri" pitchFamily="34" charset="-122"/>
                <a:cs typeface="Calibri" pitchFamily="34" charset="-120"/>
              </a:rPr>
              <a:t>A credit rating is an agency's </a:t>
            </a:r>
            <a:pPr indent="0" marL="0">
              <a:buNone/>
            </a:pPr>
            <a:r>
              <a:rPr lang="en-US" sz="1550" b="1" dirty="0">
                <a:solidFill>
                  <a:srgbClr val="14213D"/>
                </a:solidFill>
                <a:latin typeface="Calibri" pitchFamily="34" charset="0"/>
                <a:ea typeface="Calibri" pitchFamily="34" charset="-122"/>
                <a:cs typeface="Calibri" pitchFamily="34" charset="-120"/>
              </a:rPr>
              <a:t>opinion</a:t>
            </a:r>
            <a:pPr indent="0" marL="0">
              <a:buNone/>
            </a:pPr>
            <a:r>
              <a:rPr lang="en-US" sz="1550" dirty="0">
                <a:solidFill>
                  <a:srgbClr val="1B2333"/>
                </a:solidFill>
                <a:latin typeface="Calibri" pitchFamily="34" charset="0"/>
                <a:ea typeface="Calibri" pitchFamily="34" charset="-122"/>
                <a:cs typeface="Calibri" pitchFamily="34" charset="-120"/>
              </a:rPr>
              <a:t>, on a letter scale, of how likely a borrower is to miss a payment. CRISIL, ICRA and CARE are the main Indian agencies rating bank debt.</a:t>
            </a:r>
            <a:endParaRPr lang="en-US" sz="1550" dirty="0"/>
          </a:p>
        </p:txBody>
      </p:sp>
      <p:sp>
        <p:nvSpPr>
          <p:cNvPr id="5" name="Shape 3"/>
          <p:cNvSpPr/>
          <p:nvPr/>
        </p:nvSpPr>
        <p:spPr>
          <a:xfrm>
            <a:off x="548640" y="1965960"/>
            <a:ext cx="2084832" cy="1234440"/>
          </a:xfrm>
          <a:prstGeom prst="roundRect">
            <a:avLst>
              <a:gd name="adj" fmla="val 5926"/>
            </a:avLst>
          </a:prstGeom>
          <a:solidFill>
            <a:srgbClr val="1F8A7A"/>
          </a:solidFill>
          <a:ln w="12700">
            <a:solidFill>
              <a:srgbClr val="1F8A7A"/>
            </a:solidFill>
            <a:prstDash val="solid"/>
          </a:ln>
        </p:spPr>
      </p:sp>
      <p:sp>
        <p:nvSpPr>
          <p:cNvPr id="6" name="Text 4"/>
          <p:cNvSpPr txBox="1"/>
          <p:nvPr/>
        </p:nvSpPr>
        <p:spPr>
          <a:xfrm>
            <a:off x="548640" y="2121408"/>
            <a:ext cx="2084832" cy="502920"/>
          </a:xfrm>
          <a:prstGeom prst="rect">
            <a:avLst/>
          </a:prstGeom>
          <a:noFill/>
          <a:ln/>
        </p:spPr>
        <p:txBody>
          <a:bodyPr wrap="square" lIns="0" tIns="0" rIns="0" bIns="0" rtlCol="0" anchor="t"/>
          <a:lstStyle/>
          <a:p>
            <a:pPr algn="ctr" indent="0" marL="0">
              <a:buNone/>
            </a:pPr>
            <a:r>
              <a:rPr lang="en-US" sz="2200" b="1" dirty="0">
                <a:solidFill>
                  <a:srgbClr val="FFFFFF"/>
                </a:solidFill>
                <a:latin typeface="Cambria" pitchFamily="34" charset="0"/>
                <a:ea typeface="Cambria" pitchFamily="34" charset="-122"/>
                <a:cs typeface="Cambria" pitchFamily="34" charset="-120"/>
              </a:rPr>
              <a:t>AAA</a:t>
            </a:r>
            <a:endParaRPr lang="en-US" sz="2200" dirty="0"/>
          </a:p>
        </p:txBody>
      </p:sp>
      <p:sp>
        <p:nvSpPr>
          <p:cNvPr id="7" name="Text 5"/>
          <p:cNvSpPr txBox="1"/>
          <p:nvPr/>
        </p:nvSpPr>
        <p:spPr>
          <a:xfrm>
            <a:off x="640080" y="2651760"/>
            <a:ext cx="1901952" cy="457200"/>
          </a:xfrm>
          <a:prstGeom prst="rect">
            <a:avLst/>
          </a:prstGeom>
          <a:noFill/>
          <a:ln/>
        </p:spPr>
        <p:txBody>
          <a:bodyPr wrap="square" lIns="0" tIns="0" rIns="0" bIns="0" rtlCol="0" anchor="t"/>
          <a:lstStyle/>
          <a:p>
            <a:pPr algn="ctr" indent="0" marL="0">
              <a:buNone/>
            </a:pPr>
            <a:r>
              <a:rPr lang="en-US" sz="1150" dirty="0">
                <a:solidFill>
                  <a:srgbClr val="FFFFFF"/>
                </a:solidFill>
                <a:latin typeface="Calibri" pitchFamily="34" charset="0"/>
                <a:ea typeface="Calibri" pitchFamily="34" charset="-122"/>
                <a:cs typeface="Calibri" pitchFamily="34" charset="-120"/>
              </a:rPr>
              <a:t>Very low risk</a:t>
            </a:r>
            <a:endParaRPr lang="en-US" sz="1150" dirty="0"/>
          </a:p>
        </p:txBody>
      </p:sp>
      <p:sp>
        <p:nvSpPr>
          <p:cNvPr id="8" name="Shape 6"/>
          <p:cNvSpPr/>
          <p:nvPr/>
        </p:nvSpPr>
        <p:spPr>
          <a:xfrm>
            <a:off x="2779776" y="1965960"/>
            <a:ext cx="2084832" cy="1234440"/>
          </a:xfrm>
          <a:prstGeom prst="roundRect">
            <a:avLst>
              <a:gd name="adj" fmla="val 5926"/>
            </a:avLst>
          </a:prstGeom>
          <a:solidFill>
            <a:srgbClr val="5AAE9C"/>
          </a:solidFill>
          <a:ln w="12700">
            <a:solidFill>
              <a:srgbClr val="5AAE9C"/>
            </a:solidFill>
            <a:prstDash val="solid"/>
          </a:ln>
        </p:spPr>
      </p:sp>
      <p:sp>
        <p:nvSpPr>
          <p:cNvPr id="9" name="Text 7"/>
          <p:cNvSpPr txBox="1"/>
          <p:nvPr/>
        </p:nvSpPr>
        <p:spPr>
          <a:xfrm>
            <a:off x="2779776" y="2121408"/>
            <a:ext cx="2084832" cy="502920"/>
          </a:xfrm>
          <a:prstGeom prst="rect">
            <a:avLst/>
          </a:prstGeom>
          <a:noFill/>
          <a:ln/>
        </p:spPr>
        <p:txBody>
          <a:bodyPr wrap="square" lIns="0" tIns="0" rIns="0" bIns="0" rtlCol="0" anchor="t"/>
          <a:lstStyle/>
          <a:p>
            <a:pPr algn="ctr" indent="0" marL="0">
              <a:buNone/>
            </a:pPr>
            <a:r>
              <a:rPr lang="en-US" sz="2200" b="1" dirty="0">
                <a:solidFill>
                  <a:srgbClr val="FFFFFF"/>
                </a:solidFill>
                <a:latin typeface="Cambria" pitchFamily="34" charset="0"/>
                <a:ea typeface="Cambria" pitchFamily="34" charset="-122"/>
                <a:cs typeface="Cambria" pitchFamily="34" charset="-120"/>
              </a:rPr>
              <a:t>AA</a:t>
            </a:r>
            <a:endParaRPr lang="en-US" sz="2200" dirty="0"/>
          </a:p>
        </p:txBody>
      </p:sp>
      <p:sp>
        <p:nvSpPr>
          <p:cNvPr id="10" name="Text 8"/>
          <p:cNvSpPr txBox="1"/>
          <p:nvPr/>
        </p:nvSpPr>
        <p:spPr>
          <a:xfrm>
            <a:off x="2871216" y="2651760"/>
            <a:ext cx="1901952" cy="457200"/>
          </a:xfrm>
          <a:prstGeom prst="rect">
            <a:avLst/>
          </a:prstGeom>
          <a:noFill/>
          <a:ln/>
        </p:spPr>
        <p:txBody>
          <a:bodyPr wrap="square" lIns="0" tIns="0" rIns="0" bIns="0" rtlCol="0" anchor="t"/>
          <a:lstStyle/>
          <a:p>
            <a:pPr algn="ctr" indent="0" marL="0">
              <a:buNone/>
            </a:pPr>
            <a:r>
              <a:rPr lang="en-US" sz="1150" dirty="0">
                <a:solidFill>
                  <a:srgbClr val="FFFFFF"/>
                </a:solidFill>
                <a:latin typeface="Calibri" pitchFamily="34" charset="0"/>
                <a:ea typeface="Calibri" pitchFamily="34" charset="-122"/>
                <a:cs typeface="Calibri" pitchFamily="34" charset="-120"/>
              </a:rPr>
              <a:t>Low risk</a:t>
            </a:r>
            <a:endParaRPr lang="en-US" sz="1150" dirty="0"/>
          </a:p>
        </p:txBody>
      </p:sp>
      <p:sp>
        <p:nvSpPr>
          <p:cNvPr id="11" name="Shape 9"/>
          <p:cNvSpPr/>
          <p:nvPr/>
        </p:nvSpPr>
        <p:spPr>
          <a:xfrm>
            <a:off x="5010912" y="1965960"/>
            <a:ext cx="2084832" cy="1234440"/>
          </a:xfrm>
          <a:prstGeom prst="roundRect">
            <a:avLst>
              <a:gd name="adj" fmla="val 5926"/>
            </a:avLst>
          </a:prstGeom>
          <a:solidFill>
            <a:srgbClr val="E9A23B"/>
          </a:solidFill>
          <a:ln w="12700">
            <a:solidFill>
              <a:srgbClr val="E9A23B"/>
            </a:solidFill>
            <a:prstDash val="solid"/>
          </a:ln>
        </p:spPr>
      </p:sp>
      <p:sp>
        <p:nvSpPr>
          <p:cNvPr id="12" name="Text 10"/>
          <p:cNvSpPr txBox="1"/>
          <p:nvPr/>
        </p:nvSpPr>
        <p:spPr>
          <a:xfrm>
            <a:off x="5010912" y="2121408"/>
            <a:ext cx="2084832" cy="502920"/>
          </a:xfrm>
          <a:prstGeom prst="rect">
            <a:avLst/>
          </a:prstGeom>
          <a:noFill/>
          <a:ln/>
        </p:spPr>
        <p:txBody>
          <a:bodyPr wrap="square" lIns="0" tIns="0" rIns="0" bIns="0" rtlCol="0" anchor="t"/>
          <a:lstStyle/>
          <a:p>
            <a:pPr algn="ctr" indent="0" marL="0">
              <a:buNone/>
            </a:pPr>
            <a:r>
              <a:rPr lang="en-US" sz="2200" b="1" dirty="0">
                <a:solidFill>
                  <a:srgbClr val="FFFFFF"/>
                </a:solidFill>
                <a:latin typeface="Cambria" pitchFamily="34" charset="0"/>
                <a:ea typeface="Cambria" pitchFamily="34" charset="-122"/>
                <a:cs typeface="Cambria" pitchFamily="34" charset="-120"/>
              </a:rPr>
              <a:t>A</a:t>
            </a:r>
            <a:endParaRPr lang="en-US" sz="2200" dirty="0"/>
          </a:p>
        </p:txBody>
      </p:sp>
      <p:sp>
        <p:nvSpPr>
          <p:cNvPr id="13" name="Text 11"/>
          <p:cNvSpPr txBox="1"/>
          <p:nvPr/>
        </p:nvSpPr>
        <p:spPr>
          <a:xfrm>
            <a:off x="5102352" y="2651760"/>
            <a:ext cx="1901952" cy="457200"/>
          </a:xfrm>
          <a:prstGeom prst="rect">
            <a:avLst/>
          </a:prstGeom>
          <a:noFill/>
          <a:ln/>
        </p:spPr>
        <p:txBody>
          <a:bodyPr wrap="square" lIns="0" tIns="0" rIns="0" bIns="0" rtlCol="0" anchor="t"/>
          <a:lstStyle/>
          <a:p>
            <a:pPr algn="ctr" indent="0" marL="0">
              <a:buNone/>
            </a:pPr>
            <a:r>
              <a:rPr lang="en-US" sz="1150" dirty="0">
                <a:solidFill>
                  <a:srgbClr val="FFFFFF"/>
                </a:solidFill>
                <a:latin typeface="Calibri" pitchFamily="34" charset="0"/>
                <a:ea typeface="Calibri" pitchFamily="34" charset="-122"/>
                <a:cs typeface="Calibri" pitchFamily="34" charset="-120"/>
              </a:rPr>
              <a:t>Moderate</a:t>
            </a:r>
            <a:endParaRPr lang="en-US" sz="1150" dirty="0"/>
          </a:p>
        </p:txBody>
      </p:sp>
      <p:sp>
        <p:nvSpPr>
          <p:cNvPr id="14" name="Shape 12"/>
          <p:cNvSpPr/>
          <p:nvPr/>
        </p:nvSpPr>
        <p:spPr>
          <a:xfrm>
            <a:off x="7242048" y="1965960"/>
            <a:ext cx="2084832" cy="1234440"/>
          </a:xfrm>
          <a:prstGeom prst="roundRect">
            <a:avLst>
              <a:gd name="adj" fmla="val 5926"/>
            </a:avLst>
          </a:prstGeom>
          <a:solidFill>
            <a:srgbClr val="E88B3E"/>
          </a:solidFill>
          <a:ln w="12700">
            <a:solidFill>
              <a:srgbClr val="E88B3E"/>
            </a:solidFill>
            <a:prstDash val="solid"/>
          </a:ln>
        </p:spPr>
      </p:sp>
      <p:sp>
        <p:nvSpPr>
          <p:cNvPr id="15" name="Text 13"/>
          <p:cNvSpPr txBox="1"/>
          <p:nvPr/>
        </p:nvSpPr>
        <p:spPr>
          <a:xfrm>
            <a:off x="7242048" y="2121408"/>
            <a:ext cx="2084832" cy="502920"/>
          </a:xfrm>
          <a:prstGeom prst="rect">
            <a:avLst/>
          </a:prstGeom>
          <a:noFill/>
          <a:ln/>
        </p:spPr>
        <p:txBody>
          <a:bodyPr wrap="square" lIns="0" tIns="0" rIns="0" bIns="0" rtlCol="0" anchor="t"/>
          <a:lstStyle/>
          <a:p>
            <a:pPr algn="ctr" indent="0" marL="0">
              <a:buNone/>
            </a:pPr>
            <a:r>
              <a:rPr lang="en-US" sz="2200" b="1" dirty="0">
                <a:solidFill>
                  <a:srgbClr val="FFFFFF"/>
                </a:solidFill>
                <a:latin typeface="Cambria" pitchFamily="34" charset="0"/>
                <a:ea typeface="Cambria" pitchFamily="34" charset="-122"/>
                <a:cs typeface="Cambria" pitchFamily="34" charset="-120"/>
              </a:rPr>
              <a:t>BBB</a:t>
            </a:r>
            <a:endParaRPr lang="en-US" sz="2200" dirty="0"/>
          </a:p>
        </p:txBody>
      </p:sp>
      <p:sp>
        <p:nvSpPr>
          <p:cNvPr id="16" name="Text 14"/>
          <p:cNvSpPr txBox="1"/>
          <p:nvPr/>
        </p:nvSpPr>
        <p:spPr>
          <a:xfrm>
            <a:off x="7333488" y="2651760"/>
            <a:ext cx="1901952" cy="457200"/>
          </a:xfrm>
          <a:prstGeom prst="rect">
            <a:avLst/>
          </a:prstGeom>
          <a:noFill/>
          <a:ln/>
        </p:spPr>
        <p:txBody>
          <a:bodyPr wrap="square" lIns="0" tIns="0" rIns="0" bIns="0" rtlCol="0" anchor="t"/>
          <a:lstStyle/>
          <a:p>
            <a:pPr algn="ctr" indent="0" marL="0">
              <a:buNone/>
            </a:pPr>
            <a:r>
              <a:rPr lang="en-US" sz="1150" dirty="0">
                <a:solidFill>
                  <a:srgbClr val="FFFFFF"/>
                </a:solidFill>
                <a:latin typeface="Calibri" pitchFamily="34" charset="0"/>
                <a:ea typeface="Calibri" pitchFamily="34" charset="-122"/>
                <a:cs typeface="Calibri" pitchFamily="34" charset="-120"/>
              </a:rPr>
              <a:t>Adequate</a:t>
            </a:r>
            <a:endParaRPr lang="en-US" sz="1150" dirty="0"/>
          </a:p>
        </p:txBody>
      </p:sp>
      <p:sp>
        <p:nvSpPr>
          <p:cNvPr id="17" name="Shape 15"/>
          <p:cNvSpPr/>
          <p:nvPr/>
        </p:nvSpPr>
        <p:spPr>
          <a:xfrm>
            <a:off x="9473184" y="1965960"/>
            <a:ext cx="2084832" cy="1234440"/>
          </a:xfrm>
          <a:prstGeom prst="roundRect">
            <a:avLst>
              <a:gd name="adj" fmla="val 5926"/>
            </a:avLst>
          </a:prstGeom>
          <a:solidFill>
            <a:srgbClr val="C0392B"/>
          </a:solidFill>
          <a:ln w="12700">
            <a:solidFill>
              <a:srgbClr val="C0392B"/>
            </a:solidFill>
            <a:prstDash val="solid"/>
          </a:ln>
        </p:spPr>
      </p:sp>
      <p:sp>
        <p:nvSpPr>
          <p:cNvPr id="18" name="Text 16"/>
          <p:cNvSpPr txBox="1"/>
          <p:nvPr/>
        </p:nvSpPr>
        <p:spPr>
          <a:xfrm>
            <a:off x="9473184" y="2121408"/>
            <a:ext cx="2084832" cy="502920"/>
          </a:xfrm>
          <a:prstGeom prst="rect">
            <a:avLst/>
          </a:prstGeom>
          <a:noFill/>
          <a:ln/>
        </p:spPr>
        <p:txBody>
          <a:bodyPr wrap="square" lIns="0" tIns="0" rIns="0" bIns="0" rtlCol="0" anchor="t"/>
          <a:lstStyle/>
          <a:p>
            <a:pPr algn="ctr" indent="0" marL="0">
              <a:buNone/>
            </a:pPr>
            <a:r>
              <a:rPr lang="en-US" sz="2200" b="1" dirty="0">
                <a:solidFill>
                  <a:srgbClr val="FFFFFF"/>
                </a:solidFill>
                <a:latin typeface="Cambria" pitchFamily="34" charset="0"/>
                <a:ea typeface="Cambria" pitchFamily="34" charset="-122"/>
                <a:cs typeface="Cambria" pitchFamily="34" charset="-120"/>
              </a:rPr>
              <a:t>BB &amp; below</a:t>
            </a:r>
            <a:endParaRPr lang="en-US" sz="2200" dirty="0"/>
          </a:p>
        </p:txBody>
      </p:sp>
      <p:sp>
        <p:nvSpPr>
          <p:cNvPr id="19" name="Text 17"/>
          <p:cNvSpPr txBox="1"/>
          <p:nvPr/>
        </p:nvSpPr>
        <p:spPr>
          <a:xfrm>
            <a:off x="9564624" y="2651760"/>
            <a:ext cx="1901952" cy="457200"/>
          </a:xfrm>
          <a:prstGeom prst="rect">
            <a:avLst/>
          </a:prstGeom>
          <a:noFill/>
          <a:ln/>
        </p:spPr>
        <p:txBody>
          <a:bodyPr wrap="square" lIns="0" tIns="0" rIns="0" bIns="0" rtlCol="0" anchor="t"/>
          <a:lstStyle/>
          <a:p>
            <a:pPr algn="ctr" indent="0" marL="0">
              <a:buNone/>
            </a:pPr>
            <a:r>
              <a:rPr lang="en-US" sz="1150" dirty="0">
                <a:solidFill>
                  <a:srgbClr val="FFFFFF"/>
                </a:solidFill>
                <a:latin typeface="Calibri" pitchFamily="34" charset="0"/>
                <a:ea typeface="Calibri" pitchFamily="34" charset="-122"/>
                <a:cs typeface="Calibri" pitchFamily="34" charset="-120"/>
              </a:rPr>
              <a:t>Speculative / junk</a:t>
            </a:r>
            <a:endParaRPr lang="en-US" sz="1150" dirty="0"/>
          </a:p>
        </p:txBody>
      </p:sp>
      <p:sp>
        <p:nvSpPr>
          <p:cNvPr id="20" name="Text 18"/>
          <p:cNvSpPr txBox="1"/>
          <p:nvPr/>
        </p:nvSpPr>
        <p:spPr>
          <a:xfrm>
            <a:off x="548640" y="3429000"/>
            <a:ext cx="11064240" cy="320040"/>
          </a:xfrm>
          <a:prstGeom prst="rect">
            <a:avLst/>
          </a:prstGeom>
          <a:noFill/>
          <a:ln/>
        </p:spPr>
        <p:txBody>
          <a:bodyPr wrap="square" lIns="0" tIns="0" rIns="0" bIns="0" rtlCol="0" anchor="t"/>
          <a:lstStyle/>
          <a:p>
            <a:pPr indent="0" marL="0">
              <a:buNone/>
            </a:pPr>
            <a:r>
              <a:rPr lang="en-US" sz="1600" b="1" dirty="0">
                <a:solidFill>
                  <a:srgbClr val="14213D"/>
                </a:solidFill>
                <a:latin typeface="Cambria" pitchFamily="34" charset="0"/>
                <a:ea typeface="Cambria" pitchFamily="34" charset="-122"/>
                <a:cs typeface="Cambria" pitchFamily="34" charset="-120"/>
              </a:rPr>
              <a:t>A bank has several ratings at once</a:t>
            </a:r>
            <a:endParaRPr lang="en-US" sz="1600" dirty="0"/>
          </a:p>
        </p:txBody>
      </p:sp>
      <p:sp>
        <p:nvSpPr>
          <p:cNvPr id="21" name="Text 19"/>
          <p:cNvSpPr txBox="1"/>
          <p:nvPr/>
        </p:nvSpPr>
        <p:spPr>
          <a:xfrm>
            <a:off x="548640" y="3840480"/>
            <a:ext cx="11064240" cy="1828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333"/>
                </a:solidFill>
                <a:latin typeface="Calibri" pitchFamily="34" charset="0"/>
                <a:ea typeface="Calibri" pitchFamily="34" charset="-122"/>
                <a:cs typeface="Calibri" pitchFamily="34" charset="-120"/>
              </a:rPr>
              <a:t>Senior bonds — highest claim, so highest rating</a:t>
            </a:r>
            <a:endParaRPr lang="en-US" sz="1400" dirty="0"/>
          </a:p>
          <a:p>
            <a:pPr marL="342900" indent="-342900">
              <a:spcAft>
                <a:spcPts val="600"/>
              </a:spcAft>
              <a:buSzPct val="100000"/>
              <a:buChar char="•"/>
            </a:pPr>
            <a:r>
              <a:rPr lang="en-US" sz="1400" dirty="0">
                <a:solidFill>
                  <a:srgbClr val="1B2333"/>
                </a:solidFill>
                <a:latin typeface="Calibri" pitchFamily="34" charset="0"/>
                <a:ea typeface="Calibri" pitchFamily="34" charset="-122"/>
                <a:cs typeface="Calibri" pitchFamily="34" charset="-120"/>
              </a:rPr>
              <a:t>Tier II subordinated bonds — absorb losses after senior debt, rated lower</a:t>
            </a:r>
            <a:endParaRPr lang="en-US" sz="1400" dirty="0"/>
          </a:p>
          <a:p>
            <a:pPr marL="342900" indent="-342900">
              <a:spcAft>
                <a:spcPts val="600"/>
              </a:spcAft>
              <a:buSzPct val="100000"/>
              <a:buChar char="•"/>
            </a:pPr>
            <a:r>
              <a:rPr lang="en-US" sz="1400" dirty="0">
                <a:solidFill>
                  <a:srgbClr val="1B2333"/>
                </a:solidFill>
                <a:latin typeface="Calibri" pitchFamily="34" charset="0"/>
                <a:ea typeface="Calibri" pitchFamily="34" charset="-122"/>
                <a:cs typeface="Calibri" pitchFamily="34" charset="-120"/>
              </a:rPr>
              <a:t>AT-1 bonds — can be written down at a capital trigger, rated several notches below senior debt</a:t>
            </a:r>
            <a:endParaRPr lang="en-US" sz="1400" dirty="0"/>
          </a:p>
          <a:p>
            <a:pPr marL="342900" indent="-342900">
              <a:spcAft>
                <a:spcPts val="600"/>
              </a:spcAft>
              <a:buSzPct val="100000"/>
              <a:buChar char="•"/>
            </a:pPr>
            <a:r>
              <a:rPr lang="en-US" sz="1400" dirty="0">
                <a:solidFill>
                  <a:srgbClr val="1B2333"/>
                </a:solidFill>
                <a:latin typeface="Calibri" pitchFamily="34" charset="0"/>
                <a:ea typeface="Calibri" pitchFamily="34" charset="-122"/>
                <a:cs typeface="Calibri" pitchFamily="34" charset="-120"/>
              </a:rPr>
              <a:t>Short-term instruments (CDs) — rated separately for near-term liquidity</a:t>
            </a:r>
            <a:endParaRPr lang="en-US" sz="1400" dirty="0"/>
          </a:p>
        </p:txBody>
      </p:sp>
      <p:sp>
        <p:nvSpPr>
          <p:cNvPr id="22" name="Text 20"/>
          <p:cNvSpPr txBox="1"/>
          <p:nvPr/>
        </p:nvSpPr>
        <p:spPr>
          <a:xfrm>
            <a:off x="11521440" y="6510528"/>
            <a:ext cx="548640" cy="274320"/>
          </a:xfrm>
          <a:prstGeom prst="rect">
            <a:avLst/>
          </a:prstGeom>
          <a:noFill/>
          <a:ln/>
        </p:spPr>
        <p:txBody>
          <a:bodyPr wrap="square" lIns="0" tIns="0" rIns="0" bIns="0" rtlCol="0" anchor="t"/>
          <a:lstStyle/>
          <a:p>
            <a:pPr algn="r" indent="0" marL="0">
              <a:buNone/>
            </a:pPr>
            <a:r>
              <a:rPr lang="en-US" sz="1000" dirty="0">
                <a:solidFill>
                  <a:srgbClr val="B8BFCC"/>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320040"/>
          </a:xfrm>
          <a:prstGeom prst="rect">
            <a:avLst/>
          </a:prstGeom>
          <a:noFill/>
          <a:ln/>
        </p:spPr>
        <p:txBody>
          <a:bodyPr wrap="square" lIns="0" tIns="0" rIns="0" bIns="0" rtlCol="0" anchor="t"/>
          <a:lstStyle/>
          <a:p>
            <a:pPr indent="0" marL="0">
              <a:buNone/>
            </a:pPr>
            <a:r>
              <a:rPr lang="en-US" sz="1200" b="1" spc="200" kern="0" dirty="0">
                <a:solidFill>
                  <a:srgbClr val="1F8A7A"/>
                </a:solidFill>
                <a:latin typeface="Calibri" pitchFamily="34" charset="0"/>
                <a:ea typeface="Calibri" pitchFamily="34" charset="-122"/>
                <a:cs typeface="Calibri" pitchFamily="34" charset="-120"/>
              </a:rPr>
              <a:t>01 · THE SETUP</a:t>
            </a:r>
            <a:endParaRPr lang="en-US" sz="1200" dirty="0"/>
          </a:p>
        </p:txBody>
      </p:sp>
      <p:sp>
        <p:nvSpPr>
          <p:cNvPr id="3" name="Text 1"/>
          <p:cNvSpPr txBox="1"/>
          <p:nvPr/>
        </p:nvSpPr>
        <p:spPr>
          <a:xfrm>
            <a:off x="548640" y="457200"/>
            <a:ext cx="11064240" cy="731520"/>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How a rating is produced</a:t>
            </a:r>
            <a:endParaRPr lang="en-US" sz="2900" dirty="0"/>
          </a:p>
        </p:txBody>
      </p:sp>
      <p:sp>
        <p:nvSpPr>
          <p:cNvPr id="4" name="Shape 2"/>
          <p:cNvSpPr/>
          <p:nvPr/>
        </p:nvSpPr>
        <p:spPr>
          <a:xfrm>
            <a:off x="548640" y="1371600"/>
            <a:ext cx="3474720" cy="2743200"/>
          </a:xfrm>
          <a:prstGeom prst="roundRect">
            <a:avLst>
              <a:gd name="adj" fmla="val 2667"/>
            </a:avLst>
          </a:prstGeom>
          <a:solidFill>
            <a:srgbClr val="EEF2F8"/>
          </a:solidFill>
          <a:ln w="12700">
            <a:solidFill>
              <a:srgbClr val="EEF2F8"/>
            </a:solidFill>
            <a:prstDash val="solid"/>
          </a:ln>
        </p:spPr>
      </p:sp>
      <p:sp>
        <p:nvSpPr>
          <p:cNvPr id="5" name="Shape 3"/>
          <p:cNvSpPr/>
          <p:nvPr/>
        </p:nvSpPr>
        <p:spPr>
          <a:xfrm>
            <a:off x="822960" y="1645920"/>
            <a:ext cx="548640" cy="548640"/>
          </a:xfrm>
          <a:prstGeom prst="ellipse">
            <a:avLst/>
          </a:prstGeom>
          <a:solidFill>
            <a:srgbClr val="14213D"/>
          </a:solidFill>
          <a:ln w="12700">
            <a:solidFill>
              <a:srgbClr val="14213D"/>
            </a:solidFill>
            <a:prstDash val="solid"/>
          </a:ln>
        </p:spPr>
      </p:sp>
      <p:sp>
        <p:nvSpPr>
          <p:cNvPr id="6" name="Text 4"/>
          <p:cNvSpPr txBox="1"/>
          <p:nvPr/>
        </p:nvSpPr>
        <p:spPr>
          <a:xfrm>
            <a:off x="822960" y="16459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822960" y="2377440"/>
            <a:ext cx="2926080" cy="45720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Evidence gathering</a:t>
            </a:r>
            <a:endParaRPr lang="en-US" sz="1700" dirty="0"/>
          </a:p>
        </p:txBody>
      </p:sp>
      <p:sp>
        <p:nvSpPr>
          <p:cNvPr id="8" name="Text 6"/>
          <p:cNvSpPr txBox="1"/>
          <p:nvPr/>
        </p:nvSpPr>
        <p:spPr>
          <a:xfrm>
            <a:off x="822960" y="2834640"/>
            <a:ext cx="2926080" cy="1188720"/>
          </a:xfrm>
          <a:prstGeom prst="rect">
            <a:avLst/>
          </a:prstGeom>
          <a:noFill/>
          <a:ln/>
        </p:spPr>
        <p:txBody>
          <a:bodyPr wrap="square" lIns="0" tIns="0" rIns="0" bIns="0" rtlCol="0" anchor="t"/>
          <a:lstStyle/>
          <a:p>
            <a:pPr indent="0" marL="0">
              <a:buNone/>
            </a:pPr>
            <a:r>
              <a:rPr lang="en-US" sz="1300" dirty="0">
                <a:solidFill>
                  <a:srgbClr val="1B2333"/>
                </a:solidFill>
                <a:latin typeface="Calibri" pitchFamily="34" charset="0"/>
                <a:ea typeface="Calibri" pitchFamily="34" charset="-122"/>
                <a:cs typeface="Calibri" pitchFamily="34" charset="-120"/>
              </a:rPr>
              <a:t>Audited accounts, RBI filings, management meetings. For a bank: capital adequacy, asset quality, profitability, funding.</a:t>
            </a:r>
            <a:endParaRPr lang="en-US" sz="1300" dirty="0"/>
          </a:p>
        </p:txBody>
      </p:sp>
      <p:sp>
        <p:nvSpPr>
          <p:cNvPr id="9" name="Shape 7"/>
          <p:cNvSpPr/>
          <p:nvPr/>
        </p:nvSpPr>
        <p:spPr>
          <a:xfrm>
            <a:off x="4297680" y="1371600"/>
            <a:ext cx="3474720" cy="2743200"/>
          </a:xfrm>
          <a:prstGeom prst="roundRect">
            <a:avLst>
              <a:gd name="adj" fmla="val 2667"/>
            </a:avLst>
          </a:prstGeom>
          <a:solidFill>
            <a:srgbClr val="EEF2F8"/>
          </a:solidFill>
          <a:ln w="12700">
            <a:solidFill>
              <a:srgbClr val="EEF2F8"/>
            </a:solidFill>
            <a:prstDash val="solid"/>
          </a:ln>
        </p:spPr>
      </p:sp>
      <p:sp>
        <p:nvSpPr>
          <p:cNvPr id="10" name="Shape 8"/>
          <p:cNvSpPr/>
          <p:nvPr/>
        </p:nvSpPr>
        <p:spPr>
          <a:xfrm>
            <a:off x="4572000" y="1645920"/>
            <a:ext cx="548640" cy="548640"/>
          </a:xfrm>
          <a:prstGeom prst="ellipse">
            <a:avLst/>
          </a:prstGeom>
          <a:solidFill>
            <a:srgbClr val="14213D"/>
          </a:solidFill>
          <a:ln w="12700">
            <a:solidFill>
              <a:srgbClr val="14213D"/>
            </a:solidFill>
            <a:prstDash val="solid"/>
          </a:ln>
        </p:spPr>
      </p:sp>
      <p:sp>
        <p:nvSpPr>
          <p:cNvPr id="11" name="Text 9"/>
          <p:cNvSpPr txBox="1"/>
          <p:nvPr/>
        </p:nvSpPr>
        <p:spPr>
          <a:xfrm>
            <a:off x="4572000" y="16459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txBox="1"/>
          <p:nvPr/>
        </p:nvSpPr>
        <p:spPr>
          <a:xfrm>
            <a:off x="4572000" y="2377440"/>
            <a:ext cx="2926080" cy="45720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Committee decision</a:t>
            </a:r>
            <a:endParaRPr lang="en-US" sz="1700" dirty="0"/>
          </a:p>
        </p:txBody>
      </p:sp>
      <p:sp>
        <p:nvSpPr>
          <p:cNvPr id="13" name="Text 11"/>
          <p:cNvSpPr txBox="1"/>
          <p:nvPr/>
        </p:nvSpPr>
        <p:spPr>
          <a:xfrm>
            <a:off x="4572000" y="2834640"/>
            <a:ext cx="2926080" cy="1188720"/>
          </a:xfrm>
          <a:prstGeom prst="rect">
            <a:avLst/>
          </a:prstGeom>
          <a:noFill/>
          <a:ln/>
        </p:spPr>
        <p:txBody>
          <a:bodyPr wrap="square" lIns="0" tIns="0" rIns="0" bIns="0" rtlCol="0" anchor="t"/>
          <a:lstStyle/>
          <a:p>
            <a:pPr indent="0" marL="0">
              <a:buNone/>
            </a:pPr>
            <a:r>
              <a:rPr lang="en-US" sz="1300" dirty="0">
                <a:solidFill>
                  <a:srgbClr val="1B2333"/>
                </a:solidFill>
                <a:latin typeface="Calibri" pitchFamily="34" charset="0"/>
                <a:ea typeface="Calibri" pitchFamily="34" charset="-122"/>
                <a:cs typeface="Calibri" pitchFamily="34" charset="-120"/>
              </a:rPr>
              <a:t>A panel votes on the grade. The output is a judgement call, not the result of a formula.</a:t>
            </a:r>
            <a:endParaRPr lang="en-US" sz="1300" dirty="0"/>
          </a:p>
        </p:txBody>
      </p:sp>
      <p:sp>
        <p:nvSpPr>
          <p:cNvPr id="14" name="Shape 12"/>
          <p:cNvSpPr/>
          <p:nvPr/>
        </p:nvSpPr>
        <p:spPr>
          <a:xfrm>
            <a:off x="8046720" y="1371600"/>
            <a:ext cx="3474720" cy="2743200"/>
          </a:xfrm>
          <a:prstGeom prst="roundRect">
            <a:avLst>
              <a:gd name="adj" fmla="val 2667"/>
            </a:avLst>
          </a:prstGeom>
          <a:solidFill>
            <a:srgbClr val="EEF2F8"/>
          </a:solidFill>
          <a:ln w="12700">
            <a:solidFill>
              <a:srgbClr val="EEF2F8"/>
            </a:solidFill>
            <a:prstDash val="solid"/>
          </a:ln>
        </p:spPr>
      </p:sp>
      <p:sp>
        <p:nvSpPr>
          <p:cNvPr id="15" name="Shape 13"/>
          <p:cNvSpPr/>
          <p:nvPr/>
        </p:nvSpPr>
        <p:spPr>
          <a:xfrm>
            <a:off x="8321040" y="1645920"/>
            <a:ext cx="548640" cy="548640"/>
          </a:xfrm>
          <a:prstGeom prst="ellipse">
            <a:avLst/>
          </a:prstGeom>
          <a:solidFill>
            <a:srgbClr val="14213D"/>
          </a:solidFill>
          <a:ln w="12700">
            <a:solidFill>
              <a:srgbClr val="14213D"/>
            </a:solidFill>
            <a:prstDash val="solid"/>
          </a:ln>
        </p:spPr>
      </p:sp>
      <p:sp>
        <p:nvSpPr>
          <p:cNvPr id="16" name="Text 14"/>
          <p:cNvSpPr txBox="1"/>
          <p:nvPr/>
        </p:nvSpPr>
        <p:spPr>
          <a:xfrm>
            <a:off x="8321040" y="16459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txBox="1"/>
          <p:nvPr/>
        </p:nvSpPr>
        <p:spPr>
          <a:xfrm>
            <a:off x="8321040" y="2377440"/>
            <a:ext cx="2926080" cy="45720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Surveillance</a:t>
            </a:r>
            <a:endParaRPr lang="en-US" sz="1700" dirty="0"/>
          </a:p>
        </p:txBody>
      </p:sp>
      <p:sp>
        <p:nvSpPr>
          <p:cNvPr id="18" name="Text 16"/>
          <p:cNvSpPr txBox="1"/>
          <p:nvPr/>
        </p:nvSpPr>
        <p:spPr>
          <a:xfrm>
            <a:off x="8321040" y="2834640"/>
            <a:ext cx="2926080" cy="1188720"/>
          </a:xfrm>
          <a:prstGeom prst="rect">
            <a:avLst/>
          </a:prstGeom>
          <a:noFill/>
          <a:ln/>
        </p:spPr>
        <p:txBody>
          <a:bodyPr wrap="square" lIns="0" tIns="0" rIns="0" bIns="0" rtlCol="0" anchor="t"/>
          <a:lstStyle/>
          <a:p>
            <a:pPr indent="0" marL="0">
              <a:buNone/>
            </a:pPr>
            <a:r>
              <a:rPr lang="en-US" sz="1300" dirty="0">
                <a:solidFill>
                  <a:srgbClr val="1B2333"/>
                </a:solidFill>
                <a:latin typeface="Calibri" pitchFamily="34" charset="0"/>
                <a:ea typeface="Calibri" pitchFamily="34" charset="-122"/>
                <a:cs typeface="Calibri" pitchFamily="34" charset="-120"/>
              </a:rPr>
              <a:t>Reviewed at least yearly, and after major events. An outlook (positive/stable/negative) or a watch can signal a change is pending.</a:t>
            </a:r>
            <a:endParaRPr lang="en-US" sz="1300" dirty="0"/>
          </a:p>
        </p:txBody>
      </p:sp>
      <p:sp>
        <p:nvSpPr>
          <p:cNvPr id="19" name="Shape 17"/>
          <p:cNvSpPr/>
          <p:nvPr/>
        </p:nvSpPr>
        <p:spPr>
          <a:xfrm>
            <a:off x="548640" y="4434840"/>
            <a:ext cx="11064240" cy="1691640"/>
          </a:xfrm>
          <a:prstGeom prst="roundRect">
            <a:avLst>
              <a:gd name="adj" fmla="val 4324"/>
            </a:avLst>
          </a:prstGeom>
          <a:solidFill>
            <a:srgbClr val="14213D"/>
          </a:solidFill>
          <a:ln w="12700">
            <a:solidFill>
              <a:srgbClr val="14213D"/>
            </a:solidFill>
            <a:prstDash val="solid"/>
          </a:ln>
        </p:spPr>
      </p:sp>
      <p:sp>
        <p:nvSpPr>
          <p:cNvPr id="20" name="Text 18"/>
          <p:cNvSpPr txBox="1"/>
          <p:nvPr/>
        </p:nvSpPr>
        <p:spPr>
          <a:xfrm>
            <a:off x="914400" y="4617720"/>
            <a:ext cx="10332720" cy="365760"/>
          </a:xfrm>
          <a:prstGeom prst="rect">
            <a:avLst/>
          </a:prstGeom>
          <a:noFill/>
          <a:ln/>
        </p:spPr>
        <p:txBody>
          <a:bodyPr wrap="square" lIns="0" tIns="0" rIns="0" bIns="0" rtlCol="0" anchor="t"/>
          <a:lstStyle/>
          <a:p>
            <a:pPr indent="0" marL="0">
              <a:buNone/>
            </a:pPr>
            <a:r>
              <a:rPr lang="en-US" sz="1700" b="1" dirty="0">
                <a:solidFill>
                  <a:srgbClr val="F3C97A"/>
                </a:solidFill>
                <a:latin typeface="Cambria" pitchFamily="34" charset="0"/>
                <a:ea typeface="Cambria" pitchFamily="34" charset="-122"/>
                <a:cs typeface="Cambria" pitchFamily="34" charset="-120"/>
              </a:rPr>
              <a:t>Three properties this bakes in</a:t>
            </a:r>
            <a:endParaRPr lang="en-US" sz="1700" dirty="0"/>
          </a:p>
        </p:txBody>
      </p:sp>
      <p:sp>
        <p:nvSpPr>
          <p:cNvPr id="21" name="Text 19"/>
          <p:cNvSpPr txBox="1"/>
          <p:nvPr/>
        </p:nvSpPr>
        <p:spPr>
          <a:xfrm>
            <a:off x="914400" y="5029200"/>
            <a:ext cx="1033272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Committee-based (judgement, not a formula)  ·  Periodic (the grade moves in discrete steps)  ·  Disclosure-dependent (agencies see what the bank reports, when it reports it)</a:t>
            </a:r>
            <a:endParaRPr lang="en-US" sz="1500" dirty="0"/>
          </a:p>
        </p:txBody>
      </p:sp>
      <p:sp>
        <p:nvSpPr>
          <p:cNvPr id="22" name="Text 20"/>
          <p:cNvSpPr txBox="1"/>
          <p:nvPr/>
        </p:nvSpPr>
        <p:spPr>
          <a:xfrm>
            <a:off x="11521440" y="6510528"/>
            <a:ext cx="548640" cy="274320"/>
          </a:xfrm>
          <a:prstGeom prst="rect">
            <a:avLst/>
          </a:prstGeom>
          <a:noFill/>
          <a:ln/>
        </p:spPr>
        <p:txBody>
          <a:bodyPr wrap="square" lIns="0" tIns="0" rIns="0" bIns="0" rtlCol="0" anchor="t"/>
          <a:lstStyle/>
          <a:p>
            <a:pPr algn="r" indent="0" marL="0">
              <a:buNone/>
            </a:pPr>
            <a:r>
              <a:rPr lang="en-US" sz="1000" dirty="0">
                <a:solidFill>
                  <a:srgbClr val="B8BFCC"/>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320040"/>
          </a:xfrm>
          <a:prstGeom prst="rect">
            <a:avLst/>
          </a:prstGeom>
          <a:noFill/>
          <a:ln/>
        </p:spPr>
        <p:txBody>
          <a:bodyPr wrap="square" lIns="0" tIns="0" rIns="0" bIns="0" rtlCol="0" anchor="t"/>
          <a:lstStyle/>
          <a:p>
            <a:pPr indent="0" marL="0">
              <a:buNone/>
            </a:pPr>
            <a:r>
              <a:rPr lang="en-US" sz="1200" b="1" spc="200" kern="0" dirty="0">
                <a:solidFill>
                  <a:srgbClr val="1F8A7A"/>
                </a:solidFill>
                <a:latin typeface="Calibri" pitchFamily="34" charset="0"/>
                <a:ea typeface="Calibri" pitchFamily="34" charset="-122"/>
                <a:cs typeface="Calibri" pitchFamily="34" charset="-120"/>
              </a:rPr>
              <a:t>02 · THE CRITIQUE</a:t>
            </a:r>
            <a:endParaRPr lang="en-US" sz="1200" dirty="0"/>
          </a:p>
        </p:txBody>
      </p:sp>
      <p:sp>
        <p:nvSpPr>
          <p:cNvPr id="3" name="Text 1"/>
          <p:cNvSpPr txBox="1"/>
          <p:nvPr/>
        </p:nvSpPr>
        <p:spPr>
          <a:xfrm>
            <a:off x="548640" y="457200"/>
            <a:ext cx="11064240" cy="731520"/>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Why ratings are sticky by design</a:t>
            </a:r>
            <a:endParaRPr lang="en-US" sz="2900" dirty="0"/>
          </a:p>
        </p:txBody>
      </p:sp>
      <p:sp>
        <p:nvSpPr>
          <p:cNvPr id="4" name="Text 2"/>
          <p:cNvSpPr txBox="1"/>
          <p:nvPr/>
        </p:nvSpPr>
        <p:spPr>
          <a:xfrm>
            <a:off x="548640" y="1371600"/>
            <a:ext cx="5669280" cy="4206240"/>
          </a:xfrm>
          <a:prstGeom prst="rect">
            <a:avLst/>
          </a:prstGeom>
          <a:noFill/>
          <a:ln/>
        </p:spPr>
        <p:txBody>
          <a:bodyPr wrap="square" lIns="0" tIns="0" rIns="0" bIns="0" rtlCol="0" anchor="t"/>
          <a:lstStyle/>
          <a:p>
            <a:pPr marL="342900" indent="-342900">
              <a:spcAft>
                <a:spcPts val="600"/>
              </a:spcAft>
              <a:buSzPct val="100000"/>
              <a:buChar char="•"/>
            </a:pPr>
            <a:r>
              <a:rPr lang="en-US" sz="1550" dirty="0">
                <a:solidFill>
                  <a:srgbClr val="1B2333"/>
                </a:solidFill>
                <a:latin typeface="Calibri" pitchFamily="34" charset="0"/>
                <a:ea typeface="Calibri" pitchFamily="34" charset="-122"/>
                <a:cs typeface="Calibri" pitchFamily="34" charset="-120"/>
              </a:rPr>
              <a:t>Agencies aim to be through-the-cycle: a rating meant to hold across ordinary ups and downs, not flip with every price move.</a:t>
            </a:r>
            <a:endParaRPr lang="en-US" sz="1550" dirty="0"/>
          </a:p>
          <a:p>
            <a:pPr marL="342900" indent="-342900">
              <a:spcAft>
                <a:spcPts val="600"/>
              </a:spcAft>
              <a:buSzPct val="100000"/>
              <a:buChar char="•"/>
            </a:pPr>
            <a:r>
              <a:rPr lang="en-US" sz="1550" dirty="0">
                <a:solidFill>
                  <a:srgbClr val="1B2333"/>
                </a:solidFill>
                <a:latin typeface="Calibri" pitchFamily="34" charset="0"/>
                <a:ea typeface="Calibri" pitchFamily="34" charset="-122"/>
                <a:cs typeface="Calibri" pitchFamily="34" charset="-120"/>
              </a:rPr>
              <a:t>Investor mandates and bond covenants reference ratings, so frequent flips would force repeated buying and selling.</a:t>
            </a:r>
            <a:endParaRPr lang="en-US" sz="1550" dirty="0"/>
          </a:p>
          <a:p>
            <a:pPr marL="342900" indent="-342900">
              <a:spcAft>
                <a:spcPts val="600"/>
              </a:spcAft>
              <a:buSzPct val="100000"/>
              <a:buChar char="•"/>
            </a:pPr>
            <a:r>
              <a:rPr lang="en-US" sz="1550" dirty="0">
                <a:solidFill>
                  <a:srgbClr val="1B2333"/>
                </a:solidFill>
                <a:latin typeface="Calibri" pitchFamily="34" charset="0"/>
                <a:ea typeface="Calibri" pitchFamily="34" charset="-122"/>
                <a:cs typeface="Calibri" pitchFamily="34" charset="-120"/>
              </a:rPr>
              <a:t>A downgrade has consequences, so agencies wait for documented evidence — evidence that typically arrives on a quarterly disclosure calendar.</a:t>
            </a:r>
            <a:endParaRPr lang="en-US" sz="1550" dirty="0"/>
          </a:p>
          <a:p>
            <a:pPr marL="342900" indent="-342900">
              <a:spcAft>
                <a:spcPts val="600"/>
              </a:spcAft>
              <a:buSzPct val="100000"/>
              <a:buChar char="•"/>
            </a:pPr>
            <a:r>
              <a:rPr lang="en-US" sz="1550" dirty="0">
                <a:solidFill>
                  <a:srgbClr val="1B2333"/>
                </a:solidFill>
                <a:latin typeface="Calibri" pitchFamily="34" charset="0"/>
                <a:ea typeface="Calibri" pitchFamily="34" charset="-122"/>
                <a:cs typeface="Calibri" pitchFamily="34" charset="-120"/>
              </a:rPr>
              <a:t>Net effect: the rating moves late, and in discrete steps, even while true credit quality is moving continuously.</a:t>
            </a:r>
            <a:endParaRPr lang="en-US" sz="1550" dirty="0"/>
          </a:p>
        </p:txBody>
      </p:sp>
      <p:sp>
        <p:nvSpPr>
          <p:cNvPr id="5" name="Shape 3"/>
          <p:cNvSpPr/>
          <p:nvPr/>
        </p:nvSpPr>
        <p:spPr>
          <a:xfrm>
            <a:off x="6492240" y="1371600"/>
            <a:ext cx="5120640" cy="4480560"/>
          </a:xfrm>
          <a:prstGeom prst="roundRect">
            <a:avLst>
              <a:gd name="adj" fmla="val 1633"/>
            </a:avLst>
          </a:prstGeom>
          <a:solidFill>
            <a:srgbClr val="EEF2F8"/>
          </a:solidFill>
          <a:ln w="12700">
            <a:solidFill>
              <a:srgbClr val="EEF2F8"/>
            </a:solidFill>
            <a:prstDash val="solid"/>
          </a:ln>
        </p:spPr>
      </p:sp>
      <p:sp>
        <p:nvSpPr>
          <p:cNvPr id="6" name="Text 4"/>
          <p:cNvSpPr txBox="1"/>
          <p:nvPr/>
        </p:nvSpPr>
        <p:spPr>
          <a:xfrm>
            <a:off x="6858000" y="1600200"/>
            <a:ext cx="4389120" cy="365760"/>
          </a:xfrm>
          <a:prstGeom prst="rect">
            <a:avLst/>
          </a:prstGeom>
          <a:noFill/>
          <a:ln/>
        </p:spPr>
        <p:txBody>
          <a:bodyPr wrap="square" lIns="0" tIns="0" rIns="0" bIns="0" rtlCol="0" anchor="t"/>
          <a:lstStyle/>
          <a:p>
            <a:pPr indent="0" marL="0">
              <a:buNone/>
            </a:pPr>
            <a:r>
              <a:rPr lang="en-US" sz="1800" b="1" dirty="0">
                <a:solidFill>
                  <a:srgbClr val="14213D"/>
                </a:solidFill>
                <a:latin typeface="Cambria" pitchFamily="34" charset="0"/>
                <a:ea typeface="Cambria" pitchFamily="34" charset="-122"/>
                <a:cs typeface="Cambria" pitchFamily="34" charset="-120"/>
              </a:rPr>
              <a:t>This recurs globally</a:t>
            </a:r>
            <a:endParaRPr lang="en-US" sz="1800" dirty="0"/>
          </a:p>
        </p:txBody>
      </p:sp>
      <p:sp>
        <p:nvSpPr>
          <p:cNvPr id="7" name="Text 5"/>
          <p:cNvSpPr txBox="1"/>
          <p:nvPr/>
        </p:nvSpPr>
        <p:spPr>
          <a:xfrm>
            <a:off x="6858000" y="2057400"/>
            <a:ext cx="4389120" cy="18288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B2333"/>
                </a:solidFill>
                <a:latin typeface="Calibri" pitchFamily="34" charset="0"/>
                <a:ea typeface="Calibri" pitchFamily="34" charset="-122"/>
                <a:cs typeface="Calibri" pitchFamily="34" charset="-120"/>
              </a:rPr>
              <a:t>Enron (2001): still investment grade in late Nov 2001; cut to junk on 28 Nov, days before its 2 Dec bankruptcy filing.</a:t>
            </a:r>
            <a:endParaRPr lang="en-US" sz="1350" dirty="0"/>
          </a:p>
          <a:p>
            <a:pPr marL="342900" indent="-342900">
              <a:spcAft>
                <a:spcPts val="600"/>
              </a:spcAft>
              <a:buSzPct val="100000"/>
              <a:buChar char="•"/>
            </a:pPr>
            <a:r>
              <a:rPr lang="en-US" sz="1350" dirty="0">
                <a:solidFill>
                  <a:srgbClr val="1B2333"/>
                </a:solidFill>
                <a:latin typeface="Calibri" pitchFamily="34" charset="0"/>
                <a:ea typeface="Calibri" pitchFamily="34" charset="-122"/>
                <a:cs typeface="Calibri" pitchFamily="34" charset="-120"/>
              </a:rPr>
              <a:t>2007-09 crisis: AAA-rated mortgage securities were downgraded in bulk from mid-2007, after losses had already begun to show.</a:t>
            </a:r>
            <a:endParaRPr lang="en-US" sz="1350" dirty="0"/>
          </a:p>
        </p:txBody>
      </p:sp>
      <p:sp>
        <p:nvSpPr>
          <p:cNvPr id="8" name="Text 6"/>
          <p:cNvSpPr txBox="1"/>
          <p:nvPr/>
        </p:nvSpPr>
        <p:spPr>
          <a:xfrm>
            <a:off x="6858000" y="4023360"/>
            <a:ext cx="4389120" cy="365760"/>
          </a:xfrm>
          <a:prstGeom prst="rect">
            <a:avLst/>
          </a:prstGeom>
          <a:noFill/>
          <a:ln/>
        </p:spPr>
        <p:txBody>
          <a:bodyPr wrap="square" lIns="0" tIns="0" rIns="0" bIns="0" rtlCol="0" anchor="t"/>
          <a:lstStyle/>
          <a:p>
            <a:pPr indent="0" marL="0">
              <a:buNone/>
            </a:pPr>
            <a:r>
              <a:rPr lang="en-US" sz="1300" b="1" dirty="0">
                <a:solidFill>
                  <a:srgbClr val="5B6577"/>
                </a:solidFill>
                <a:latin typeface="Cambria" pitchFamily="34" charset="0"/>
                <a:ea typeface="Cambria" pitchFamily="34" charset="-122"/>
                <a:cs typeface="Cambria" pitchFamily="34" charset="-120"/>
              </a:rPr>
              <a:t>Both are background here</a:t>
            </a:r>
            <a:endParaRPr lang="en-US" sz="1300" dirty="0"/>
          </a:p>
        </p:txBody>
      </p:sp>
      <p:sp>
        <p:nvSpPr>
          <p:cNvPr id="9" name="Text 7"/>
          <p:cNvSpPr txBox="1"/>
          <p:nvPr/>
        </p:nvSpPr>
        <p:spPr>
          <a:xfrm>
            <a:off x="6858000" y="4343400"/>
            <a:ext cx="4389120" cy="1371600"/>
          </a:xfrm>
          <a:prstGeom prst="rect">
            <a:avLst/>
          </a:prstGeom>
          <a:noFill/>
          <a:ln/>
        </p:spPr>
        <p:txBody>
          <a:bodyPr wrap="square" lIns="0" tIns="0" rIns="0" bIns="0" rtlCol="0" anchor="t"/>
          <a:lstStyle/>
          <a:p>
            <a:pPr indent="0" marL="0">
              <a:buNone/>
            </a:pPr>
            <a:r>
              <a:rPr lang="en-US" sz="1300" i="1" dirty="0">
                <a:solidFill>
                  <a:srgbClr val="5B6577"/>
                </a:solidFill>
                <a:latin typeface="Calibri" pitchFamily="34" charset="0"/>
                <a:ea typeface="Calibri" pitchFamily="34" charset="-122"/>
                <a:cs typeface="Calibri" pitchFamily="34" charset="-120"/>
              </a:rPr>
              <a:t>Yes Bank, next, is the local test of the same pattern.</a:t>
            </a:r>
            <a:endParaRPr lang="en-US" sz="1300" dirty="0"/>
          </a:p>
        </p:txBody>
      </p:sp>
      <p:sp>
        <p:nvSpPr>
          <p:cNvPr id="10" name="Text 8"/>
          <p:cNvSpPr txBox="1"/>
          <p:nvPr/>
        </p:nvSpPr>
        <p:spPr>
          <a:xfrm>
            <a:off x="11521440" y="6510528"/>
            <a:ext cx="548640" cy="274320"/>
          </a:xfrm>
          <a:prstGeom prst="rect">
            <a:avLst/>
          </a:prstGeom>
          <a:noFill/>
          <a:ln/>
        </p:spPr>
        <p:txBody>
          <a:bodyPr wrap="square" lIns="0" tIns="0" rIns="0" bIns="0" rtlCol="0" anchor="t"/>
          <a:lstStyle/>
          <a:p>
            <a:pPr algn="r" indent="0" marL="0">
              <a:buNone/>
            </a:pPr>
            <a:r>
              <a:rPr lang="en-US" sz="1000" dirty="0">
                <a:solidFill>
                  <a:srgbClr val="B8BFCC"/>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320040"/>
          </a:xfrm>
          <a:prstGeom prst="rect">
            <a:avLst/>
          </a:prstGeom>
          <a:noFill/>
          <a:ln/>
        </p:spPr>
        <p:txBody>
          <a:bodyPr wrap="square" lIns="0" tIns="0" rIns="0" bIns="0" rtlCol="0" anchor="t"/>
          <a:lstStyle/>
          <a:p>
            <a:pPr indent="0" marL="0">
              <a:buNone/>
            </a:pPr>
            <a:r>
              <a:rPr lang="en-US" sz="1200" b="1" spc="200" kern="0" dirty="0">
                <a:solidFill>
                  <a:srgbClr val="F3C97A"/>
                </a:solidFill>
                <a:latin typeface="Calibri" pitchFamily="34" charset="0"/>
                <a:ea typeface="Calibri" pitchFamily="34" charset="-122"/>
                <a:cs typeface="Calibri" pitchFamily="34" charset="-120"/>
              </a:rPr>
              <a:t>02 · THE CRITIQUE — YES BANK, 2018</a:t>
            </a:r>
            <a:endParaRPr lang="en-US" sz="1200" dirty="0"/>
          </a:p>
        </p:txBody>
      </p:sp>
      <p:sp>
        <p:nvSpPr>
          <p:cNvPr id="3" name="Text 1"/>
          <p:cNvSpPr txBox="1"/>
          <p:nvPr/>
        </p:nvSpPr>
        <p:spPr>
          <a:xfrm>
            <a:off x="548640" y="457200"/>
            <a:ext cx="11064240" cy="731520"/>
          </a:xfrm>
          <a:prstGeom prst="rect">
            <a:avLst/>
          </a:prstGeom>
          <a:noFill/>
          <a:ln/>
        </p:spPr>
        <p:txBody>
          <a:bodyPr wrap="square" lIns="0" tIns="0" rIns="0" bIns="0"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The gap, in one number</a:t>
            </a:r>
            <a:endParaRPr lang="en-US" sz="2900" dirty="0"/>
          </a:p>
        </p:txBody>
      </p:sp>
      <p:sp>
        <p:nvSpPr>
          <p:cNvPr id="4" name="Text 2"/>
          <p:cNvSpPr txBox="1"/>
          <p:nvPr/>
        </p:nvSpPr>
        <p:spPr>
          <a:xfrm>
            <a:off x="731520" y="1463040"/>
            <a:ext cx="5120640" cy="457200"/>
          </a:xfrm>
          <a:prstGeom prst="rect">
            <a:avLst/>
          </a:prstGeom>
          <a:noFill/>
          <a:ln/>
        </p:spPr>
        <p:txBody>
          <a:bodyPr wrap="square" lIns="0" tIns="0" rIns="0" bIns="0" rtlCol="0" anchor="t"/>
          <a:lstStyle/>
          <a:p>
            <a:pPr indent="0" marL="0">
              <a:buNone/>
            </a:pPr>
            <a:r>
              <a:rPr lang="en-US" sz="2000" b="1" dirty="0">
                <a:solidFill>
                  <a:srgbClr val="F3C97A"/>
                </a:solidFill>
                <a:latin typeface="Cambria" pitchFamily="34" charset="0"/>
                <a:ea typeface="Cambria" pitchFamily="34" charset="-122"/>
                <a:cs typeface="Cambria" pitchFamily="34" charset="-120"/>
              </a:rPr>
              <a:t>CARE upgrades Yes Bank to AAA</a:t>
            </a:r>
            <a:endParaRPr lang="en-US" sz="2000" dirty="0"/>
          </a:p>
        </p:txBody>
      </p:sp>
      <p:sp>
        <p:nvSpPr>
          <p:cNvPr id="5" name="Text 3"/>
          <p:cNvSpPr txBox="1"/>
          <p:nvPr/>
        </p:nvSpPr>
        <p:spPr>
          <a:xfrm>
            <a:off x="731520" y="1965960"/>
            <a:ext cx="5120640" cy="365760"/>
          </a:xfrm>
          <a:prstGeom prst="rect">
            <a:avLst/>
          </a:prstGeom>
          <a:noFill/>
          <a:ln/>
        </p:spPr>
        <p:txBody>
          <a:bodyPr wrap="square" lIns="0" tIns="0" rIns="0" bIns="0" rtlCol="0" anchor="t"/>
          <a:lstStyle/>
          <a:p>
            <a:pPr indent="0" marL="0">
              <a:buNone/>
            </a:pPr>
            <a:r>
              <a:rPr lang="en-US" sz="1500" dirty="0">
                <a:solidFill>
                  <a:srgbClr val="D6DEEC"/>
                </a:solidFill>
                <a:latin typeface="Calibri" pitchFamily="34" charset="0"/>
                <a:ea typeface="Calibri" pitchFamily="34" charset="-122"/>
                <a:cs typeface="Calibri" pitchFamily="34" charset="-120"/>
              </a:rPr>
              <a:t>5 July 2018</a:t>
            </a:r>
            <a:endParaRPr lang="en-US" sz="1500" dirty="0"/>
          </a:p>
        </p:txBody>
      </p:sp>
      <p:sp>
        <p:nvSpPr>
          <p:cNvPr id="6" name="Shape 4"/>
          <p:cNvSpPr/>
          <p:nvPr/>
        </p:nvSpPr>
        <p:spPr>
          <a:xfrm>
            <a:off x="6035040" y="1920240"/>
            <a:ext cx="1005840" cy="457200"/>
          </a:xfrm>
          <a:prstGeom prst="rightArrow">
            <a:avLst/>
          </a:prstGeom>
          <a:solidFill>
            <a:srgbClr val="3B6EA8"/>
          </a:solidFill>
          <a:ln/>
        </p:spPr>
      </p:sp>
      <p:sp>
        <p:nvSpPr>
          <p:cNvPr id="7" name="Text 5"/>
          <p:cNvSpPr txBox="1"/>
          <p:nvPr/>
        </p:nvSpPr>
        <p:spPr>
          <a:xfrm>
            <a:off x="7315200" y="1463040"/>
            <a:ext cx="4206240" cy="457200"/>
          </a:xfrm>
          <a:prstGeom prst="rect">
            <a:avLst/>
          </a:prstGeom>
          <a:noFill/>
          <a:ln/>
        </p:spPr>
        <p:txBody>
          <a:bodyPr wrap="square" lIns="0" tIns="0" rIns="0" bIns="0" rtlCol="0" anchor="t"/>
          <a:lstStyle/>
          <a:p>
            <a:pPr indent="0" marL="0">
              <a:buNone/>
            </a:pPr>
            <a:r>
              <a:rPr lang="en-US" sz="2000" b="1" dirty="0">
                <a:solidFill>
                  <a:srgbClr val="F3C97A"/>
                </a:solidFill>
                <a:latin typeface="Cambria" pitchFamily="34" charset="0"/>
                <a:ea typeface="Cambria" pitchFamily="34" charset="-122"/>
                <a:cs typeface="Cambria" pitchFamily="34" charset="-120"/>
              </a:rPr>
              <a:t>First downgrade (ICRA + CARE)</a:t>
            </a:r>
            <a:endParaRPr lang="en-US" sz="2000" dirty="0"/>
          </a:p>
        </p:txBody>
      </p:sp>
      <p:sp>
        <p:nvSpPr>
          <p:cNvPr id="8" name="Text 6"/>
          <p:cNvSpPr txBox="1"/>
          <p:nvPr/>
        </p:nvSpPr>
        <p:spPr>
          <a:xfrm>
            <a:off x="7315200" y="1965960"/>
            <a:ext cx="4206240" cy="365760"/>
          </a:xfrm>
          <a:prstGeom prst="rect">
            <a:avLst/>
          </a:prstGeom>
          <a:noFill/>
          <a:ln/>
        </p:spPr>
        <p:txBody>
          <a:bodyPr wrap="square" lIns="0" tIns="0" rIns="0" bIns="0" rtlCol="0" anchor="t"/>
          <a:lstStyle/>
          <a:p>
            <a:pPr indent="0" marL="0">
              <a:buNone/>
            </a:pPr>
            <a:r>
              <a:rPr lang="en-US" sz="1500" dirty="0">
                <a:solidFill>
                  <a:srgbClr val="D6DEEC"/>
                </a:solidFill>
                <a:latin typeface="Calibri" pitchFamily="34" charset="0"/>
                <a:ea typeface="Calibri" pitchFamily="34" charset="-122"/>
                <a:cs typeface="Calibri" pitchFamily="34" charset="-120"/>
              </a:rPr>
              <a:t>28 November 2018 — 146 days later</a:t>
            </a:r>
            <a:endParaRPr lang="en-US" sz="1500" dirty="0"/>
          </a:p>
        </p:txBody>
      </p:sp>
      <p:sp>
        <p:nvSpPr>
          <p:cNvPr id="9" name="Shape 7"/>
          <p:cNvSpPr/>
          <p:nvPr/>
        </p:nvSpPr>
        <p:spPr>
          <a:xfrm>
            <a:off x="731520" y="2834640"/>
            <a:ext cx="10789920" cy="2651760"/>
          </a:xfrm>
          <a:prstGeom prst="roundRect">
            <a:avLst>
              <a:gd name="adj" fmla="val 2759"/>
            </a:avLst>
          </a:prstGeom>
          <a:solidFill>
            <a:srgbClr val="1F3159"/>
          </a:solidFill>
          <a:ln w="12700">
            <a:solidFill>
              <a:srgbClr val="1F3159"/>
            </a:solidFill>
            <a:prstDash val="solid"/>
          </a:ln>
        </p:spPr>
      </p:sp>
      <p:sp>
        <p:nvSpPr>
          <p:cNvPr id="10" name="Text 8"/>
          <p:cNvSpPr txBox="1"/>
          <p:nvPr/>
        </p:nvSpPr>
        <p:spPr>
          <a:xfrm>
            <a:off x="1097280" y="3108960"/>
            <a:ext cx="4572000" cy="2011680"/>
          </a:xfrm>
          <a:prstGeom prst="rect">
            <a:avLst/>
          </a:prstGeom>
          <a:noFill/>
          <a:ln/>
        </p:spPr>
        <p:txBody>
          <a:bodyPr wrap="square" lIns="0" tIns="0" rIns="0" bIns="0" rtlCol="0" anchor="t"/>
          <a:lstStyle/>
          <a:p>
            <a:pPr indent="0" marL="0">
              <a:buNone/>
            </a:pPr>
            <a:r>
              <a:rPr lang="en-US" sz="9000" b="1" dirty="0">
                <a:solidFill>
                  <a:srgbClr val="FFFFFF"/>
                </a:solidFill>
                <a:latin typeface="Cambria" pitchFamily="34" charset="0"/>
                <a:ea typeface="Cambria" pitchFamily="34" charset="-122"/>
                <a:cs typeface="Cambria" pitchFamily="34" charset="-120"/>
              </a:rPr>
              <a:t>-48%</a:t>
            </a:r>
            <a:endParaRPr lang="en-US" sz="9000" dirty="0"/>
          </a:p>
        </p:txBody>
      </p:sp>
      <p:sp>
        <p:nvSpPr>
          <p:cNvPr id="11" name="Text 9"/>
          <p:cNvSpPr txBox="1"/>
          <p:nvPr/>
        </p:nvSpPr>
        <p:spPr>
          <a:xfrm>
            <a:off x="1097280" y="4846320"/>
            <a:ext cx="4572000" cy="548640"/>
          </a:xfrm>
          <a:prstGeom prst="rect">
            <a:avLst/>
          </a:prstGeom>
          <a:noFill/>
          <a:ln/>
        </p:spPr>
        <p:txBody>
          <a:bodyPr wrap="square" lIns="0" tIns="0" rIns="0" bIns="0" rtlCol="0" anchor="t"/>
          <a:lstStyle/>
          <a:p>
            <a:pPr indent="0" marL="0">
              <a:buNone/>
            </a:pPr>
            <a:r>
              <a:rPr lang="en-US" sz="1400" dirty="0">
                <a:solidFill>
                  <a:srgbClr val="D6DEEC"/>
                </a:solidFill>
                <a:latin typeface="Calibri" pitchFamily="34" charset="0"/>
                <a:ea typeface="Calibri" pitchFamily="34" charset="-122"/>
                <a:cs typeface="Calibri" pitchFamily="34" charset="-120"/>
              </a:rPr>
              <a:t>Share-price fall over those 146 days</a:t>
            </a:r>
            <a:endParaRPr lang="en-US" sz="1400" dirty="0"/>
          </a:p>
        </p:txBody>
      </p:sp>
      <p:sp>
        <p:nvSpPr>
          <p:cNvPr id="12" name="Text 10"/>
          <p:cNvSpPr txBox="1"/>
          <p:nvPr/>
        </p:nvSpPr>
        <p:spPr>
          <a:xfrm>
            <a:off x="5760720" y="3108960"/>
            <a:ext cx="5486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FFFFFF"/>
                </a:solidFill>
                <a:latin typeface="Calibri" pitchFamily="34" charset="0"/>
                <a:ea typeface="Calibri" pitchFamily="34" charset="-122"/>
                <a:cs typeface="Calibri" pitchFamily="34" charset="-120"/>
              </a:rPr>
              <a:t>RBI's letter curtailing the CEO's term is dated 17 Sep 2018; disclosed 19 Sep; share fell sharply on 21 Sep.</a:t>
            </a:r>
            <a:endParaRPr lang="en-US" sz="1350" dirty="0"/>
          </a:p>
          <a:p>
            <a:pPr marL="342900" indent="-342900">
              <a:spcAft>
                <a:spcPts val="600"/>
              </a:spcAft>
              <a:buSzPct val="100000"/>
              <a:buChar char="•"/>
            </a:pPr>
            <a:r>
              <a:rPr lang="en-US" sz="1350" dirty="0">
                <a:solidFill>
                  <a:srgbClr val="FFFFFF"/>
                </a:solidFill>
                <a:latin typeface="Calibri" pitchFamily="34" charset="0"/>
                <a:ea typeface="Calibri" pitchFamily="34" charset="-122"/>
                <a:cs typeface="Calibri" pitchFamily="34" charset="-120"/>
              </a:rPr>
              <a:t>The AAA rating did not move for those first ten days.</a:t>
            </a:r>
            <a:endParaRPr lang="en-US" sz="1350" dirty="0"/>
          </a:p>
          <a:p>
            <a:pPr marL="342900" indent="-342900">
              <a:spcAft>
                <a:spcPts val="600"/>
              </a:spcAft>
              <a:buSzPct val="100000"/>
              <a:buChar char="•"/>
            </a:pPr>
            <a:r>
              <a:rPr lang="en-US" sz="1350" dirty="0">
                <a:solidFill>
                  <a:srgbClr val="FFFFFF"/>
                </a:solidFill>
                <a:latin typeface="Calibri" pitchFamily="34" charset="0"/>
                <a:ea typeface="Calibri" pitchFamily="34" charset="-122"/>
                <a:cs typeface="Calibri" pitchFamily="34" charset="-120"/>
              </a:rPr>
              <a:t>CARE placed AAA on watch 1 Oct (verified); ICRA followed 17 Nov; downgrade landed 28 Nov.</a:t>
            </a:r>
            <a:endParaRPr lang="en-US" sz="1350" dirty="0"/>
          </a:p>
        </p:txBody>
      </p:sp>
      <p:sp>
        <p:nvSpPr>
          <p:cNvPr id="13" name="Text 11"/>
          <p:cNvSpPr txBox="1"/>
          <p:nvPr/>
        </p:nvSpPr>
        <p:spPr>
          <a:xfrm>
            <a:off x="11521440" y="6510528"/>
            <a:ext cx="548640" cy="274320"/>
          </a:xfrm>
          <a:prstGeom prst="rect">
            <a:avLst/>
          </a:prstGeom>
          <a:noFill/>
          <a:ln/>
        </p:spPr>
        <p:txBody>
          <a:bodyPr wrap="square" lIns="0" tIns="0" rIns="0" bIns="0" rtlCol="0" anchor="t"/>
          <a:lstStyle/>
          <a:p>
            <a:pPr algn="r" indent="0" marL="0">
              <a:buNone/>
            </a:pPr>
            <a:r>
              <a:rPr lang="en-US" sz="1000" dirty="0">
                <a:solidFill>
                  <a:srgbClr val="8A97B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320040"/>
          </a:xfrm>
          <a:prstGeom prst="rect">
            <a:avLst/>
          </a:prstGeom>
          <a:noFill/>
          <a:ln/>
        </p:spPr>
        <p:txBody>
          <a:bodyPr wrap="square" lIns="0" tIns="0" rIns="0" bIns="0" rtlCol="0" anchor="t"/>
          <a:lstStyle/>
          <a:p>
            <a:pPr indent="0" marL="0">
              <a:buNone/>
            </a:pPr>
            <a:r>
              <a:rPr lang="en-US" sz="1200" b="1" spc="200" kern="0" dirty="0">
                <a:solidFill>
                  <a:srgbClr val="1F8A7A"/>
                </a:solidFill>
                <a:latin typeface="Calibri" pitchFamily="34" charset="0"/>
                <a:ea typeface="Calibri" pitchFamily="34" charset="-122"/>
                <a:cs typeface="Calibri" pitchFamily="34" charset="-120"/>
              </a:rPr>
              <a:t>03 · THE MODEL — FOUNDATIONS</a:t>
            </a:r>
            <a:endParaRPr lang="en-US" sz="1200" dirty="0"/>
          </a:p>
        </p:txBody>
      </p:sp>
      <p:sp>
        <p:nvSpPr>
          <p:cNvPr id="3" name="Text 1"/>
          <p:cNvSpPr txBox="1"/>
          <p:nvPr/>
        </p:nvSpPr>
        <p:spPr>
          <a:xfrm>
            <a:off x="548640" y="457200"/>
            <a:ext cx="11064240" cy="731520"/>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The alternative: equity is a call option</a:t>
            </a:r>
            <a:endParaRPr lang="en-US" sz="2900" dirty="0"/>
          </a:p>
        </p:txBody>
      </p:sp>
      <p:pic>
        <p:nvPicPr>
          <p:cNvPr id="4" name="Image 0" descr="figs/payoff.png">    </p:cNvPr>
          <p:cNvPicPr>
            <a:picLocks noChangeAspect="1"/>
          </p:cNvPicPr>
          <p:nvPr/>
        </p:nvPicPr>
        <p:blipFill>
          <a:blip r:embed="rId1"/>
          <a:stretch>
            <a:fillRect/>
          </a:stretch>
        </p:blipFill>
        <p:spPr>
          <a:xfrm>
            <a:off x="457200" y="1280160"/>
            <a:ext cx="6035040" cy="3521027"/>
          </a:xfrm>
          <a:prstGeom prst="rect">
            <a:avLst/>
          </a:prstGeom>
        </p:spPr>
      </p:pic>
      <p:sp>
        <p:nvSpPr>
          <p:cNvPr id="5" name="Text 2"/>
          <p:cNvSpPr txBox="1"/>
          <p:nvPr/>
        </p:nvSpPr>
        <p:spPr>
          <a:xfrm>
            <a:off x="6766560" y="1280160"/>
            <a:ext cx="4937760" cy="365760"/>
          </a:xfrm>
          <a:prstGeom prst="rect">
            <a:avLst/>
          </a:prstGeom>
          <a:noFill/>
          <a:ln/>
        </p:spPr>
        <p:txBody>
          <a:bodyPr wrap="square" lIns="0" tIns="0" rIns="0" bIns="0" rtlCol="0" anchor="t"/>
          <a:lstStyle/>
          <a:p>
            <a:pPr indent="0" marL="0">
              <a:buNone/>
            </a:pPr>
            <a:r>
              <a:rPr lang="en-US" sz="1800" b="1" dirty="0">
                <a:solidFill>
                  <a:srgbClr val="14213D"/>
                </a:solidFill>
                <a:latin typeface="Cambria" pitchFamily="34" charset="0"/>
                <a:ea typeface="Cambria" pitchFamily="34" charset="-122"/>
                <a:cs typeface="Cambria" pitchFamily="34" charset="-120"/>
              </a:rPr>
              <a:t>Set up the simplest firm</a:t>
            </a:r>
            <a:endParaRPr lang="en-US" sz="1800" dirty="0"/>
          </a:p>
        </p:txBody>
      </p:sp>
      <p:sp>
        <p:nvSpPr>
          <p:cNvPr id="6" name="Text 3"/>
          <p:cNvSpPr txBox="1"/>
          <p:nvPr/>
        </p:nvSpPr>
        <p:spPr>
          <a:xfrm>
            <a:off x="6766560" y="1737360"/>
            <a:ext cx="493776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333"/>
                </a:solidFill>
                <a:latin typeface="Calibri" pitchFamily="34" charset="0"/>
                <a:ea typeface="Calibri" pitchFamily="34" charset="-122"/>
                <a:cs typeface="Calibri" pitchFamily="34" charset="-120"/>
              </a:rPr>
              <a:t>Financed by equity plus one zero-coupon bond of face value D, due at time T.</a:t>
            </a:r>
            <a:endParaRPr lang="en-US" sz="1400" dirty="0"/>
          </a:p>
          <a:p>
            <a:pPr marL="342900" indent="-342900">
              <a:spcAft>
                <a:spcPts val="600"/>
              </a:spcAft>
              <a:buSzPct val="100000"/>
              <a:buChar char="•"/>
            </a:pPr>
            <a:r>
              <a:rPr lang="en-US" sz="1400" dirty="0">
                <a:solidFill>
                  <a:srgbClr val="1B2333"/>
                </a:solidFill>
                <a:latin typeface="Calibri" pitchFamily="34" charset="0"/>
                <a:ea typeface="Calibri" pitchFamily="34" charset="-122"/>
                <a:cs typeface="Calibri" pitchFamily="34" charset="-120"/>
              </a:rPr>
              <a:t>If assets V_T &gt; D: debt is repaid in full; shareholders keep V_T − D.</a:t>
            </a:r>
            <a:endParaRPr lang="en-US" sz="1400" dirty="0"/>
          </a:p>
          <a:p>
            <a:pPr marL="342900" indent="-342900">
              <a:spcAft>
                <a:spcPts val="600"/>
              </a:spcAft>
              <a:buSzPct val="100000"/>
              <a:buChar char="•"/>
            </a:pPr>
            <a:r>
              <a:rPr lang="en-US" sz="1400" dirty="0">
                <a:solidFill>
                  <a:srgbClr val="1B2333"/>
                </a:solidFill>
                <a:latin typeface="Calibri" pitchFamily="34" charset="0"/>
                <a:ea typeface="Calibri" pitchFamily="34" charset="-122"/>
                <a:cs typeface="Calibri" pitchFamily="34" charset="-120"/>
              </a:rPr>
              <a:t>If V_T &lt; D: shareholders get nothing (limited liability); lenders take the assets.</a:t>
            </a:r>
            <a:endParaRPr lang="en-US" sz="1400" dirty="0"/>
          </a:p>
          <a:p>
            <a:pPr marL="342900" indent="-342900">
              <a:spcAft>
                <a:spcPts val="600"/>
              </a:spcAft>
              <a:buSzPct val="100000"/>
              <a:buChar char="•"/>
            </a:pPr>
            <a:r>
              <a:rPr lang="en-US" sz="1400" dirty="0">
                <a:solidFill>
                  <a:srgbClr val="1B2333"/>
                </a:solidFill>
                <a:latin typeface="Calibri" pitchFamily="34" charset="0"/>
                <a:ea typeface="Calibri" pitchFamily="34" charset="-122"/>
                <a:cs typeface="Calibri" pitchFamily="34" charset="-120"/>
              </a:rPr>
              <a:t>Shareholder payoff = max(V_T − D, 0) — exactly a call option on the assets, struck at D.</a:t>
            </a:r>
            <a:endParaRPr lang="en-US" sz="1400" dirty="0"/>
          </a:p>
        </p:txBody>
      </p:sp>
      <p:sp>
        <p:nvSpPr>
          <p:cNvPr id="7" name="Shape 4"/>
          <p:cNvSpPr/>
          <p:nvPr/>
        </p:nvSpPr>
        <p:spPr>
          <a:xfrm>
            <a:off x="6766560" y="4846320"/>
            <a:ext cx="4937760" cy="1417320"/>
          </a:xfrm>
          <a:prstGeom prst="roundRect">
            <a:avLst>
              <a:gd name="adj" fmla="val 5161"/>
            </a:avLst>
          </a:prstGeom>
          <a:solidFill>
            <a:srgbClr val="14213D"/>
          </a:solidFill>
          <a:ln w="12700">
            <a:solidFill>
              <a:srgbClr val="14213D"/>
            </a:solidFill>
            <a:prstDash val="solid"/>
          </a:ln>
        </p:spPr>
      </p:sp>
      <p:sp>
        <p:nvSpPr>
          <p:cNvPr id="8" name="Text 5"/>
          <p:cNvSpPr txBox="1"/>
          <p:nvPr/>
        </p:nvSpPr>
        <p:spPr>
          <a:xfrm>
            <a:off x="7040880" y="4983480"/>
            <a:ext cx="4480560" cy="118872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Default = the option expires worthless. Option-pricing maths can therefore be turned around to read default risk out of daily equity prices.</a:t>
            </a:r>
            <a:endParaRPr lang="en-US" sz="1350" dirty="0"/>
          </a:p>
        </p:txBody>
      </p:sp>
      <p:sp>
        <p:nvSpPr>
          <p:cNvPr id="9" name="Text 6"/>
          <p:cNvSpPr txBox="1"/>
          <p:nvPr/>
        </p:nvSpPr>
        <p:spPr>
          <a:xfrm>
            <a:off x="11521440" y="6510528"/>
            <a:ext cx="548640" cy="274320"/>
          </a:xfrm>
          <a:prstGeom prst="rect">
            <a:avLst/>
          </a:prstGeom>
          <a:noFill/>
          <a:ln/>
        </p:spPr>
        <p:txBody>
          <a:bodyPr wrap="square" lIns="0" tIns="0" rIns="0" bIns="0" rtlCol="0" anchor="t"/>
          <a:lstStyle/>
          <a:p>
            <a:pPr algn="r" indent="0" marL="0">
              <a:buNone/>
            </a:pPr>
            <a:r>
              <a:rPr lang="en-US" sz="1000" dirty="0">
                <a:solidFill>
                  <a:srgbClr val="B8BFCC"/>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320040"/>
          </a:xfrm>
          <a:prstGeom prst="rect">
            <a:avLst/>
          </a:prstGeom>
          <a:noFill/>
          <a:ln/>
        </p:spPr>
        <p:txBody>
          <a:bodyPr wrap="square" lIns="0" tIns="0" rIns="0" bIns="0" rtlCol="0" anchor="t"/>
          <a:lstStyle/>
          <a:p>
            <a:pPr indent="0" marL="0">
              <a:buNone/>
            </a:pPr>
            <a:r>
              <a:rPr lang="en-US" sz="1200" b="1" spc="200" kern="0" dirty="0">
                <a:solidFill>
                  <a:srgbClr val="1F8A7A"/>
                </a:solidFill>
                <a:latin typeface="Calibri" pitchFamily="34" charset="0"/>
                <a:ea typeface="Calibri" pitchFamily="34" charset="-122"/>
                <a:cs typeface="Calibri" pitchFamily="34" charset="-120"/>
              </a:rPr>
              <a:t>03 · THE MODEL — FOUNDATIONS</a:t>
            </a:r>
            <a:endParaRPr lang="en-US" sz="1200" dirty="0"/>
          </a:p>
        </p:txBody>
      </p:sp>
      <p:sp>
        <p:nvSpPr>
          <p:cNvPr id="3" name="Text 1"/>
          <p:cNvSpPr txBox="1"/>
          <p:nvPr/>
        </p:nvSpPr>
        <p:spPr>
          <a:xfrm>
            <a:off x="548640" y="457200"/>
            <a:ext cx="11064240" cy="731520"/>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Prerequisite: how asset value moves</a:t>
            </a:r>
            <a:endParaRPr lang="en-US" sz="2900" dirty="0"/>
          </a:p>
        </p:txBody>
      </p:sp>
      <p:sp>
        <p:nvSpPr>
          <p:cNvPr id="4" name="Text 2"/>
          <p:cNvSpPr txBox="1"/>
          <p:nvPr/>
        </p:nvSpPr>
        <p:spPr>
          <a:xfrm>
            <a:off x="548640" y="1188720"/>
            <a:ext cx="11064240" cy="731520"/>
          </a:xfrm>
          <a:prstGeom prst="rect">
            <a:avLst/>
          </a:prstGeom>
          <a:noFill/>
          <a:ln/>
        </p:spPr>
        <p:txBody>
          <a:bodyPr wrap="square" lIns="0" tIns="0" rIns="0" bIns="0" rtlCol="0" anchor="t"/>
          <a:lstStyle/>
          <a:p>
            <a:pPr indent="0" marL="0">
              <a:buNone/>
            </a:pPr>
            <a:r>
              <a:rPr lang="en-US" sz="1500" dirty="0">
                <a:solidFill>
                  <a:srgbClr val="1B2333"/>
                </a:solidFill>
                <a:latin typeface="Calibri" pitchFamily="34" charset="0"/>
                <a:ea typeface="Calibri" pitchFamily="34" charset="-122"/>
                <a:cs typeface="Calibri" pitchFamily="34" charset="-120"/>
              </a:rPr>
              <a:t>Asset value can't go negative and moves in percentage terms — so we model the log of V as normal (lognormal V), using geometric Brownian motion (GBM):</a:t>
            </a:r>
            <a:endParaRPr lang="en-US" sz="1500" dirty="0"/>
          </a:p>
        </p:txBody>
      </p:sp>
      <p:sp>
        <p:nvSpPr>
          <p:cNvPr id="5" name="Shape 3"/>
          <p:cNvSpPr/>
          <p:nvPr/>
        </p:nvSpPr>
        <p:spPr>
          <a:xfrm>
            <a:off x="548640" y="1965960"/>
            <a:ext cx="11064240" cy="868680"/>
          </a:xfrm>
          <a:prstGeom prst="roundRect">
            <a:avLst>
              <a:gd name="adj" fmla="val 8421"/>
            </a:avLst>
          </a:prstGeom>
          <a:solidFill>
            <a:srgbClr val="14213D"/>
          </a:solidFill>
          <a:ln w="12700">
            <a:solidFill>
              <a:srgbClr val="14213D"/>
            </a:solidFill>
            <a:prstDash val="solid"/>
          </a:ln>
        </p:spPr>
      </p:sp>
      <p:sp>
        <p:nvSpPr>
          <p:cNvPr id="6" name="Text 4"/>
          <p:cNvSpPr txBox="1"/>
          <p:nvPr/>
        </p:nvSpPr>
        <p:spPr>
          <a:xfrm>
            <a:off x="548640" y="1965960"/>
            <a:ext cx="11064240" cy="86868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dVₜ / Vₜ  =  μ dt  +  σ dWₜ</a:t>
            </a:r>
            <a:endParaRPr lang="en-US" sz="2800" dirty="0"/>
          </a:p>
        </p:txBody>
      </p:sp>
      <p:sp>
        <p:nvSpPr>
          <p:cNvPr id="7" name="Shape 5"/>
          <p:cNvSpPr/>
          <p:nvPr/>
        </p:nvSpPr>
        <p:spPr>
          <a:xfrm>
            <a:off x="548640" y="3017520"/>
            <a:ext cx="3520440" cy="1005840"/>
          </a:xfrm>
          <a:prstGeom prst="roundRect">
            <a:avLst>
              <a:gd name="adj" fmla="val 7273"/>
            </a:avLst>
          </a:prstGeom>
          <a:solidFill>
            <a:srgbClr val="EEF2F8"/>
          </a:solidFill>
          <a:ln w="12700">
            <a:solidFill>
              <a:srgbClr val="EEF2F8"/>
            </a:solidFill>
            <a:prstDash val="solid"/>
          </a:ln>
        </p:spPr>
      </p:sp>
      <p:sp>
        <p:nvSpPr>
          <p:cNvPr id="8" name="Text 6"/>
          <p:cNvSpPr txBox="1"/>
          <p:nvPr/>
        </p:nvSpPr>
        <p:spPr>
          <a:xfrm>
            <a:off x="731520" y="3127248"/>
            <a:ext cx="731520" cy="548640"/>
          </a:xfrm>
          <a:prstGeom prst="rect">
            <a:avLst/>
          </a:prstGeom>
          <a:noFill/>
          <a:ln/>
        </p:spPr>
        <p:txBody>
          <a:bodyPr wrap="square" lIns="0" tIns="0" rIns="0" bIns="0" rtlCol="0" anchor="t"/>
          <a:lstStyle/>
          <a:p>
            <a:pPr indent="0" marL="0">
              <a:buNone/>
            </a:pPr>
            <a:r>
              <a:rPr lang="en-US" sz="2200" b="1" dirty="0">
                <a:solidFill>
                  <a:srgbClr val="C0392B"/>
                </a:solidFill>
                <a:latin typeface="Cambria" pitchFamily="34" charset="0"/>
                <a:ea typeface="Cambria" pitchFamily="34" charset="-122"/>
                <a:cs typeface="Cambria" pitchFamily="34" charset="-120"/>
              </a:rPr>
              <a:t>μ</a:t>
            </a:r>
            <a:endParaRPr lang="en-US" sz="2200" dirty="0"/>
          </a:p>
        </p:txBody>
      </p:sp>
      <p:sp>
        <p:nvSpPr>
          <p:cNvPr id="9" name="Text 7"/>
          <p:cNvSpPr txBox="1"/>
          <p:nvPr/>
        </p:nvSpPr>
        <p:spPr>
          <a:xfrm>
            <a:off x="1463040" y="3182112"/>
            <a:ext cx="2468880" cy="731520"/>
          </a:xfrm>
          <a:prstGeom prst="rect">
            <a:avLst/>
          </a:prstGeom>
          <a:noFill/>
          <a:ln/>
        </p:spPr>
        <p:txBody>
          <a:bodyPr wrap="square" lIns="0" tIns="0" rIns="0" bIns="0" rtlCol="0" anchor="t"/>
          <a:lstStyle/>
          <a:p>
            <a:pPr indent="0" marL="0">
              <a:buNone/>
            </a:pPr>
            <a:r>
              <a:rPr lang="en-US" sz="1250" dirty="0">
                <a:solidFill>
                  <a:srgbClr val="1B2333"/>
                </a:solidFill>
                <a:latin typeface="Calibri" pitchFamily="34" charset="0"/>
                <a:ea typeface="Calibri" pitchFamily="34" charset="-122"/>
                <a:cs typeface="Calibri" pitchFamily="34" charset="-120"/>
              </a:rPr>
              <a:t>drift: average yearly % growth</a:t>
            </a:r>
            <a:endParaRPr lang="en-US" sz="1250" dirty="0"/>
          </a:p>
        </p:txBody>
      </p:sp>
      <p:sp>
        <p:nvSpPr>
          <p:cNvPr id="10" name="Shape 8"/>
          <p:cNvSpPr/>
          <p:nvPr/>
        </p:nvSpPr>
        <p:spPr>
          <a:xfrm>
            <a:off x="4297680" y="3017520"/>
            <a:ext cx="3520440" cy="1005840"/>
          </a:xfrm>
          <a:prstGeom prst="roundRect">
            <a:avLst>
              <a:gd name="adj" fmla="val 7273"/>
            </a:avLst>
          </a:prstGeom>
          <a:solidFill>
            <a:srgbClr val="EEF2F8"/>
          </a:solidFill>
          <a:ln w="12700">
            <a:solidFill>
              <a:srgbClr val="EEF2F8"/>
            </a:solidFill>
            <a:prstDash val="solid"/>
          </a:ln>
        </p:spPr>
      </p:sp>
      <p:sp>
        <p:nvSpPr>
          <p:cNvPr id="11" name="Text 9"/>
          <p:cNvSpPr txBox="1"/>
          <p:nvPr/>
        </p:nvSpPr>
        <p:spPr>
          <a:xfrm>
            <a:off x="4480560" y="3127248"/>
            <a:ext cx="731520" cy="548640"/>
          </a:xfrm>
          <a:prstGeom prst="rect">
            <a:avLst/>
          </a:prstGeom>
          <a:noFill/>
          <a:ln/>
        </p:spPr>
        <p:txBody>
          <a:bodyPr wrap="square" lIns="0" tIns="0" rIns="0" bIns="0" rtlCol="0" anchor="t"/>
          <a:lstStyle/>
          <a:p>
            <a:pPr indent="0" marL="0">
              <a:buNone/>
            </a:pPr>
            <a:r>
              <a:rPr lang="en-US" sz="2200" b="1" dirty="0">
                <a:solidFill>
                  <a:srgbClr val="C0392B"/>
                </a:solidFill>
                <a:latin typeface="Cambria" pitchFamily="34" charset="0"/>
                <a:ea typeface="Cambria" pitchFamily="34" charset="-122"/>
                <a:cs typeface="Cambria" pitchFamily="34" charset="-120"/>
              </a:rPr>
              <a:t>σ</a:t>
            </a:r>
            <a:endParaRPr lang="en-US" sz="2200" dirty="0"/>
          </a:p>
        </p:txBody>
      </p:sp>
      <p:sp>
        <p:nvSpPr>
          <p:cNvPr id="12" name="Text 10"/>
          <p:cNvSpPr txBox="1"/>
          <p:nvPr/>
        </p:nvSpPr>
        <p:spPr>
          <a:xfrm>
            <a:off x="5212080" y="3182112"/>
            <a:ext cx="2468880" cy="731520"/>
          </a:xfrm>
          <a:prstGeom prst="rect">
            <a:avLst/>
          </a:prstGeom>
          <a:noFill/>
          <a:ln/>
        </p:spPr>
        <p:txBody>
          <a:bodyPr wrap="square" lIns="0" tIns="0" rIns="0" bIns="0" rtlCol="0" anchor="t"/>
          <a:lstStyle/>
          <a:p>
            <a:pPr indent="0" marL="0">
              <a:buNone/>
            </a:pPr>
            <a:r>
              <a:rPr lang="en-US" sz="1250" dirty="0">
                <a:solidFill>
                  <a:srgbClr val="1B2333"/>
                </a:solidFill>
                <a:latin typeface="Calibri" pitchFamily="34" charset="0"/>
                <a:ea typeface="Calibri" pitchFamily="34" charset="-122"/>
                <a:cs typeface="Calibri" pitchFamily="34" charset="-120"/>
              </a:rPr>
              <a:t>volatility: st. dev. of yearly % growth</a:t>
            </a:r>
            <a:endParaRPr lang="en-US" sz="1250" dirty="0"/>
          </a:p>
        </p:txBody>
      </p:sp>
      <p:sp>
        <p:nvSpPr>
          <p:cNvPr id="13" name="Shape 11"/>
          <p:cNvSpPr/>
          <p:nvPr/>
        </p:nvSpPr>
        <p:spPr>
          <a:xfrm>
            <a:off x="8046720" y="3017520"/>
            <a:ext cx="3520440" cy="1005840"/>
          </a:xfrm>
          <a:prstGeom prst="roundRect">
            <a:avLst>
              <a:gd name="adj" fmla="val 7273"/>
            </a:avLst>
          </a:prstGeom>
          <a:solidFill>
            <a:srgbClr val="EEF2F8"/>
          </a:solidFill>
          <a:ln w="12700">
            <a:solidFill>
              <a:srgbClr val="EEF2F8"/>
            </a:solidFill>
            <a:prstDash val="solid"/>
          </a:ln>
        </p:spPr>
      </p:sp>
      <p:sp>
        <p:nvSpPr>
          <p:cNvPr id="14" name="Text 12"/>
          <p:cNvSpPr txBox="1"/>
          <p:nvPr/>
        </p:nvSpPr>
        <p:spPr>
          <a:xfrm>
            <a:off x="8229600" y="3127248"/>
            <a:ext cx="731520" cy="548640"/>
          </a:xfrm>
          <a:prstGeom prst="rect">
            <a:avLst/>
          </a:prstGeom>
          <a:noFill/>
          <a:ln/>
        </p:spPr>
        <p:txBody>
          <a:bodyPr wrap="square" lIns="0" tIns="0" rIns="0" bIns="0" rtlCol="0" anchor="t"/>
          <a:lstStyle/>
          <a:p>
            <a:pPr indent="0" marL="0">
              <a:buNone/>
            </a:pPr>
            <a:r>
              <a:rPr lang="en-US" sz="2200" b="1" dirty="0">
                <a:solidFill>
                  <a:srgbClr val="C0392B"/>
                </a:solidFill>
                <a:latin typeface="Cambria" pitchFamily="34" charset="0"/>
                <a:ea typeface="Cambria" pitchFamily="34" charset="-122"/>
                <a:cs typeface="Cambria" pitchFamily="34" charset="-120"/>
              </a:rPr>
              <a:t>dWₜ</a:t>
            </a:r>
            <a:endParaRPr lang="en-US" sz="2200" dirty="0"/>
          </a:p>
        </p:txBody>
      </p:sp>
      <p:sp>
        <p:nvSpPr>
          <p:cNvPr id="15" name="Text 13"/>
          <p:cNvSpPr txBox="1"/>
          <p:nvPr/>
        </p:nvSpPr>
        <p:spPr>
          <a:xfrm>
            <a:off x="8961120" y="3182112"/>
            <a:ext cx="2468880" cy="731520"/>
          </a:xfrm>
          <a:prstGeom prst="rect">
            <a:avLst/>
          </a:prstGeom>
          <a:noFill/>
          <a:ln/>
        </p:spPr>
        <p:txBody>
          <a:bodyPr wrap="square" lIns="0" tIns="0" rIns="0" bIns="0" rtlCol="0" anchor="t"/>
          <a:lstStyle/>
          <a:p>
            <a:pPr indent="0" marL="0">
              <a:buNone/>
            </a:pPr>
            <a:r>
              <a:rPr lang="en-US" sz="1250" dirty="0">
                <a:solidFill>
                  <a:srgbClr val="1B2333"/>
                </a:solidFill>
                <a:latin typeface="Calibri" pitchFamily="34" charset="0"/>
                <a:ea typeface="Calibri" pitchFamily="34" charset="-122"/>
                <a:cs typeface="Calibri" pitchFamily="34" charset="-120"/>
              </a:rPr>
              <a:t>random shock ~ N(0, dt), i.i.d.</a:t>
            </a:r>
            <a:endParaRPr lang="en-US" sz="1250" dirty="0"/>
          </a:p>
        </p:txBody>
      </p:sp>
      <p:sp>
        <p:nvSpPr>
          <p:cNvPr id="16" name="Text 14"/>
          <p:cNvSpPr txBox="1"/>
          <p:nvPr/>
        </p:nvSpPr>
        <p:spPr>
          <a:xfrm>
            <a:off x="548640" y="4251960"/>
            <a:ext cx="11064240" cy="36576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Solved forward, this gives:</a:t>
            </a:r>
            <a:endParaRPr lang="en-US" sz="1500" dirty="0"/>
          </a:p>
        </p:txBody>
      </p:sp>
      <p:sp>
        <p:nvSpPr>
          <p:cNvPr id="17" name="Shape 15"/>
          <p:cNvSpPr/>
          <p:nvPr/>
        </p:nvSpPr>
        <p:spPr>
          <a:xfrm>
            <a:off x="548640" y="4617720"/>
            <a:ext cx="11064240" cy="731520"/>
          </a:xfrm>
          <a:prstGeom prst="roundRect">
            <a:avLst>
              <a:gd name="adj" fmla="val 10000"/>
            </a:avLst>
          </a:prstGeom>
          <a:solidFill>
            <a:srgbClr val="EEF2F8"/>
          </a:solidFill>
          <a:ln w="12700">
            <a:solidFill>
              <a:srgbClr val="EEF2F8"/>
            </a:solidFill>
            <a:prstDash val="solid"/>
          </a:ln>
        </p:spPr>
      </p:sp>
      <p:sp>
        <p:nvSpPr>
          <p:cNvPr id="18" name="Text 16"/>
          <p:cNvSpPr txBox="1"/>
          <p:nvPr/>
        </p:nvSpPr>
        <p:spPr>
          <a:xfrm>
            <a:off x="548640" y="4617720"/>
            <a:ext cx="11064240" cy="731520"/>
          </a:xfrm>
          <a:prstGeom prst="rect">
            <a:avLst/>
          </a:prstGeom>
          <a:noFill/>
          <a:ln/>
        </p:spPr>
        <p:txBody>
          <a:bodyPr wrap="square" lIns="0" tIns="0" rIns="0" bIns="0" rtlCol="0" anchor="ctr"/>
          <a:lstStyle/>
          <a:p>
            <a:pPr algn="ctr" indent="0" marL="0">
              <a:buNone/>
            </a:pPr>
            <a:r>
              <a:rPr lang="en-US" sz="1900" b="1" dirty="0">
                <a:solidFill>
                  <a:srgbClr val="14213D"/>
                </a:solidFill>
                <a:latin typeface="Cambria" pitchFamily="34" charset="0"/>
                <a:ea typeface="Cambria" pitchFamily="34" charset="-122"/>
                <a:cs typeface="Cambria" pitchFamily="34" charset="-120"/>
              </a:rPr>
              <a:t>Vₜ = V₀ · exp[ (μ − σ²/2)·T + σ√T · Z ],   Z ~ N(0,1)</a:t>
            </a:r>
            <a:endParaRPr lang="en-US" sz="1900" dirty="0"/>
          </a:p>
        </p:txBody>
      </p:sp>
      <p:sp>
        <p:nvSpPr>
          <p:cNvPr id="19" name="Text 17"/>
          <p:cNvSpPr txBox="1"/>
          <p:nvPr/>
        </p:nvSpPr>
        <p:spPr>
          <a:xfrm>
            <a:off x="548640" y="5486400"/>
            <a:ext cx="11064240" cy="914400"/>
          </a:xfrm>
          <a:prstGeom prst="rect">
            <a:avLst/>
          </a:prstGeom>
          <a:noFill/>
          <a:ln/>
        </p:spPr>
        <p:txBody>
          <a:bodyPr wrap="square" lIns="0" tIns="0" rIns="0" bIns="0" rtlCol="0" anchor="t"/>
          <a:lstStyle/>
          <a:p>
            <a:pPr indent="0" marL="0">
              <a:buNone/>
            </a:pPr>
            <a:r>
              <a:rPr lang="en-US" sz="1350" i="1" dirty="0">
                <a:solidFill>
                  <a:srgbClr val="5B6577"/>
                </a:solidFill>
                <a:latin typeface="Calibri" pitchFamily="34" charset="0"/>
                <a:ea typeface="Calibri" pitchFamily="34" charset="-122"/>
                <a:cs typeface="Calibri" pitchFamily="34" charset="-120"/>
              </a:rPr>
              <a:t>ln(Vₜ) is normal — which is exactly the lognormal shape a positive, percentage-driven quantity should have.</a:t>
            </a:r>
            <a:endParaRPr lang="en-US" sz="1350" dirty="0"/>
          </a:p>
        </p:txBody>
      </p:sp>
      <p:sp>
        <p:nvSpPr>
          <p:cNvPr id="20" name="Text 18"/>
          <p:cNvSpPr txBox="1"/>
          <p:nvPr/>
        </p:nvSpPr>
        <p:spPr>
          <a:xfrm>
            <a:off x="11521440" y="6510528"/>
            <a:ext cx="548640" cy="274320"/>
          </a:xfrm>
          <a:prstGeom prst="rect">
            <a:avLst/>
          </a:prstGeom>
          <a:noFill/>
          <a:ln/>
        </p:spPr>
        <p:txBody>
          <a:bodyPr wrap="square" lIns="0" tIns="0" rIns="0" bIns="0" rtlCol="0" anchor="t"/>
          <a:lstStyle/>
          <a:p>
            <a:pPr algn="r" indent="0" marL="0">
              <a:buNone/>
            </a:pPr>
            <a:r>
              <a:rPr lang="en-US" sz="1000" dirty="0">
                <a:solidFill>
                  <a:srgbClr val="B8BFCC"/>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320040"/>
          </a:xfrm>
          <a:prstGeom prst="rect">
            <a:avLst/>
          </a:prstGeom>
          <a:noFill/>
          <a:ln/>
        </p:spPr>
        <p:txBody>
          <a:bodyPr wrap="square" lIns="0" tIns="0" rIns="0" bIns="0" rtlCol="0" anchor="t"/>
          <a:lstStyle/>
          <a:p>
            <a:pPr indent="0" marL="0">
              <a:buNone/>
            </a:pPr>
            <a:r>
              <a:rPr lang="en-US" sz="1200" b="1" spc="200" kern="0" dirty="0">
                <a:solidFill>
                  <a:srgbClr val="1F8A7A"/>
                </a:solidFill>
                <a:latin typeface="Calibri" pitchFamily="34" charset="0"/>
                <a:ea typeface="Calibri" pitchFamily="34" charset="-122"/>
                <a:cs typeface="Calibri" pitchFamily="34" charset="-120"/>
              </a:rPr>
              <a:t>03 · THE MODEL — FOUNDATIONS</a:t>
            </a:r>
            <a:endParaRPr lang="en-US" sz="1200" dirty="0"/>
          </a:p>
        </p:txBody>
      </p:sp>
      <p:sp>
        <p:nvSpPr>
          <p:cNvPr id="3" name="Text 1"/>
          <p:cNvSpPr txBox="1"/>
          <p:nvPr/>
        </p:nvSpPr>
        <p:spPr>
          <a:xfrm>
            <a:off x="548640" y="457200"/>
            <a:ext cx="11064240" cy="731520"/>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Why μ − σ²/2, and why it isn't CAGR</a:t>
            </a:r>
            <a:endParaRPr lang="en-US" sz="2900" dirty="0"/>
          </a:p>
        </p:txBody>
      </p:sp>
      <p:sp>
        <p:nvSpPr>
          <p:cNvPr id="4" name="Shape 2"/>
          <p:cNvSpPr/>
          <p:nvPr/>
        </p:nvSpPr>
        <p:spPr>
          <a:xfrm>
            <a:off x="548640" y="1280160"/>
            <a:ext cx="5303520" cy="4983480"/>
          </a:xfrm>
          <a:prstGeom prst="roundRect">
            <a:avLst>
              <a:gd name="adj" fmla="val 1468"/>
            </a:avLst>
          </a:prstGeom>
          <a:solidFill>
            <a:srgbClr val="EEF2F8"/>
          </a:solidFill>
          <a:ln w="12700">
            <a:solidFill>
              <a:srgbClr val="EEF2F8"/>
            </a:solidFill>
            <a:prstDash val="solid"/>
          </a:ln>
        </p:spPr>
      </p:sp>
      <p:sp>
        <p:nvSpPr>
          <p:cNvPr id="5" name="Text 3"/>
          <p:cNvSpPr txBox="1"/>
          <p:nvPr/>
        </p:nvSpPr>
        <p:spPr>
          <a:xfrm>
            <a:off x="868680" y="1508760"/>
            <a:ext cx="4663440" cy="365760"/>
          </a:xfrm>
          <a:prstGeom prst="rect">
            <a:avLst/>
          </a:prstGeom>
          <a:noFill/>
          <a:ln/>
        </p:spPr>
        <p:txBody>
          <a:bodyPr wrap="square" lIns="0" tIns="0" rIns="0" bIns="0" rtlCol="0" anchor="t"/>
          <a:lstStyle/>
          <a:p>
            <a:pPr indent="0" marL="0">
              <a:buNone/>
            </a:pPr>
            <a:r>
              <a:rPr lang="en-US" sz="1900" b="1" dirty="0">
                <a:solidFill>
                  <a:srgbClr val="14213D"/>
                </a:solidFill>
                <a:latin typeface="Cambria" pitchFamily="34" charset="0"/>
                <a:ea typeface="Cambria" pitchFamily="34" charset="-122"/>
                <a:cs typeface="Cambria" pitchFamily="34" charset="-120"/>
              </a:rPr>
              <a:t>Volatility drag</a:t>
            </a:r>
            <a:endParaRPr lang="en-US" sz="1900" dirty="0"/>
          </a:p>
        </p:txBody>
      </p:sp>
      <p:sp>
        <p:nvSpPr>
          <p:cNvPr id="6" name="Text 4"/>
          <p:cNvSpPr txBox="1"/>
          <p:nvPr/>
        </p:nvSpPr>
        <p:spPr>
          <a:xfrm>
            <a:off x="868680" y="1920240"/>
            <a:ext cx="4663440" cy="1371600"/>
          </a:xfrm>
          <a:prstGeom prst="rect">
            <a:avLst/>
          </a:prstGeom>
          <a:noFill/>
          <a:ln/>
        </p:spPr>
        <p:txBody>
          <a:bodyPr wrap="square" lIns="0" tIns="0" rIns="0" bIns="0" rtlCol="0" anchor="t"/>
          <a:lstStyle/>
          <a:p>
            <a:pPr indent="0" marL="0">
              <a:buNone/>
            </a:pPr>
            <a:r>
              <a:rPr lang="en-US" sz="1400" dirty="0">
                <a:solidFill>
                  <a:srgbClr val="1B2333"/>
                </a:solidFill>
                <a:latin typeface="Calibri" pitchFamily="34" charset="0"/>
                <a:ea typeface="Calibri" pitchFamily="34" charset="-122"/>
                <a:cs typeface="Calibri" pitchFamily="34" charset="-120"/>
              </a:rPr>
              <a:t>An asset worth 100 that rises 50% then falls 50% ends at 75, not 100. The arithmetic average return is 0%, but the outcome is a loss. Randomness costs compounding — the cost is about ½σ² per year.</a:t>
            </a:r>
            <a:endParaRPr lang="en-US" sz="1400" dirty="0"/>
          </a:p>
        </p:txBody>
      </p:sp>
      <p:sp>
        <p:nvSpPr>
          <p:cNvPr id="7" name="Text 5"/>
          <p:cNvSpPr txBox="1"/>
          <p:nvPr/>
        </p:nvSpPr>
        <p:spPr>
          <a:xfrm>
            <a:off x="868680" y="3337560"/>
            <a:ext cx="4663440" cy="73152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Mean of Vₜ grows at μ.</a:t>
            </a:r>
            <a:endParaRPr lang="en-US" sz="1400" dirty="0"/>
          </a:p>
          <a:p>
            <a:pPr indent="0" marL="0">
              <a:buNone/>
            </a:pPr>
            <a:r>
              <a:rPr lang="en-US" sz="1400" b="1" dirty="0">
                <a:solidFill>
                  <a:srgbClr val="14213D"/>
                </a:solidFill>
                <a:latin typeface="Calibri" pitchFamily="34" charset="0"/>
                <a:ea typeface="Calibri" pitchFamily="34" charset="-122"/>
                <a:cs typeface="Calibri" pitchFamily="34" charset="-120"/>
              </a:rPr>
              <a:t>Median (typical path) grows at μ − ½σ².</a:t>
            </a:r>
            <a:endParaRPr lang="en-US" sz="1400" dirty="0"/>
          </a:p>
        </p:txBody>
      </p:sp>
      <p:sp>
        <p:nvSpPr>
          <p:cNvPr id="8" name="Text 6"/>
          <p:cNvSpPr txBox="1"/>
          <p:nvPr/>
        </p:nvSpPr>
        <p:spPr>
          <a:xfrm>
            <a:off x="868680" y="4206240"/>
            <a:ext cx="4663440" cy="1828800"/>
          </a:xfrm>
          <a:prstGeom prst="rect">
            <a:avLst/>
          </a:prstGeom>
          <a:noFill/>
          <a:ln/>
        </p:spPr>
        <p:txBody>
          <a:bodyPr wrap="square" lIns="0" tIns="0" rIns="0" bIns="0" rtlCol="0" anchor="t"/>
          <a:lstStyle/>
          <a:p>
            <a:pPr indent="0" marL="0">
              <a:buNone/>
            </a:pPr>
            <a:r>
              <a:rPr lang="en-US" sz="1350" dirty="0">
                <a:solidFill>
                  <a:srgbClr val="1B2333"/>
                </a:solidFill>
                <a:latin typeface="Consolas" pitchFamily="34" charset="0"/>
                <a:ea typeface="Consolas" pitchFamily="34" charset="-122"/>
                <a:cs typeface="Consolas" pitchFamily="34" charset="-120"/>
              </a:rPr>
              <a:t>Worked check: V₀=120, μ=8%, σ=25%.</a:t>
            </a:r>
            <a:endParaRPr lang="en-US" sz="1350" dirty="0"/>
          </a:p>
          <a:p>
            <a:pPr indent="0" marL="0">
              <a:buNone/>
            </a:pPr>
            <a:r>
              <a:rPr lang="en-US" sz="1350" dirty="0">
                <a:solidFill>
                  <a:srgbClr val="1B2333"/>
                </a:solidFill>
                <a:latin typeface="Consolas" pitchFamily="34" charset="0"/>
                <a:ea typeface="Consolas" pitchFamily="34" charset="-122"/>
                <a:cs typeface="Consolas" pitchFamily="34" charset="-120"/>
              </a:rPr>
              <a:t>Mean end value = 120·e^0.08 = 130.0</a:t>
            </a:r>
            <a:endParaRPr lang="en-US" sz="1350" dirty="0"/>
          </a:p>
          <a:p>
            <a:pPr indent="0" marL="0">
              <a:buNone/>
            </a:pPr>
            <a:r>
              <a:rPr lang="en-US" sz="1350" dirty="0">
                <a:solidFill>
                  <a:srgbClr val="1B2333"/>
                </a:solidFill>
                <a:latin typeface="Consolas" pitchFamily="34" charset="0"/>
                <a:ea typeface="Consolas" pitchFamily="34" charset="-122"/>
                <a:cs typeface="Consolas" pitchFamily="34" charset="-120"/>
              </a:rPr>
              <a:t>Median end value = 120·e^(0.08−0.03125) = 126.0</a:t>
            </a:r>
            <a:endParaRPr lang="en-US" sz="1350" dirty="0"/>
          </a:p>
        </p:txBody>
      </p:sp>
      <p:sp>
        <p:nvSpPr>
          <p:cNvPr id="9" name="Shape 7"/>
          <p:cNvSpPr/>
          <p:nvPr/>
        </p:nvSpPr>
        <p:spPr>
          <a:xfrm>
            <a:off x="6126480" y="1280160"/>
            <a:ext cx="5486400" cy="4983480"/>
          </a:xfrm>
          <a:prstGeom prst="roundRect">
            <a:avLst>
              <a:gd name="adj" fmla="val 1468"/>
            </a:avLst>
          </a:prstGeom>
          <a:solidFill>
            <a:srgbClr val="FDEEEE"/>
          </a:solidFill>
          <a:ln w="12700">
            <a:solidFill>
              <a:srgbClr val="FDEEEE"/>
            </a:solidFill>
            <a:prstDash val="solid"/>
          </a:ln>
        </p:spPr>
      </p:sp>
      <p:sp>
        <p:nvSpPr>
          <p:cNvPr id="10" name="Text 8"/>
          <p:cNvSpPr txBox="1"/>
          <p:nvPr/>
        </p:nvSpPr>
        <p:spPr>
          <a:xfrm>
            <a:off x="6446520" y="1508760"/>
            <a:ext cx="4846320" cy="365760"/>
          </a:xfrm>
          <a:prstGeom prst="rect">
            <a:avLst/>
          </a:prstGeom>
          <a:noFill/>
          <a:ln/>
        </p:spPr>
        <p:txBody>
          <a:bodyPr wrap="square" lIns="0" tIns="0" rIns="0" bIns="0" rtlCol="0" anchor="t"/>
          <a:lstStyle/>
          <a:p>
            <a:pPr indent="0" marL="0">
              <a:buNone/>
            </a:pPr>
            <a:r>
              <a:rPr lang="en-US" sz="1900" b="1" dirty="0">
                <a:solidFill>
                  <a:srgbClr val="C0392B"/>
                </a:solidFill>
                <a:latin typeface="Cambria" pitchFamily="34" charset="0"/>
                <a:ea typeface="Cambria" pitchFamily="34" charset="-122"/>
                <a:cs typeface="Cambria" pitchFamily="34" charset="-120"/>
              </a:rPr>
              <a:t>Why CAGR is the wrong input</a:t>
            </a:r>
            <a:endParaRPr lang="en-US" sz="1900" dirty="0"/>
          </a:p>
        </p:txBody>
      </p:sp>
      <p:sp>
        <p:nvSpPr>
          <p:cNvPr id="11" name="Text 9"/>
          <p:cNvSpPr txBox="1"/>
          <p:nvPr/>
        </p:nvSpPr>
        <p:spPr>
          <a:xfrm>
            <a:off x="6446520" y="1920240"/>
            <a:ext cx="4846320" cy="2103120"/>
          </a:xfrm>
          <a:prstGeom prst="rect">
            <a:avLst/>
          </a:prstGeom>
          <a:noFill/>
          <a:ln/>
        </p:spPr>
        <p:txBody>
          <a:bodyPr wrap="square" lIns="0" tIns="0" rIns="0" bIns="0" rtlCol="0" anchor="t"/>
          <a:lstStyle/>
          <a:p>
            <a:pPr indent="0" marL="0">
              <a:buNone/>
            </a:pPr>
            <a:r>
              <a:rPr lang="en-US" sz="1400" dirty="0">
                <a:solidFill>
                  <a:srgbClr val="1B2333"/>
                </a:solidFill>
                <a:latin typeface="Calibri" pitchFamily="34" charset="0"/>
                <a:ea typeface="Calibri" pitchFamily="34" charset="-122"/>
                <a:cs typeface="Calibri" pitchFamily="34" charset="-120"/>
              </a:rPr>
              <a:t>CAGR is a geometric average: the constant rate that turns a start value into the realised end value. Over long samples, CAGR ≈ μ − ½σ² — it already has the drag baked in.</a:t>
            </a:r>
            <a:endParaRPr lang="en-US" sz="1400" dirty="0"/>
          </a:p>
        </p:txBody>
      </p:sp>
      <p:sp>
        <p:nvSpPr>
          <p:cNvPr id="12" name="Shape 10"/>
          <p:cNvSpPr/>
          <p:nvPr/>
        </p:nvSpPr>
        <p:spPr>
          <a:xfrm>
            <a:off x="6446520" y="4114800"/>
            <a:ext cx="4846320" cy="1965960"/>
          </a:xfrm>
          <a:prstGeom prst="roundRect">
            <a:avLst>
              <a:gd name="adj" fmla="val 3721"/>
            </a:avLst>
          </a:prstGeom>
          <a:solidFill>
            <a:srgbClr val="C0392B"/>
          </a:solidFill>
          <a:ln w="12700">
            <a:solidFill>
              <a:srgbClr val="C0392B"/>
            </a:solidFill>
            <a:prstDash val="solid"/>
          </a:ln>
        </p:spPr>
      </p:sp>
      <p:sp>
        <p:nvSpPr>
          <p:cNvPr id="13" name="Text 11"/>
          <p:cNvSpPr txBox="1"/>
          <p:nvPr/>
        </p:nvSpPr>
        <p:spPr>
          <a:xfrm>
            <a:off x="6675120" y="4251960"/>
            <a:ext cx="4389120" cy="17373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Put CAGR in place of μ, and the formula subtracts the drag twice: once when CAGR was measured, once again by −½σ². The input must be the arithmetic expected return μ.</a:t>
            </a:r>
            <a:endParaRPr lang="en-US" sz="1400" dirty="0"/>
          </a:p>
        </p:txBody>
      </p:sp>
      <p:sp>
        <p:nvSpPr>
          <p:cNvPr id="14" name="Text 12"/>
          <p:cNvSpPr txBox="1"/>
          <p:nvPr/>
        </p:nvSpPr>
        <p:spPr>
          <a:xfrm>
            <a:off x="11521440" y="6510528"/>
            <a:ext cx="548640" cy="274320"/>
          </a:xfrm>
          <a:prstGeom prst="rect">
            <a:avLst/>
          </a:prstGeom>
          <a:noFill/>
          <a:ln/>
        </p:spPr>
        <p:txBody>
          <a:bodyPr wrap="square" lIns="0" tIns="0" rIns="0" bIns="0" rtlCol="0" anchor="t"/>
          <a:lstStyle/>
          <a:p>
            <a:pPr algn="r" indent="0" marL="0">
              <a:buNone/>
            </a:pPr>
            <a:r>
              <a:rPr lang="en-US" sz="1000" dirty="0">
                <a:solidFill>
                  <a:srgbClr val="B8BFCC"/>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320040"/>
          </a:xfrm>
          <a:prstGeom prst="rect">
            <a:avLst/>
          </a:prstGeom>
          <a:noFill/>
          <a:ln/>
        </p:spPr>
        <p:txBody>
          <a:bodyPr wrap="square" lIns="0" tIns="0" rIns="0" bIns="0" rtlCol="0" anchor="t"/>
          <a:lstStyle/>
          <a:p>
            <a:pPr indent="0" marL="0">
              <a:buNone/>
            </a:pPr>
            <a:r>
              <a:rPr lang="en-US" sz="1200" b="1" spc="200" kern="0" dirty="0">
                <a:solidFill>
                  <a:srgbClr val="1F8A7A"/>
                </a:solidFill>
                <a:latin typeface="Calibri" pitchFamily="34" charset="0"/>
                <a:ea typeface="Calibri" pitchFamily="34" charset="-122"/>
                <a:cs typeface="Calibri" pitchFamily="34" charset="-120"/>
              </a:rPr>
              <a:t>03 · THE MODEL — CORE FORMULA</a:t>
            </a:r>
            <a:endParaRPr lang="en-US" sz="1200" dirty="0"/>
          </a:p>
        </p:txBody>
      </p:sp>
      <p:sp>
        <p:nvSpPr>
          <p:cNvPr id="3" name="Text 1"/>
          <p:cNvSpPr txBox="1"/>
          <p:nvPr/>
        </p:nvSpPr>
        <p:spPr>
          <a:xfrm>
            <a:off x="548640" y="457200"/>
            <a:ext cx="11064240" cy="731520"/>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Distance to default: a distance in σ units</a:t>
            </a:r>
            <a:endParaRPr lang="en-US" sz="2900" dirty="0"/>
          </a:p>
        </p:txBody>
      </p:sp>
      <p:sp>
        <p:nvSpPr>
          <p:cNvPr id="4" name="Shape 2"/>
          <p:cNvSpPr/>
          <p:nvPr/>
        </p:nvSpPr>
        <p:spPr>
          <a:xfrm>
            <a:off x="548640" y="1143000"/>
            <a:ext cx="11064240" cy="960120"/>
          </a:xfrm>
          <a:prstGeom prst="roundRect">
            <a:avLst>
              <a:gd name="adj" fmla="val 7619"/>
            </a:avLst>
          </a:prstGeom>
          <a:solidFill>
            <a:srgbClr val="14213D"/>
          </a:solidFill>
          <a:ln w="12700">
            <a:solidFill>
              <a:srgbClr val="14213D"/>
            </a:solidFill>
            <a:prstDash val="solid"/>
          </a:ln>
        </p:spPr>
      </p:sp>
      <p:sp>
        <p:nvSpPr>
          <p:cNvPr id="5" name="Text 3"/>
          <p:cNvSpPr txBox="1"/>
          <p:nvPr/>
        </p:nvSpPr>
        <p:spPr>
          <a:xfrm>
            <a:off x="548640" y="1143000"/>
            <a:ext cx="11064240" cy="960120"/>
          </a:xfrm>
          <a:prstGeom prst="rect">
            <a:avLst/>
          </a:prstGeom>
          <a:noFill/>
          <a:ln/>
        </p:spPr>
        <p:txBody>
          <a:bodyPr wrap="square" lIns="0" tIns="0" rIns="0" bIns="0" rtlCol="0" anchor="ctr"/>
          <a:lstStyle/>
          <a:p>
            <a:pPr algn="ctr" indent="0" marL="0">
              <a:buNone/>
            </a:pPr>
            <a:r>
              <a:rPr lang="en-US" sz="2500" b="1" dirty="0">
                <a:solidFill>
                  <a:srgbClr val="FFFFFF"/>
                </a:solidFill>
                <a:latin typeface="Cambria" pitchFamily="34" charset="0"/>
                <a:ea typeface="Cambria" pitchFamily="34" charset="-122"/>
                <a:cs typeface="Cambria" pitchFamily="34" charset="-120"/>
              </a:rPr>
              <a:t>DD  =  [ ln(V/D)  +  (μ − σ²/2)·T ]  /  (σ·√T)          PD = N(−DD)</a:t>
            </a:r>
            <a:endParaRPr lang="en-US" sz="2500" dirty="0"/>
          </a:p>
        </p:txBody>
      </p:sp>
      <p:sp>
        <p:nvSpPr>
          <p:cNvPr id="6" name="Shape 4"/>
          <p:cNvSpPr/>
          <p:nvPr/>
        </p:nvSpPr>
        <p:spPr>
          <a:xfrm>
            <a:off x="548640" y="2286000"/>
            <a:ext cx="2103120" cy="1463040"/>
          </a:xfrm>
          <a:prstGeom prst="roundRect">
            <a:avLst>
              <a:gd name="adj" fmla="val 5000"/>
            </a:avLst>
          </a:prstGeom>
          <a:solidFill>
            <a:srgbClr val="EEF2F8"/>
          </a:solidFill>
          <a:ln w="12700">
            <a:solidFill>
              <a:srgbClr val="EEF2F8"/>
            </a:solidFill>
            <a:prstDash val="solid"/>
          </a:ln>
        </p:spPr>
      </p:sp>
      <p:sp>
        <p:nvSpPr>
          <p:cNvPr id="7" name="Text 5"/>
          <p:cNvSpPr txBox="1"/>
          <p:nvPr/>
        </p:nvSpPr>
        <p:spPr>
          <a:xfrm>
            <a:off x="685800" y="2350008"/>
            <a:ext cx="822960" cy="457200"/>
          </a:xfrm>
          <a:prstGeom prst="rect">
            <a:avLst/>
          </a:prstGeom>
          <a:noFill/>
          <a:ln/>
        </p:spPr>
        <p:txBody>
          <a:bodyPr wrap="square" lIns="0" tIns="0" rIns="0" bIns="0" rtlCol="0" anchor="t"/>
          <a:lstStyle/>
          <a:p>
            <a:pPr indent="0" marL="0">
              <a:buNone/>
            </a:pPr>
            <a:r>
              <a:rPr lang="en-US" sz="2500" b="1" dirty="0">
                <a:solidFill>
                  <a:srgbClr val="C0392B"/>
                </a:solidFill>
                <a:latin typeface="Cambria" pitchFamily="34" charset="0"/>
                <a:ea typeface="Cambria" pitchFamily="34" charset="-122"/>
                <a:cs typeface="Cambria" pitchFamily="34" charset="-120"/>
              </a:rPr>
              <a:t>V</a:t>
            </a:r>
            <a:endParaRPr lang="en-US" sz="2500" dirty="0"/>
          </a:p>
        </p:txBody>
      </p:sp>
      <p:sp>
        <p:nvSpPr>
          <p:cNvPr id="8" name="Text 6"/>
          <p:cNvSpPr txBox="1"/>
          <p:nvPr/>
        </p:nvSpPr>
        <p:spPr>
          <a:xfrm>
            <a:off x="685800" y="2834640"/>
            <a:ext cx="1828800" cy="914400"/>
          </a:xfrm>
          <a:prstGeom prst="rect">
            <a:avLst/>
          </a:prstGeom>
          <a:noFill/>
          <a:ln/>
        </p:spPr>
        <p:txBody>
          <a:bodyPr wrap="square" lIns="0" tIns="0" rIns="0" bIns="0" rtlCol="0" anchor="t"/>
          <a:lstStyle/>
          <a:p>
            <a:pPr indent="0" marL="0">
              <a:buNone/>
            </a:pPr>
            <a:r>
              <a:rPr lang="en-US" sz="1150" dirty="0">
                <a:solidFill>
                  <a:srgbClr val="1B2333"/>
                </a:solidFill>
                <a:latin typeface="Calibri" pitchFamily="34" charset="0"/>
                <a:ea typeface="Calibri" pitchFamily="34" charset="-122"/>
                <a:cs typeface="Calibri" pitchFamily="34" charset="-120"/>
              </a:rPr>
              <a:t>asset value today (estimated, not observed)</a:t>
            </a:r>
            <a:endParaRPr lang="en-US" sz="1150" dirty="0"/>
          </a:p>
        </p:txBody>
      </p:sp>
      <p:sp>
        <p:nvSpPr>
          <p:cNvPr id="9" name="Shape 7"/>
          <p:cNvSpPr/>
          <p:nvPr/>
        </p:nvSpPr>
        <p:spPr>
          <a:xfrm>
            <a:off x="2788920" y="2286000"/>
            <a:ext cx="2103120" cy="1463040"/>
          </a:xfrm>
          <a:prstGeom prst="roundRect">
            <a:avLst>
              <a:gd name="adj" fmla="val 5000"/>
            </a:avLst>
          </a:prstGeom>
          <a:solidFill>
            <a:srgbClr val="EEF2F8"/>
          </a:solidFill>
          <a:ln w="12700">
            <a:solidFill>
              <a:srgbClr val="EEF2F8"/>
            </a:solidFill>
            <a:prstDash val="solid"/>
          </a:ln>
        </p:spPr>
      </p:sp>
      <p:sp>
        <p:nvSpPr>
          <p:cNvPr id="10" name="Text 8"/>
          <p:cNvSpPr txBox="1"/>
          <p:nvPr/>
        </p:nvSpPr>
        <p:spPr>
          <a:xfrm>
            <a:off x="2926080" y="2350008"/>
            <a:ext cx="822960" cy="457200"/>
          </a:xfrm>
          <a:prstGeom prst="rect">
            <a:avLst/>
          </a:prstGeom>
          <a:noFill/>
          <a:ln/>
        </p:spPr>
        <p:txBody>
          <a:bodyPr wrap="square" lIns="0" tIns="0" rIns="0" bIns="0" rtlCol="0" anchor="t"/>
          <a:lstStyle/>
          <a:p>
            <a:pPr indent="0" marL="0">
              <a:buNone/>
            </a:pPr>
            <a:r>
              <a:rPr lang="en-US" sz="2500" b="1" dirty="0">
                <a:solidFill>
                  <a:srgbClr val="C0392B"/>
                </a:solidFill>
                <a:latin typeface="Cambria" pitchFamily="34" charset="0"/>
                <a:ea typeface="Cambria" pitchFamily="34" charset="-122"/>
                <a:cs typeface="Cambria" pitchFamily="34" charset="-120"/>
              </a:rPr>
              <a:t>D</a:t>
            </a:r>
            <a:endParaRPr lang="en-US" sz="2500" dirty="0"/>
          </a:p>
        </p:txBody>
      </p:sp>
      <p:sp>
        <p:nvSpPr>
          <p:cNvPr id="11" name="Text 9"/>
          <p:cNvSpPr txBox="1"/>
          <p:nvPr/>
        </p:nvSpPr>
        <p:spPr>
          <a:xfrm>
            <a:off x="2926080" y="2834640"/>
            <a:ext cx="1828800" cy="914400"/>
          </a:xfrm>
          <a:prstGeom prst="rect">
            <a:avLst/>
          </a:prstGeom>
          <a:noFill/>
          <a:ln/>
        </p:spPr>
        <p:txBody>
          <a:bodyPr wrap="square" lIns="0" tIns="0" rIns="0" bIns="0" rtlCol="0" anchor="t"/>
          <a:lstStyle/>
          <a:p>
            <a:pPr indent="0" marL="0">
              <a:buNone/>
            </a:pPr>
            <a:r>
              <a:rPr lang="en-US" sz="1150" dirty="0">
                <a:solidFill>
                  <a:srgbClr val="1B2333"/>
                </a:solidFill>
                <a:latin typeface="Calibri" pitchFamily="34" charset="0"/>
                <a:ea typeface="Calibri" pitchFamily="34" charset="-122"/>
                <a:cs typeface="Calibri" pitchFamily="34" charset="-120"/>
              </a:rPr>
              <a:t>default point: debt the assets must cover</a:t>
            </a:r>
            <a:endParaRPr lang="en-US" sz="1150" dirty="0"/>
          </a:p>
        </p:txBody>
      </p:sp>
      <p:sp>
        <p:nvSpPr>
          <p:cNvPr id="12" name="Shape 10"/>
          <p:cNvSpPr/>
          <p:nvPr/>
        </p:nvSpPr>
        <p:spPr>
          <a:xfrm>
            <a:off x="5029200" y="2286000"/>
            <a:ext cx="2103120" cy="1463040"/>
          </a:xfrm>
          <a:prstGeom prst="roundRect">
            <a:avLst>
              <a:gd name="adj" fmla="val 5000"/>
            </a:avLst>
          </a:prstGeom>
          <a:solidFill>
            <a:srgbClr val="EEF2F8"/>
          </a:solidFill>
          <a:ln w="12700">
            <a:solidFill>
              <a:srgbClr val="EEF2F8"/>
            </a:solidFill>
            <a:prstDash val="solid"/>
          </a:ln>
        </p:spPr>
      </p:sp>
      <p:sp>
        <p:nvSpPr>
          <p:cNvPr id="13" name="Text 11"/>
          <p:cNvSpPr txBox="1"/>
          <p:nvPr/>
        </p:nvSpPr>
        <p:spPr>
          <a:xfrm>
            <a:off x="5166360" y="2350008"/>
            <a:ext cx="822960" cy="457200"/>
          </a:xfrm>
          <a:prstGeom prst="rect">
            <a:avLst/>
          </a:prstGeom>
          <a:noFill/>
          <a:ln/>
        </p:spPr>
        <p:txBody>
          <a:bodyPr wrap="square" lIns="0" tIns="0" rIns="0" bIns="0" rtlCol="0" anchor="t"/>
          <a:lstStyle/>
          <a:p>
            <a:pPr indent="0" marL="0">
              <a:buNone/>
            </a:pPr>
            <a:r>
              <a:rPr lang="en-US" sz="2500" b="1" dirty="0">
                <a:solidFill>
                  <a:srgbClr val="C0392B"/>
                </a:solidFill>
                <a:latin typeface="Cambria" pitchFamily="34" charset="0"/>
                <a:ea typeface="Cambria" pitchFamily="34" charset="-122"/>
                <a:cs typeface="Cambria" pitchFamily="34" charset="-120"/>
              </a:rPr>
              <a:t>μ</a:t>
            </a:r>
            <a:endParaRPr lang="en-US" sz="2500" dirty="0"/>
          </a:p>
        </p:txBody>
      </p:sp>
      <p:sp>
        <p:nvSpPr>
          <p:cNvPr id="14" name="Text 12"/>
          <p:cNvSpPr txBox="1"/>
          <p:nvPr/>
        </p:nvSpPr>
        <p:spPr>
          <a:xfrm>
            <a:off x="5166360" y="2834640"/>
            <a:ext cx="1828800" cy="914400"/>
          </a:xfrm>
          <a:prstGeom prst="rect">
            <a:avLst/>
          </a:prstGeom>
          <a:noFill/>
          <a:ln/>
        </p:spPr>
        <p:txBody>
          <a:bodyPr wrap="square" lIns="0" tIns="0" rIns="0" bIns="0" rtlCol="0" anchor="t"/>
          <a:lstStyle/>
          <a:p>
            <a:pPr indent="0" marL="0">
              <a:buNone/>
            </a:pPr>
            <a:r>
              <a:rPr lang="en-US" sz="1150" dirty="0">
                <a:solidFill>
                  <a:srgbClr val="1B2333"/>
                </a:solidFill>
                <a:latin typeface="Calibri" pitchFamily="34" charset="0"/>
                <a:ea typeface="Calibri" pitchFamily="34" charset="-122"/>
                <a:cs typeface="Calibri" pitchFamily="34" charset="-120"/>
              </a:rPr>
              <a:t>expected asset drift (arithmetic mean)</a:t>
            </a:r>
            <a:endParaRPr lang="en-US" sz="1150" dirty="0"/>
          </a:p>
        </p:txBody>
      </p:sp>
      <p:sp>
        <p:nvSpPr>
          <p:cNvPr id="15" name="Shape 13"/>
          <p:cNvSpPr/>
          <p:nvPr/>
        </p:nvSpPr>
        <p:spPr>
          <a:xfrm>
            <a:off x="7269480" y="2286000"/>
            <a:ext cx="2103120" cy="1463040"/>
          </a:xfrm>
          <a:prstGeom prst="roundRect">
            <a:avLst>
              <a:gd name="adj" fmla="val 5000"/>
            </a:avLst>
          </a:prstGeom>
          <a:solidFill>
            <a:srgbClr val="EEF2F8"/>
          </a:solidFill>
          <a:ln w="12700">
            <a:solidFill>
              <a:srgbClr val="EEF2F8"/>
            </a:solidFill>
            <a:prstDash val="solid"/>
          </a:ln>
        </p:spPr>
      </p:sp>
      <p:sp>
        <p:nvSpPr>
          <p:cNvPr id="16" name="Text 14"/>
          <p:cNvSpPr txBox="1"/>
          <p:nvPr/>
        </p:nvSpPr>
        <p:spPr>
          <a:xfrm>
            <a:off x="7406640" y="2350008"/>
            <a:ext cx="822960" cy="457200"/>
          </a:xfrm>
          <a:prstGeom prst="rect">
            <a:avLst/>
          </a:prstGeom>
          <a:noFill/>
          <a:ln/>
        </p:spPr>
        <p:txBody>
          <a:bodyPr wrap="square" lIns="0" tIns="0" rIns="0" bIns="0" rtlCol="0" anchor="t"/>
          <a:lstStyle/>
          <a:p>
            <a:pPr indent="0" marL="0">
              <a:buNone/>
            </a:pPr>
            <a:r>
              <a:rPr lang="en-US" sz="2500" b="1" dirty="0">
                <a:solidFill>
                  <a:srgbClr val="C0392B"/>
                </a:solidFill>
                <a:latin typeface="Cambria" pitchFamily="34" charset="0"/>
                <a:ea typeface="Cambria" pitchFamily="34" charset="-122"/>
                <a:cs typeface="Cambria" pitchFamily="34" charset="-120"/>
              </a:rPr>
              <a:t>σ</a:t>
            </a:r>
            <a:endParaRPr lang="en-US" sz="2500" dirty="0"/>
          </a:p>
        </p:txBody>
      </p:sp>
      <p:sp>
        <p:nvSpPr>
          <p:cNvPr id="17" name="Text 15"/>
          <p:cNvSpPr txBox="1"/>
          <p:nvPr/>
        </p:nvSpPr>
        <p:spPr>
          <a:xfrm>
            <a:off x="7406640" y="2834640"/>
            <a:ext cx="1828800" cy="914400"/>
          </a:xfrm>
          <a:prstGeom prst="rect">
            <a:avLst/>
          </a:prstGeom>
          <a:noFill/>
          <a:ln/>
        </p:spPr>
        <p:txBody>
          <a:bodyPr wrap="square" lIns="0" tIns="0" rIns="0" bIns="0" rtlCol="0" anchor="t"/>
          <a:lstStyle/>
          <a:p>
            <a:pPr indent="0" marL="0">
              <a:buNone/>
            </a:pPr>
            <a:r>
              <a:rPr lang="en-US" sz="1150" dirty="0">
                <a:solidFill>
                  <a:srgbClr val="1B2333"/>
                </a:solidFill>
                <a:latin typeface="Calibri" pitchFamily="34" charset="0"/>
                <a:ea typeface="Calibri" pitchFamily="34" charset="-122"/>
                <a:cs typeface="Calibri" pitchFamily="34" charset="-120"/>
              </a:rPr>
              <a:t>asset volatility</a:t>
            </a:r>
            <a:endParaRPr lang="en-US" sz="1150" dirty="0"/>
          </a:p>
        </p:txBody>
      </p:sp>
      <p:sp>
        <p:nvSpPr>
          <p:cNvPr id="18" name="Shape 16"/>
          <p:cNvSpPr/>
          <p:nvPr/>
        </p:nvSpPr>
        <p:spPr>
          <a:xfrm>
            <a:off x="9509760" y="2286000"/>
            <a:ext cx="2103120" cy="1463040"/>
          </a:xfrm>
          <a:prstGeom prst="roundRect">
            <a:avLst>
              <a:gd name="adj" fmla="val 5000"/>
            </a:avLst>
          </a:prstGeom>
          <a:solidFill>
            <a:srgbClr val="EEF2F8"/>
          </a:solidFill>
          <a:ln w="12700">
            <a:solidFill>
              <a:srgbClr val="EEF2F8"/>
            </a:solidFill>
            <a:prstDash val="solid"/>
          </a:ln>
        </p:spPr>
      </p:sp>
      <p:sp>
        <p:nvSpPr>
          <p:cNvPr id="19" name="Text 17"/>
          <p:cNvSpPr txBox="1"/>
          <p:nvPr/>
        </p:nvSpPr>
        <p:spPr>
          <a:xfrm>
            <a:off x="9646920" y="2350008"/>
            <a:ext cx="822960" cy="457200"/>
          </a:xfrm>
          <a:prstGeom prst="rect">
            <a:avLst/>
          </a:prstGeom>
          <a:noFill/>
          <a:ln/>
        </p:spPr>
        <p:txBody>
          <a:bodyPr wrap="square" lIns="0" tIns="0" rIns="0" bIns="0" rtlCol="0" anchor="t"/>
          <a:lstStyle/>
          <a:p>
            <a:pPr indent="0" marL="0">
              <a:buNone/>
            </a:pPr>
            <a:r>
              <a:rPr lang="en-US" sz="2500" b="1" dirty="0">
                <a:solidFill>
                  <a:srgbClr val="C0392B"/>
                </a:solidFill>
                <a:latin typeface="Cambria" pitchFamily="34" charset="0"/>
                <a:ea typeface="Cambria" pitchFamily="34" charset="-122"/>
                <a:cs typeface="Cambria" pitchFamily="34" charset="-120"/>
              </a:rPr>
              <a:t>T</a:t>
            </a:r>
            <a:endParaRPr lang="en-US" sz="2500" dirty="0"/>
          </a:p>
        </p:txBody>
      </p:sp>
      <p:sp>
        <p:nvSpPr>
          <p:cNvPr id="20" name="Text 18"/>
          <p:cNvSpPr txBox="1"/>
          <p:nvPr/>
        </p:nvSpPr>
        <p:spPr>
          <a:xfrm>
            <a:off x="9646920" y="2834640"/>
            <a:ext cx="1828800" cy="914400"/>
          </a:xfrm>
          <a:prstGeom prst="rect">
            <a:avLst/>
          </a:prstGeom>
          <a:noFill/>
          <a:ln/>
        </p:spPr>
        <p:txBody>
          <a:bodyPr wrap="square" lIns="0" tIns="0" rIns="0" bIns="0" rtlCol="0" anchor="t"/>
          <a:lstStyle/>
          <a:p>
            <a:pPr indent="0" marL="0">
              <a:buNone/>
            </a:pPr>
            <a:r>
              <a:rPr lang="en-US" sz="1150" dirty="0">
                <a:solidFill>
                  <a:srgbClr val="1B2333"/>
                </a:solidFill>
                <a:latin typeface="Calibri" pitchFamily="34" charset="0"/>
                <a:ea typeface="Calibri" pitchFamily="34" charset="-122"/>
                <a:cs typeface="Calibri" pitchFamily="34" charset="-120"/>
              </a:rPr>
              <a:t>horizon in years</a:t>
            </a:r>
            <a:endParaRPr lang="en-US" sz="1150" dirty="0"/>
          </a:p>
        </p:txBody>
      </p:sp>
      <p:sp>
        <p:nvSpPr>
          <p:cNvPr id="21" name="Text 19"/>
          <p:cNvSpPr txBox="1"/>
          <p:nvPr/>
        </p:nvSpPr>
        <p:spPr>
          <a:xfrm>
            <a:off x="548640" y="3977640"/>
            <a:ext cx="5394960" cy="32004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What it computes</a:t>
            </a:r>
            <a:endParaRPr lang="en-US" sz="1700" dirty="0"/>
          </a:p>
        </p:txBody>
      </p:sp>
      <p:sp>
        <p:nvSpPr>
          <p:cNvPr id="22" name="Text 20"/>
          <p:cNvSpPr txBox="1"/>
          <p:nvPr/>
        </p:nvSpPr>
        <p:spPr>
          <a:xfrm>
            <a:off x="548640" y="4343400"/>
            <a:ext cx="5394960" cy="1737360"/>
          </a:xfrm>
          <a:prstGeom prst="rect">
            <a:avLst/>
          </a:prstGeom>
          <a:noFill/>
          <a:ln/>
        </p:spPr>
        <p:txBody>
          <a:bodyPr wrap="square" lIns="0" tIns="0" rIns="0" bIns="0" rtlCol="0" anchor="t"/>
          <a:lstStyle/>
          <a:p>
            <a:pPr indent="0" marL="0">
              <a:buNone/>
            </a:pPr>
            <a:r>
              <a:rPr lang="en-US" sz="1350" dirty="0">
                <a:solidFill>
                  <a:srgbClr val="1B2333"/>
                </a:solidFill>
                <a:latin typeface="Calibri" pitchFamily="34" charset="0"/>
                <a:ea typeface="Calibri" pitchFamily="34" charset="-122"/>
                <a:cs typeface="Calibri" pitchFamily="34" charset="-120"/>
              </a:rPr>
              <a:t>How many standard deviations separate the expected asset value from the default point. Numerator = today's log-cushion plus expected drift. Denominator = the size of one σ of uncertainty over the horizon.</a:t>
            </a:r>
            <a:endParaRPr lang="en-US" sz="1350" dirty="0"/>
          </a:p>
        </p:txBody>
      </p:sp>
      <p:sp>
        <p:nvSpPr>
          <p:cNvPr id="23" name="Text 21"/>
          <p:cNvSpPr txBox="1"/>
          <p:nvPr/>
        </p:nvSpPr>
        <p:spPr>
          <a:xfrm>
            <a:off x="6309360" y="3977640"/>
            <a:ext cx="5303520" cy="32004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Worked example</a:t>
            </a:r>
            <a:endParaRPr lang="en-US" sz="1700" dirty="0"/>
          </a:p>
        </p:txBody>
      </p:sp>
      <p:sp>
        <p:nvSpPr>
          <p:cNvPr id="24" name="Text 22"/>
          <p:cNvSpPr txBox="1"/>
          <p:nvPr/>
        </p:nvSpPr>
        <p:spPr>
          <a:xfrm>
            <a:off x="6309360" y="4343400"/>
            <a:ext cx="5303520" cy="1737360"/>
          </a:xfrm>
          <a:prstGeom prst="rect">
            <a:avLst/>
          </a:prstGeom>
          <a:noFill/>
          <a:ln/>
        </p:spPr>
        <p:txBody>
          <a:bodyPr wrap="square" lIns="0" tIns="0" rIns="0" bIns="0" rtlCol="0" anchor="t"/>
          <a:lstStyle/>
          <a:p>
            <a:pPr indent="0" marL="0">
              <a:buNone/>
            </a:pPr>
            <a:r>
              <a:rPr lang="en-US" sz="1350" dirty="0">
                <a:solidFill>
                  <a:srgbClr val="1B2333"/>
                </a:solidFill>
                <a:latin typeface="Consolas" pitchFamily="34" charset="0"/>
                <a:ea typeface="Consolas" pitchFamily="34" charset="-122"/>
                <a:cs typeface="Consolas" pitchFamily="34" charset="-120"/>
              </a:rPr>
              <a:t>V=120, D=100, μ=8%, σ=25%, T=1:</a:t>
            </a:r>
            <a:endParaRPr lang="en-US" sz="1350" dirty="0"/>
          </a:p>
          <a:p>
            <a:pPr indent="0" marL="0">
              <a:buNone/>
            </a:pPr>
            <a:r>
              <a:rPr lang="en-US" sz="1350" dirty="0">
                <a:solidFill>
                  <a:srgbClr val="1B2333"/>
                </a:solidFill>
                <a:latin typeface="Consolas" pitchFamily="34" charset="0"/>
                <a:ea typeface="Consolas" pitchFamily="34" charset="-122"/>
                <a:cs typeface="Consolas" pitchFamily="34" charset="-120"/>
              </a:rPr>
              <a:t>DD = [ln1.2 + (0.08−0.03125)] / 0.25 = 0.924</a:t>
            </a:r>
            <a:endParaRPr lang="en-US" sz="1350" dirty="0"/>
          </a:p>
          <a:p>
            <a:pPr indent="0" marL="0">
              <a:buNone/>
            </a:pPr>
            <a:r>
              <a:rPr lang="en-US" sz="1350" dirty="0">
                <a:solidFill>
                  <a:srgbClr val="1B2333"/>
                </a:solidFill>
                <a:latin typeface="Consolas" pitchFamily="34" charset="0"/>
                <a:ea typeface="Consolas" pitchFamily="34" charset="-122"/>
                <a:cs typeface="Consolas" pitchFamily="34" charset="-120"/>
              </a:rPr>
              <a:t>PD = N(−0.924) = 17.8%</a:t>
            </a:r>
            <a:endParaRPr lang="en-US" sz="1350" dirty="0"/>
          </a:p>
        </p:txBody>
      </p:sp>
      <p:sp>
        <p:nvSpPr>
          <p:cNvPr id="25" name="Text 23"/>
          <p:cNvSpPr txBox="1"/>
          <p:nvPr/>
        </p:nvSpPr>
        <p:spPr>
          <a:xfrm>
            <a:off x="548640" y="6172200"/>
            <a:ext cx="11064240" cy="457200"/>
          </a:xfrm>
          <a:prstGeom prst="rect">
            <a:avLst/>
          </a:prstGeom>
          <a:noFill/>
          <a:ln/>
        </p:spPr>
        <p:txBody>
          <a:bodyPr wrap="square" lIns="0" tIns="0" rIns="0" bIns="0" rtlCol="0" anchor="t"/>
          <a:lstStyle/>
          <a:p>
            <a:pPr indent="0" marL="0">
              <a:buNone/>
            </a:pPr>
            <a:r>
              <a:rPr lang="en-US" sz="1300" i="1" dirty="0">
                <a:solidFill>
                  <a:srgbClr val="5B6577"/>
                </a:solidFill>
                <a:latin typeface="Calibri" pitchFamily="34" charset="0"/>
                <a:ea typeface="Calibri" pitchFamily="34" charset="-122"/>
                <a:cs typeface="Calibri" pitchFamily="34" charset="-120"/>
              </a:rPr>
              <a:t>Larger DD = safer. DD near 0 means the expected outcome sits right at the default point.</a:t>
            </a:r>
            <a:endParaRPr lang="en-US" sz="1300" dirty="0"/>
          </a:p>
        </p:txBody>
      </p:sp>
      <p:sp>
        <p:nvSpPr>
          <p:cNvPr id="26" name="Text 24"/>
          <p:cNvSpPr txBox="1"/>
          <p:nvPr/>
        </p:nvSpPr>
        <p:spPr>
          <a:xfrm>
            <a:off x="11521440" y="6510528"/>
            <a:ext cx="548640" cy="274320"/>
          </a:xfrm>
          <a:prstGeom prst="rect">
            <a:avLst/>
          </a:prstGeom>
          <a:noFill/>
          <a:ln/>
        </p:spPr>
        <p:txBody>
          <a:bodyPr wrap="square" lIns="0" tIns="0" rIns="0" bIns="0" rtlCol="0" anchor="t"/>
          <a:lstStyle/>
          <a:p>
            <a:pPr algn="r" indent="0" marL="0">
              <a:buNone/>
            </a:pPr>
            <a:r>
              <a:rPr lang="en-US" sz="1000" dirty="0">
                <a:solidFill>
                  <a:srgbClr val="B8BFCC"/>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320040"/>
          </a:xfrm>
          <a:prstGeom prst="rect">
            <a:avLst/>
          </a:prstGeom>
          <a:noFill/>
          <a:ln/>
        </p:spPr>
        <p:txBody>
          <a:bodyPr wrap="square" lIns="0" tIns="0" rIns="0" bIns="0" rtlCol="0" anchor="t"/>
          <a:lstStyle/>
          <a:p>
            <a:pPr indent="0" marL="0">
              <a:buNone/>
            </a:pPr>
            <a:r>
              <a:rPr lang="en-US" sz="1200" b="1" spc="200" kern="0" dirty="0">
                <a:solidFill>
                  <a:srgbClr val="1F8A7A"/>
                </a:solidFill>
                <a:latin typeface="Calibri" pitchFamily="34" charset="0"/>
                <a:ea typeface="Calibri" pitchFamily="34" charset="-122"/>
                <a:cs typeface="Calibri" pitchFamily="34" charset="-120"/>
              </a:rPr>
              <a:t>03 · THE MODEL — TWO WORLDS</a:t>
            </a:r>
            <a:endParaRPr lang="en-US" sz="1200" dirty="0"/>
          </a:p>
        </p:txBody>
      </p:sp>
      <p:sp>
        <p:nvSpPr>
          <p:cNvPr id="3" name="Text 1"/>
          <p:cNvSpPr txBox="1"/>
          <p:nvPr/>
        </p:nvSpPr>
        <p:spPr>
          <a:xfrm>
            <a:off x="548640" y="457200"/>
            <a:ext cx="11064240" cy="731520"/>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Two probabilities from the same model</a:t>
            </a:r>
            <a:endParaRPr lang="en-US" sz="2900" dirty="0"/>
          </a:p>
        </p:txBody>
      </p:sp>
      <p:pic>
        <p:nvPicPr>
          <p:cNvPr id="4" name="Image 0" descr="figs/physical_vs_rn.png">    </p:cNvPr>
          <p:cNvPicPr>
            <a:picLocks noChangeAspect="1"/>
          </p:cNvPicPr>
          <p:nvPr/>
        </p:nvPicPr>
        <p:blipFill>
          <a:blip r:embed="rId1"/>
          <a:stretch>
            <a:fillRect/>
          </a:stretch>
        </p:blipFill>
        <p:spPr>
          <a:xfrm>
            <a:off x="457200" y="1280160"/>
            <a:ext cx="6035040" cy="3521027"/>
          </a:xfrm>
          <a:prstGeom prst="rect">
            <a:avLst/>
          </a:prstGeom>
        </p:spPr>
      </p:pic>
      <p:sp>
        <p:nvSpPr>
          <p:cNvPr id="5" name="Text 2"/>
          <p:cNvSpPr txBox="1"/>
          <p:nvPr/>
        </p:nvSpPr>
        <p:spPr>
          <a:xfrm>
            <a:off x="6766560" y="1280160"/>
            <a:ext cx="4937760" cy="365760"/>
          </a:xfrm>
          <a:prstGeom prst="rect">
            <a:avLst/>
          </a:prstGeom>
          <a:noFill/>
          <a:ln/>
        </p:spPr>
        <p:txBody>
          <a:bodyPr wrap="square" lIns="0" tIns="0" rIns="0" bIns="0" rtlCol="0" anchor="t"/>
          <a:lstStyle/>
          <a:p>
            <a:pPr indent="0" marL="0">
              <a:buNone/>
            </a:pPr>
            <a:r>
              <a:rPr lang="en-US" sz="1800" b="1" dirty="0">
                <a:solidFill>
                  <a:srgbClr val="14213D"/>
                </a:solidFill>
                <a:latin typeface="Cambria" pitchFamily="34" charset="0"/>
                <a:ea typeface="Cambria" pitchFamily="34" charset="-122"/>
                <a:cs typeface="Cambria" pitchFamily="34" charset="-120"/>
              </a:rPr>
              <a:t>Risk-neutral ≠ real world</a:t>
            </a:r>
            <a:endParaRPr lang="en-US" sz="1800" dirty="0"/>
          </a:p>
        </p:txBody>
      </p:sp>
      <p:sp>
        <p:nvSpPr>
          <p:cNvPr id="6" name="Text 3"/>
          <p:cNvSpPr txBox="1"/>
          <p:nvPr/>
        </p:nvSpPr>
        <p:spPr>
          <a:xfrm>
            <a:off x="6766560" y="1737360"/>
            <a:ext cx="4937760" cy="3291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333"/>
                </a:solidFill>
                <a:latin typeface="Calibri" pitchFamily="34" charset="0"/>
                <a:ea typeface="Calibri" pitchFamily="34" charset="-122"/>
                <a:cs typeface="Calibri" pitchFamily="34" charset="-120"/>
              </a:rPr>
              <a:t>Risk-neutral pricing values options via no-arbitrage: as if all assets grew at the risk-free rate r. It gives the right price, not a forecast.</a:t>
            </a:r>
            <a:endParaRPr lang="en-US" sz="1400" dirty="0"/>
          </a:p>
          <a:p>
            <a:pPr marL="342900" indent="-342900">
              <a:spcAft>
                <a:spcPts val="600"/>
              </a:spcAft>
              <a:buSzPct val="100000"/>
              <a:buChar char="•"/>
            </a:pPr>
            <a:r>
              <a:rPr lang="en-US" sz="1400" dirty="0">
                <a:solidFill>
                  <a:srgbClr val="1B2333"/>
                </a:solidFill>
                <a:latin typeface="Calibri" pitchFamily="34" charset="0"/>
                <a:ea typeface="Calibri" pitchFamily="34" charset="-122"/>
                <a:cs typeface="Calibri" pitchFamily="34" charset="-120"/>
              </a:rPr>
              <a:t>PD_physical = N(−DD), using real drift μ.</a:t>
            </a:r>
            <a:endParaRPr lang="en-US" sz="1400" dirty="0"/>
          </a:p>
          <a:p>
            <a:pPr marL="342900" indent="-342900">
              <a:spcAft>
                <a:spcPts val="600"/>
              </a:spcAft>
              <a:buSzPct val="100000"/>
              <a:buChar char="•"/>
            </a:pPr>
            <a:r>
              <a:rPr lang="en-US" sz="1400" dirty="0">
                <a:solidFill>
                  <a:srgbClr val="1B2333"/>
                </a:solidFill>
                <a:latin typeface="Calibri" pitchFamily="34" charset="0"/>
                <a:ea typeface="Calibri" pitchFamily="34" charset="-122"/>
                <a:cs typeface="Calibri" pitchFamily="34" charset="-120"/>
              </a:rPr>
              <a:t>PD_risk-neutral = N(−d₂), same formula with μ replaced by r.</a:t>
            </a:r>
            <a:endParaRPr lang="en-US" sz="1400" dirty="0"/>
          </a:p>
          <a:p>
            <a:pPr marL="342900" indent="-342900">
              <a:spcAft>
                <a:spcPts val="600"/>
              </a:spcAft>
              <a:buSzPct val="100000"/>
              <a:buChar char="•"/>
            </a:pPr>
            <a:r>
              <a:rPr lang="en-US" sz="1400" dirty="0">
                <a:solidFill>
                  <a:srgbClr val="1B2333"/>
                </a:solidFill>
                <a:latin typeface="Calibri" pitchFamily="34" charset="0"/>
                <a:ea typeface="Calibri" pitchFamily="34" charset="-122"/>
                <a:cs typeface="Calibri" pitchFamily="34" charset="-120"/>
              </a:rPr>
              <a:t>Since μ &gt; r (investors demand a risk premium), PD_physical &lt; PD_risk-neutral.</a:t>
            </a:r>
            <a:endParaRPr lang="en-US" sz="1400" dirty="0"/>
          </a:p>
        </p:txBody>
      </p:sp>
      <p:sp>
        <p:nvSpPr>
          <p:cNvPr id="7" name="Shape 4"/>
          <p:cNvSpPr/>
          <p:nvPr/>
        </p:nvSpPr>
        <p:spPr>
          <a:xfrm>
            <a:off x="6766560" y="5029200"/>
            <a:ext cx="4937760" cy="1234440"/>
          </a:xfrm>
          <a:prstGeom prst="roundRect">
            <a:avLst>
              <a:gd name="adj" fmla="val 5926"/>
            </a:avLst>
          </a:prstGeom>
          <a:solidFill>
            <a:srgbClr val="EEF2F8"/>
          </a:solidFill>
          <a:ln w="12700">
            <a:solidFill>
              <a:srgbClr val="EEF2F8"/>
            </a:solidFill>
            <a:prstDash val="solid"/>
          </a:ln>
        </p:spPr>
      </p:sp>
      <p:sp>
        <p:nvSpPr>
          <p:cNvPr id="8" name="Text 5"/>
          <p:cNvSpPr txBox="1"/>
          <p:nvPr/>
        </p:nvSpPr>
        <p:spPr>
          <a:xfrm>
            <a:off x="7040880" y="5166360"/>
            <a:ext cx="4480560" cy="1005840"/>
          </a:xfrm>
          <a:prstGeom prst="rect">
            <a:avLst/>
          </a:prstGeom>
          <a:noFill/>
          <a:ln/>
        </p:spPr>
        <p:txBody>
          <a:bodyPr wrap="square" lIns="0" tIns="0" rIns="0" bIns="0" rtlCol="0" anchor="t"/>
          <a:lstStyle/>
          <a:p>
            <a:pPr indent="0" marL="0">
              <a:buNone/>
            </a:pPr>
            <a:r>
              <a:rPr lang="en-US" sz="1250" dirty="0">
                <a:solidFill>
                  <a:srgbClr val="1B2333"/>
                </a:solidFill>
                <a:latin typeface="Calibri" pitchFamily="34" charset="0"/>
                <a:ea typeface="Calibri" pitchFamily="34" charset="-122"/>
                <a:cs typeface="Calibri" pitchFamily="34" charset="-120"/>
              </a:rPr>
              <a:t>Worked example: d₂ = 0.844 → risk-neutral PD = 19.9%, vs. physical PD = 17.8%. Use risk-neutral for pricing bonds; physical for judging how likely default actually is.</a:t>
            </a:r>
            <a:endParaRPr lang="en-US" sz="1250" dirty="0"/>
          </a:p>
        </p:txBody>
      </p:sp>
      <p:sp>
        <p:nvSpPr>
          <p:cNvPr id="9" name="Text 6"/>
          <p:cNvSpPr txBox="1"/>
          <p:nvPr/>
        </p:nvSpPr>
        <p:spPr>
          <a:xfrm>
            <a:off x="11521440" y="6510528"/>
            <a:ext cx="548640" cy="274320"/>
          </a:xfrm>
          <a:prstGeom prst="rect">
            <a:avLst/>
          </a:prstGeom>
          <a:noFill/>
          <a:ln/>
        </p:spPr>
        <p:txBody>
          <a:bodyPr wrap="square" lIns="0" tIns="0" rIns="0" bIns="0" rtlCol="0" anchor="t"/>
          <a:lstStyle/>
          <a:p>
            <a:pPr algn="r" indent="0" marL="0">
              <a:buNone/>
            </a:pPr>
            <a:r>
              <a:rPr lang="en-US" sz="1000" dirty="0">
                <a:solidFill>
                  <a:srgbClr val="B8BFCC"/>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320040"/>
          </a:xfrm>
          <a:prstGeom prst="rect">
            <a:avLst/>
          </a:prstGeom>
          <a:noFill/>
          <a:ln/>
        </p:spPr>
        <p:txBody>
          <a:bodyPr wrap="square" lIns="0" tIns="0" rIns="0" bIns="0" rtlCol="0" anchor="t"/>
          <a:lstStyle/>
          <a:p>
            <a:pPr indent="0" marL="0">
              <a:buNone/>
            </a:pPr>
            <a:r>
              <a:rPr lang="en-US" sz="1200" b="1" spc="200" kern="0" dirty="0">
                <a:solidFill>
                  <a:srgbClr val="1F8A7A"/>
                </a:solidFill>
                <a:latin typeface="Calibri" pitchFamily="34" charset="0"/>
                <a:ea typeface="Calibri" pitchFamily="34" charset="-122"/>
                <a:cs typeface="Calibri" pitchFamily="34" charset="-120"/>
              </a:rPr>
              <a:t>03 · THE MODEL — FROM THEORY TO DATA</a:t>
            </a:r>
            <a:endParaRPr lang="en-US" sz="1200" dirty="0"/>
          </a:p>
        </p:txBody>
      </p:sp>
      <p:sp>
        <p:nvSpPr>
          <p:cNvPr id="3" name="Text 1"/>
          <p:cNvSpPr txBox="1"/>
          <p:nvPr/>
        </p:nvSpPr>
        <p:spPr>
          <a:xfrm>
            <a:off x="548640" y="457200"/>
            <a:ext cx="11064240" cy="731520"/>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Making it usable: V and σ aren't observable</a:t>
            </a:r>
            <a:endParaRPr lang="en-US" sz="2900" dirty="0"/>
          </a:p>
        </p:txBody>
      </p:sp>
      <p:pic>
        <p:nvPicPr>
          <p:cNvPr id="4" name="Image 0" descr="figs/kmv_solve.png">    </p:cNvPr>
          <p:cNvPicPr>
            <a:picLocks noChangeAspect="1"/>
          </p:cNvPicPr>
          <p:nvPr/>
        </p:nvPicPr>
        <p:blipFill>
          <a:blip r:embed="rId1"/>
          <a:stretch>
            <a:fillRect/>
          </a:stretch>
        </p:blipFill>
        <p:spPr>
          <a:xfrm>
            <a:off x="548640" y="1371600"/>
            <a:ext cx="7315200" cy="4336869"/>
          </a:xfrm>
          <a:prstGeom prst="rect">
            <a:avLst/>
          </a:prstGeom>
        </p:spPr>
      </p:pic>
      <p:sp>
        <p:nvSpPr>
          <p:cNvPr id="5" name="Shape 2"/>
          <p:cNvSpPr/>
          <p:nvPr/>
        </p:nvSpPr>
        <p:spPr>
          <a:xfrm>
            <a:off x="8138160" y="1371600"/>
            <a:ext cx="3566160" cy="4846320"/>
          </a:xfrm>
          <a:prstGeom prst="roundRect">
            <a:avLst>
              <a:gd name="adj" fmla="val 2051"/>
            </a:avLst>
          </a:prstGeom>
          <a:solidFill>
            <a:srgbClr val="14213D"/>
          </a:solidFill>
          <a:ln w="12700">
            <a:solidFill>
              <a:srgbClr val="14213D"/>
            </a:solidFill>
            <a:prstDash val="solid"/>
          </a:ln>
        </p:spPr>
      </p:sp>
      <p:sp>
        <p:nvSpPr>
          <p:cNvPr id="6" name="Text 3"/>
          <p:cNvSpPr txBox="1"/>
          <p:nvPr/>
        </p:nvSpPr>
        <p:spPr>
          <a:xfrm>
            <a:off x="8412480" y="1554480"/>
            <a:ext cx="3017520" cy="640080"/>
          </a:xfrm>
          <a:prstGeom prst="rect">
            <a:avLst/>
          </a:prstGeom>
          <a:noFill/>
          <a:ln/>
        </p:spPr>
        <p:txBody>
          <a:bodyPr wrap="square" lIns="0" tIns="0" rIns="0" bIns="0" rtlCol="0" anchor="t"/>
          <a:lstStyle/>
          <a:p>
            <a:pPr indent="0" marL="0">
              <a:buNone/>
            </a:pPr>
            <a:r>
              <a:rPr lang="en-US" sz="1700" b="1" dirty="0">
                <a:solidFill>
                  <a:srgbClr val="F3C97A"/>
                </a:solidFill>
                <a:latin typeface="Cambria" pitchFamily="34" charset="0"/>
                <a:ea typeface="Cambria" pitchFamily="34" charset="-122"/>
                <a:cs typeface="Cambria" pitchFamily="34" charset="-120"/>
              </a:rPr>
              <a:t>Only equity trades</a:t>
            </a:r>
            <a:endParaRPr lang="en-US" sz="1700" dirty="0"/>
          </a:p>
        </p:txBody>
      </p:sp>
      <p:sp>
        <p:nvSpPr>
          <p:cNvPr id="7" name="Text 4"/>
          <p:cNvSpPr txBox="1"/>
          <p:nvPr/>
        </p:nvSpPr>
        <p:spPr>
          <a:xfrm>
            <a:off x="8412480" y="2148840"/>
            <a:ext cx="3017520" cy="38404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Two equations, two unknowns:</a:t>
            </a:r>
            <a:endParaRPr lang="en-US" sz="1300" dirty="0"/>
          </a:p>
          <a:p>
            <a:pPr indent="0" marL="0">
              <a:buNone/>
            </a:pP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E = V·N(d₁) − D·e^(−rT)·N(d₂)</a:t>
            </a:r>
            <a:endParaRPr lang="en-US" sz="1300" dirty="0"/>
          </a:p>
          <a:p>
            <a:pPr indent="0" marL="0">
              <a:buNone/>
            </a:pP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σ_E·E = N(d₁)·σ_V·V</a:t>
            </a:r>
            <a:endParaRPr lang="en-US" sz="1300" dirty="0"/>
          </a:p>
          <a:p>
            <a:pPr indent="0" marL="0">
              <a:buNone/>
            </a:pP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Given observed E, σ_E and balance-sheet D, solve numerically for V and σ_V. This is exactly what yes_bank_dd.py does for every trading day.</a:t>
            </a:r>
            <a:endParaRPr lang="en-US" sz="1300" dirty="0"/>
          </a:p>
        </p:txBody>
      </p:sp>
      <p:sp>
        <p:nvSpPr>
          <p:cNvPr id="8" name="Text 5"/>
          <p:cNvSpPr txBox="1"/>
          <p:nvPr/>
        </p:nvSpPr>
        <p:spPr>
          <a:xfrm>
            <a:off x="11521440" y="6510528"/>
            <a:ext cx="548640" cy="274320"/>
          </a:xfrm>
          <a:prstGeom prst="rect">
            <a:avLst/>
          </a:prstGeom>
          <a:noFill/>
          <a:ln/>
        </p:spPr>
        <p:txBody>
          <a:bodyPr wrap="square" lIns="0" tIns="0" rIns="0" bIns="0" rtlCol="0" anchor="t"/>
          <a:lstStyle/>
          <a:p>
            <a:pPr algn="r" indent="0" marL="0">
              <a:buNone/>
            </a:pPr>
            <a:r>
              <a:rPr lang="en-US" sz="1000" dirty="0">
                <a:solidFill>
                  <a:srgbClr val="B8BFCC"/>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320040"/>
          </a:xfrm>
          <a:prstGeom prst="rect">
            <a:avLst/>
          </a:prstGeom>
          <a:noFill/>
          <a:ln/>
        </p:spPr>
        <p:txBody>
          <a:bodyPr wrap="square" lIns="0" tIns="0" rIns="0" bIns="0" rtlCol="0" anchor="t"/>
          <a:lstStyle/>
          <a:p>
            <a:pPr indent="0" marL="0">
              <a:buNone/>
            </a:pPr>
            <a:r>
              <a:rPr lang="en-US" sz="1200" b="1" spc="200" kern="0" dirty="0">
                <a:solidFill>
                  <a:srgbClr val="1F8A7A"/>
                </a:solidFill>
                <a:latin typeface="Calibri" pitchFamily="34" charset="0"/>
                <a:ea typeface="Calibri" pitchFamily="34" charset="-122"/>
                <a:cs typeface="Calibri" pitchFamily="34" charset="-120"/>
              </a:rPr>
              <a:t>03 · THE MODEL — FROM THEORY TO INDUSTRY</a:t>
            </a:r>
            <a:endParaRPr lang="en-US" sz="1200" dirty="0"/>
          </a:p>
        </p:txBody>
      </p:sp>
      <p:sp>
        <p:nvSpPr>
          <p:cNvPr id="3" name="Text 1"/>
          <p:cNvSpPr txBox="1"/>
          <p:nvPr/>
        </p:nvSpPr>
        <p:spPr>
          <a:xfrm>
            <a:off x="548640" y="457200"/>
            <a:ext cx="11064240" cy="731520"/>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KMV's practical refinements</a:t>
            </a:r>
            <a:endParaRPr lang="en-US" sz="2900" dirty="0"/>
          </a:p>
        </p:txBody>
      </p:sp>
      <p:sp>
        <p:nvSpPr>
          <p:cNvPr id="4" name="Shape 2"/>
          <p:cNvSpPr/>
          <p:nvPr/>
        </p:nvSpPr>
        <p:spPr>
          <a:xfrm>
            <a:off x="548640" y="1371600"/>
            <a:ext cx="5394960" cy="4663440"/>
          </a:xfrm>
          <a:prstGeom prst="roundRect">
            <a:avLst>
              <a:gd name="adj" fmla="val 1569"/>
            </a:avLst>
          </a:prstGeom>
          <a:solidFill>
            <a:srgbClr val="EEF2F8"/>
          </a:solidFill>
          <a:ln w="12700">
            <a:solidFill>
              <a:srgbClr val="EEF2F8"/>
            </a:solidFill>
            <a:prstDash val="solid"/>
          </a:ln>
        </p:spPr>
      </p:sp>
      <p:sp>
        <p:nvSpPr>
          <p:cNvPr id="5" name="Text 3"/>
          <p:cNvSpPr txBox="1"/>
          <p:nvPr/>
        </p:nvSpPr>
        <p:spPr>
          <a:xfrm>
            <a:off x="868680" y="1600200"/>
            <a:ext cx="4754880" cy="457200"/>
          </a:xfrm>
          <a:prstGeom prst="rect">
            <a:avLst/>
          </a:prstGeom>
          <a:noFill/>
          <a:ln/>
        </p:spPr>
        <p:txBody>
          <a:bodyPr wrap="square" lIns="0" tIns="0" rIns="0" bIns="0" rtlCol="0" anchor="t"/>
          <a:lstStyle/>
          <a:p>
            <a:pPr indent="0" marL="0">
              <a:buNone/>
            </a:pPr>
            <a:r>
              <a:rPr lang="en-US" sz="1800" b="1" dirty="0">
                <a:solidFill>
                  <a:srgbClr val="14213D"/>
                </a:solidFill>
                <a:latin typeface="Cambria" pitchFamily="34" charset="0"/>
                <a:ea typeface="Cambria" pitchFamily="34" charset="-122"/>
                <a:cs typeface="Cambria" pitchFamily="34" charset="-120"/>
              </a:rPr>
              <a:t>1. The default-point convention</a:t>
            </a:r>
            <a:endParaRPr lang="en-US" sz="1800" dirty="0"/>
          </a:p>
        </p:txBody>
      </p:sp>
      <p:sp>
        <p:nvSpPr>
          <p:cNvPr id="6" name="Text 4"/>
          <p:cNvSpPr txBox="1"/>
          <p:nvPr/>
        </p:nvSpPr>
        <p:spPr>
          <a:xfrm>
            <a:off x="868680" y="2148840"/>
            <a:ext cx="4754880" cy="3657600"/>
          </a:xfrm>
          <a:prstGeom prst="rect">
            <a:avLst/>
          </a:prstGeom>
          <a:noFill/>
          <a:ln/>
        </p:spPr>
        <p:txBody>
          <a:bodyPr wrap="square" lIns="0" tIns="0" rIns="0" bIns="0" rtlCol="0" anchor="t"/>
          <a:lstStyle/>
          <a:p>
            <a:pPr indent="0" marL="0">
              <a:buNone/>
            </a:pPr>
            <a:r>
              <a:rPr lang="en-US" sz="1400" dirty="0">
                <a:solidFill>
                  <a:srgbClr val="1B2333"/>
                </a:solidFill>
                <a:latin typeface="Calibri" pitchFamily="34" charset="0"/>
                <a:ea typeface="Calibri" pitchFamily="34" charset="-122"/>
                <a:cs typeface="Calibri" pitchFamily="34" charset="-120"/>
              </a:rPr>
              <a:t>Real firms rarely default the moment assets dip below total liabilities — they often keep operating while long-dated debt isn't yet due.</a:t>
            </a:r>
            <a:endParaRPr lang="en-US" sz="1400" dirty="0"/>
          </a:p>
          <a:p>
            <a:pPr indent="0" marL="0">
              <a:buNone/>
            </a:pPr>
            <a:endParaRPr lang="en-US" sz="1400" dirty="0"/>
          </a:p>
          <a:p>
            <a:pPr indent="0" marL="0">
              <a:buNone/>
            </a:pPr>
            <a:r>
              <a:rPr lang="en-US" sz="1400" dirty="0">
                <a:solidFill>
                  <a:srgbClr val="1B2333"/>
                </a:solidFill>
                <a:latin typeface="Calibri" pitchFamily="34" charset="0"/>
                <a:ea typeface="Calibri" pitchFamily="34" charset="-122"/>
                <a:cs typeface="Calibri" pitchFamily="34" charset="-120"/>
              </a:rPr>
              <a:t>KMV convention:</a:t>
            </a:r>
            <a:endParaRPr lang="en-US" sz="1400" dirty="0"/>
          </a:p>
          <a:p>
            <a:pPr indent="0" marL="0">
              <a:buNone/>
            </a:pPr>
            <a:r>
              <a:rPr lang="en-US" sz="1400" dirty="0">
                <a:solidFill>
                  <a:srgbClr val="1B2333"/>
                </a:solidFill>
                <a:latin typeface="Calibri" pitchFamily="34" charset="0"/>
                <a:ea typeface="Calibri" pitchFamily="34" charset="-122"/>
                <a:cs typeface="Calibri" pitchFamily="34" charset="-120"/>
              </a:rPr>
              <a:t>D = short-term debt + ½ × long-term debt</a:t>
            </a:r>
            <a:endParaRPr lang="en-US" sz="1400" dirty="0"/>
          </a:p>
          <a:p>
            <a:pPr indent="0" marL="0">
              <a:buNone/>
            </a:pPr>
            <a:r>
              <a:rPr lang="en-US" sz="1400" dirty="0">
                <a:solidFill>
                  <a:srgbClr val="1B2333"/>
                </a:solidFill>
                <a:latin typeface="Calibri" pitchFamily="34" charset="0"/>
                <a:ea typeface="Calibri" pitchFamily="34" charset="-122"/>
                <a:cs typeface="Calibri" pitchFamily="34" charset="-120"/>
              </a:rPr>
              <a:t>(for a one-year horizon)</a:t>
            </a:r>
            <a:endParaRPr lang="en-US" sz="1400" dirty="0"/>
          </a:p>
          <a:p>
            <a:pPr indent="0" marL="0">
              <a:buNone/>
            </a:pPr>
            <a:endParaRPr lang="en-US" sz="1400" dirty="0"/>
          </a:p>
          <a:p>
            <a:pPr indent="0" marL="0">
              <a:buNone/>
            </a:pPr>
            <a:r>
              <a:rPr lang="en-US" sz="1400" dirty="0">
                <a:solidFill>
                  <a:srgbClr val="1B2333"/>
                </a:solidFill>
                <a:latin typeface="Calibri" pitchFamily="34" charset="0"/>
                <a:ea typeface="Calibri" pitchFamily="34" charset="-122"/>
                <a:cs typeface="Calibri" pitchFamily="34" charset="-120"/>
              </a:rPr>
              <a:t>This is an empirical convention, not a theorem.</a:t>
            </a:r>
            <a:endParaRPr lang="en-US" sz="1400" dirty="0"/>
          </a:p>
        </p:txBody>
      </p:sp>
      <p:sp>
        <p:nvSpPr>
          <p:cNvPr id="7" name="Shape 5"/>
          <p:cNvSpPr/>
          <p:nvPr/>
        </p:nvSpPr>
        <p:spPr>
          <a:xfrm>
            <a:off x="6126480" y="1371600"/>
            <a:ext cx="5303520" cy="4663440"/>
          </a:xfrm>
          <a:prstGeom prst="roundRect">
            <a:avLst>
              <a:gd name="adj" fmla="val 1569"/>
            </a:avLst>
          </a:prstGeom>
          <a:solidFill>
            <a:srgbClr val="EEF2F8"/>
          </a:solidFill>
          <a:ln w="12700">
            <a:solidFill>
              <a:srgbClr val="EEF2F8"/>
            </a:solidFill>
            <a:prstDash val="solid"/>
          </a:ln>
        </p:spPr>
      </p:sp>
      <p:sp>
        <p:nvSpPr>
          <p:cNvPr id="8" name="Text 6"/>
          <p:cNvSpPr txBox="1"/>
          <p:nvPr/>
        </p:nvSpPr>
        <p:spPr>
          <a:xfrm>
            <a:off x="6446520" y="1600200"/>
            <a:ext cx="4663440" cy="457200"/>
          </a:xfrm>
          <a:prstGeom prst="rect">
            <a:avLst/>
          </a:prstGeom>
          <a:noFill/>
          <a:ln/>
        </p:spPr>
        <p:txBody>
          <a:bodyPr wrap="square" lIns="0" tIns="0" rIns="0" bIns="0" rtlCol="0" anchor="t"/>
          <a:lstStyle/>
          <a:p>
            <a:pPr indent="0" marL="0">
              <a:buNone/>
            </a:pPr>
            <a:r>
              <a:rPr lang="en-US" sz="1800" b="1" dirty="0">
                <a:solidFill>
                  <a:srgbClr val="14213D"/>
                </a:solidFill>
                <a:latin typeface="Cambria" pitchFamily="34" charset="0"/>
                <a:ea typeface="Cambria" pitchFamily="34" charset="-122"/>
                <a:cs typeface="Cambria" pitchFamily="34" charset="-120"/>
              </a:rPr>
              <a:t>2. DD → EDF, not N(−DD)</a:t>
            </a:r>
            <a:endParaRPr lang="en-US" sz="1800" dirty="0"/>
          </a:p>
        </p:txBody>
      </p:sp>
      <p:sp>
        <p:nvSpPr>
          <p:cNvPr id="9" name="Text 7"/>
          <p:cNvSpPr txBox="1"/>
          <p:nvPr/>
        </p:nvSpPr>
        <p:spPr>
          <a:xfrm>
            <a:off x="6446520" y="2148840"/>
            <a:ext cx="4663440" cy="3657600"/>
          </a:xfrm>
          <a:prstGeom prst="rect">
            <a:avLst/>
          </a:prstGeom>
          <a:noFill/>
          <a:ln/>
        </p:spPr>
        <p:txBody>
          <a:bodyPr wrap="square" lIns="0" tIns="0" rIns="0" bIns="0" rtlCol="0" anchor="t"/>
          <a:lstStyle/>
          <a:p>
            <a:pPr indent="0" marL="0">
              <a:buNone/>
            </a:pPr>
            <a:r>
              <a:rPr lang="en-US" sz="1400" dirty="0">
                <a:solidFill>
                  <a:srgbClr val="1B2333"/>
                </a:solidFill>
                <a:latin typeface="Calibri" pitchFamily="34" charset="0"/>
                <a:ea typeface="Calibri" pitchFamily="34" charset="-122"/>
                <a:cs typeface="Calibri" pitchFamily="34" charset="-120"/>
              </a:rPr>
              <a:t>Real asset returns have fat tails — the normal curve understates how often firms actually default.</a:t>
            </a:r>
            <a:endParaRPr lang="en-US" sz="1400" dirty="0"/>
          </a:p>
          <a:p>
            <a:pPr indent="0" marL="0">
              <a:buNone/>
            </a:pPr>
            <a:endParaRPr lang="en-US" sz="1400" dirty="0"/>
          </a:p>
          <a:p>
            <a:pPr indent="0" marL="0">
              <a:buNone/>
            </a:pPr>
            <a:r>
              <a:rPr lang="en-US" sz="1400" dirty="0">
                <a:solidFill>
                  <a:srgbClr val="1B2333"/>
                </a:solidFill>
                <a:latin typeface="Calibri" pitchFamily="34" charset="0"/>
                <a:ea typeface="Calibri" pitchFamily="34" charset="-122"/>
                <a:cs typeface="Calibri" pitchFamily="34" charset="-120"/>
              </a:rPr>
              <a:t>So KMV ranks firms by DD, then looks up what fraction of firms at that DD level actually defaulted within a year, from its own historical database.</a:t>
            </a:r>
            <a:endParaRPr lang="en-US" sz="1400" dirty="0"/>
          </a:p>
          <a:p>
            <a:pPr indent="0" marL="0">
              <a:buNone/>
            </a:pPr>
            <a:endParaRPr lang="en-US" sz="1400" dirty="0"/>
          </a:p>
          <a:p>
            <a:pPr indent="0" marL="0">
              <a:buNone/>
            </a:pPr>
            <a:r>
              <a:rPr lang="en-US" sz="1400" dirty="0">
                <a:solidFill>
                  <a:srgbClr val="1B2333"/>
                </a:solidFill>
                <a:latin typeface="Calibri" pitchFamily="34" charset="0"/>
                <a:ea typeface="Calibri" pitchFamily="34" charset="-122"/>
                <a:cs typeface="Calibri" pitchFamily="34" charset="-120"/>
              </a:rPr>
              <a:t>That empirical fraction is the Expected Default Frequency (EDF). DD ranks; EDF is the calibrated probability.</a:t>
            </a:r>
            <a:endParaRPr lang="en-US" sz="1400" dirty="0"/>
          </a:p>
        </p:txBody>
      </p:sp>
      <p:sp>
        <p:nvSpPr>
          <p:cNvPr id="10" name="Text 8"/>
          <p:cNvSpPr txBox="1"/>
          <p:nvPr/>
        </p:nvSpPr>
        <p:spPr>
          <a:xfrm>
            <a:off x="11521440" y="6510528"/>
            <a:ext cx="548640" cy="274320"/>
          </a:xfrm>
          <a:prstGeom prst="rect">
            <a:avLst/>
          </a:prstGeom>
          <a:noFill/>
          <a:ln/>
        </p:spPr>
        <p:txBody>
          <a:bodyPr wrap="square" lIns="0" tIns="0" rIns="0" bIns="0" rtlCol="0" anchor="t"/>
          <a:lstStyle/>
          <a:p>
            <a:pPr algn="r" indent="0" marL="0">
              <a:buNone/>
            </a:pPr>
            <a:r>
              <a:rPr lang="en-US" sz="1000" dirty="0">
                <a:solidFill>
                  <a:srgbClr val="B8BFCC"/>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320040"/>
          </a:xfrm>
          <a:prstGeom prst="rect">
            <a:avLst/>
          </a:prstGeom>
          <a:noFill/>
          <a:ln/>
        </p:spPr>
        <p:txBody>
          <a:bodyPr wrap="square" lIns="0" tIns="0" rIns="0" bIns="0" rtlCol="0" anchor="t"/>
          <a:lstStyle/>
          <a:p>
            <a:pPr indent="0" marL="0">
              <a:buNone/>
            </a:pPr>
            <a:r>
              <a:rPr lang="en-US" sz="1200" b="1" spc="200" kern="0" dirty="0">
                <a:solidFill>
                  <a:srgbClr val="1F8A7A"/>
                </a:solidFill>
                <a:latin typeface="Calibri" pitchFamily="34" charset="0"/>
                <a:ea typeface="Calibri" pitchFamily="34" charset="-122"/>
                <a:cs typeface="Calibri" pitchFamily="34" charset="-120"/>
              </a:rPr>
              <a:t>04 · THE MECHANICS</a:t>
            </a:r>
            <a:endParaRPr lang="en-US" sz="1200" dirty="0"/>
          </a:p>
        </p:txBody>
      </p:sp>
      <p:sp>
        <p:nvSpPr>
          <p:cNvPr id="3" name="Text 1"/>
          <p:cNvSpPr txBox="1"/>
          <p:nvPr/>
        </p:nvSpPr>
        <p:spPr>
          <a:xfrm>
            <a:off x="548640" y="457200"/>
            <a:ext cx="11064240" cy="731520"/>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The mechanics: simulate it and count</a:t>
            </a:r>
            <a:endParaRPr lang="en-US" sz="2900" dirty="0"/>
          </a:p>
        </p:txBody>
      </p:sp>
      <p:pic>
        <p:nvPicPr>
          <p:cNvPr id="4" name="Image 0" descr="figs/gbm_paths.png">    </p:cNvPr>
          <p:cNvPicPr>
            <a:picLocks noChangeAspect="1"/>
          </p:cNvPicPr>
          <p:nvPr/>
        </p:nvPicPr>
        <p:blipFill>
          <a:blip r:embed="rId1"/>
          <a:stretch>
            <a:fillRect/>
          </a:stretch>
        </p:blipFill>
        <p:spPr>
          <a:xfrm>
            <a:off x="411480" y="1280160"/>
            <a:ext cx="5623560" cy="3280957"/>
          </a:xfrm>
          <a:prstGeom prst="rect">
            <a:avLst/>
          </a:prstGeom>
        </p:spPr>
      </p:pic>
      <p:pic>
        <p:nvPicPr>
          <p:cNvPr id="5" name="Image 1" descr="mc_convergence.png">    </p:cNvPr>
          <p:cNvPicPr>
            <a:picLocks noChangeAspect="1"/>
          </p:cNvPicPr>
          <p:nvPr/>
        </p:nvPicPr>
        <p:blipFill>
          <a:blip r:embed="rId2"/>
          <a:stretch>
            <a:fillRect/>
          </a:stretch>
        </p:blipFill>
        <p:spPr>
          <a:xfrm>
            <a:off x="6172200" y="1280160"/>
            <a:ext cx="5577840" cy="3187337"/>
          </a:xfrm>
          <a:prstGeom prst="rect">
            <a:avLst/>
          </a:prstGeom>
        </p:spPr>
      </p:pic>
      <p:sp>
        <p:nvSpPr>
          <p:cNvPr id="6" name="Text 2"/>
          <p:cNvSpPr txBox="1"/>
          <p:nvPr/>
        </p:nvSpPr>
        <p:spPr>
          <a:xfrm>
            <a:off x="548640" y="5806440"/>
            <a:ext cx="11064240" cy="822960"/>
          </a:xfrm>
          <a:prstGeom prst="rect">
            <a:avLst/>
          </a:prstGeom>
          <a:noFill/>
          <a:ln/>
        </p:spPr>
        <p:txBody>
          <a:bodyPr wrap="square" lIns="0" tIns="0" rIns="0" bIns="0" rtlCol="0" anchor="t"/>
          <a:lstStyle/>
          <a:p>
            <a:pPr indent="0" marL="0">
              <a:buNone/>
            </a:pPr>
            <a:r>
              <a:rPr lang="en-US" sz="1350" dirty="0">
                <a:solidFill>
                  <a:srgbClr val="5B6577"/>
                </a:solidFill>
                <a:latin typeface="Calibri" pitchFamily="34" charset="0"/>
                <a:ea typeface="Calibri" pitchFamily="34" charset="-122"/>
                <a:cs typeface="Calibri" pitchFamily="34" charset="-120"/>
              </a:rPr>
              <a:t>Algorithm: simulate many GBM asset paths → count the share ending below D → compare with the closed form N(−DD). At V=120, D=100, μ=8%, σ=25%: 1,000,000 paths give 17.71% vs. the formula's 17.77%.</a:t>
            </a:r>
            <a:endParaRPr lang="en-US" sz="1350" dirty="0"/>
          </a:p>
        </p:txBody>
      </p:sp>
      <p:sp>
        <p:nvSpPr>
          <p:cNvPr id="7" name="Text 3"/>
          <p:cNvSpPr txBox="1"/>
          <p:nvPr/>
        </p:nvSpPr>
        <p:spPr>
          <a:xfrm>
            <a:off x="11521440" y="6510528"/>
            <a:ext cx="548640" cy="274320"/>
          </a:xfrm>
          <a:prstGeom prst="rect">
            <a:avLst/>
          </a:prstGeom>
          <a:noFill/>
          <a:ln/>
        </p:spPr>
        <p:txBody>
          <a:bodyPr wrap="square" lIns="0" tIns="0" rIns="0" bIns="0" rtlCol="0" anchor="t"/>
          <a:lstStyle/>
          <a:p>
            <a:pPr algn="r" indent="0" marL="0">
              <a:buNone/>
            </a:pPr>
            <a:r>
              <a:rPr lang="en-US" sz="1000" dirty="0">
                <a:solidFill>
                  <a:srgbClr val="B8BFCC"/>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320040"/>
          </a:xfrm>
          <a:prstGeom prst="rect">
            <a:avLst/>
          </a:prstGeom>
          <a:noFill/>
          <a:ln/>
        </p:spPr>
        <p:txBody>
          <a:bodyPr wrap="square" lIns="0" tIns="0" rIns="0" bIns="0" rtlCol="0" anchor="t"/>
          <a:lstStyle/>
          <a:p>
            <a:pPr indent="0" marL="0">
              <a:buNone/>
            </a:pPr>
            <a:r>
              <a:rPr lang="en-US" sz="1200" b="1" spc="200" kern="0" dirty="0">
                <a:solidFill>
                  <a:srgbClr val="1F8A7A"/>
                </a:solidFill>
                <a:latin typeface="Calibri" pitchFamily="34" charset="0"/>
                <a:ea typeface="Calibri" pitchFamily="34" charset="-122"/>
                <a:cs typeface="Calibri" pitchFamily="34" charset="-120"/>
              </a:rPr>
              <a:t>05 · THE CASE</a:t>
            </a:r>
            <a:endParaRPr lang="en-US" sz="1200" dirty="0"/>
          </a:p>
        </p:txBody>
      </p:sp>
      <p:sp>
        <p:nvSpPr>
          <p:cNvPr id="3" name="Text 1"/>
          <p:cNvSpPr txBox="1"/>
          <p:nvPr/>
        </p:nvSpPr>
        <p:spPr>
          <a:xfrm>
            <a:off x="548640" y="457200"/>
            <a:ext cx="11064240" cy="731520"/>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The case: Yes Bank, 2018-2020</a:t>
            </a:r>
            <a:endParaRPr lang="en-US" sz="2900" dirty="0"/>
          </a:p>
        </p:txBody>
      </p:sp>
      <p:sp>
        <p:nvSpPr>
          <p:cNvPr id="4" name="Shape 2"/>
          <p:cNvSpPr/>
          <p:nvPr/>
        </p:nvSpPr>
        <p:spPr>
          <a:xfrm>
            <a:off x="548640" y="1280160"/>
            <a:ext cx="11064240" cy="1371600"/>
          </a:xfrm>
          <a:prstGeom prst="roundRect">
            <a:avLst>
              <a:gd name="adj" fmla="val 5333"/>
            </a:avLst>
          </a:prstGeom>
          <a:solidFill>
            <a:srgbClr val="14213D"/>
          </a:solidFill>
          <a:ln w="12700">
            <a:solidFill>
              <a:srgbClr val="14213D"/>
            </a:solidFill>
            <a:prstDash val="solid"/>
          </a:ln>
        </p:spPr>
      </p:sp>
      <p:sp>
        <p:nvSpPr>
          <p:cNvPr id="5" name="Text 3"/>
          <p:cNvSpPr txBox="1"/>
          <p:nvPr/>
        </p:nvSpPr>
        <p:spPr>
          <a:xfrm>
            <a:off x="914400" y="1463040"/>
            <a:ext cx="10332720" cy="100584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Test: did the market-implied distance to default deteriorate before the rating agencies' downgrades, and before the RBI's intervention?</a:t>
            </a:r>
            <a:endParaRPr lang="en-US" sz="2000" dirty="0"/>
          </a:p>
        </p:txBody>
      </p:sp>
      <p:sp>
        <p:nvSpPr>
          <p:cNvPr id="6" name="Text 4"/>
          <p:cNvSpPr txBox="1"/>
          <p:nvPr/>
        </p:nvSpPr>
        <p:spPr>
          <a:xfrm>
            <a:off x="548640" y="2926080"/>
            <a:ext cx="11064240" cy="365760"/>
          </a:xfrm>
          <a:prstGeom prst="rect">
            <a:avLst/>
          </a:prstGeom>
          <a:noFill/>
          <a:ln/>
        </p:spPr>
        <p:txBody>
          <a:bodyPr wrap="square" lIns="0" tIns="0" rIns="0" bIns="0" rtlCol="0" anchor="t"/>
          <a:lstStyle/>
          <a:p>
            <a:pPr indent="0" marL="0">
              <a:buNone/>
            </a:pPr>
            <a:r>
              <a:rPr lang="en-US" sz="1800" b="1" dirty="0">
                <a:solidFill>
                  <a:srgbClr val="14213D"/>
                </a:solidFill>
                <a:latin typeface="Cambria" pitchFamily="34" charset="0"/>
                <a:ea typeface="Cambria" pitchFamily="34" charset="-122"/>
                <a:cs typeface="Cambria" pitchFamily="34" charset="-120"/>
              </a:rPr>
              <a:t>What “default” means here</a:t>
            </a:r>
            <a:endParaRPr lang="en-US" sz="1800" dirty="0"/>
          </a:p>
        </p:txBody>
      </p:sp>
      <p:sp>
        <p:nvSpPr>
          <p:cNvPr id="7" name="Text 5"/>
          <p:cNvSpPr txBox="1"/>
          <p:nvPr/>
        </p:nvSpPr>
        <p:spPr>
          <a:xfrm>
            <a:off x="548640" y="3337560"/>
            <a:ext cx="11064240" cy="301752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rgbClr val="1B2333"/>
                </a:solidFill>
                <a:latin typeface="Calibri" pitchFamily="34" charset="0"/>
                <a:ea typeface="Calibri" pitchFamily="34" charset="-122"/>
                <a:cs typeface="Calibri" pitchFamily="34" charset="-120"/>
              </a:rPr>
              <a:t>Yes Bank never missed a senior bond payment before the intervention.</a:t>
            </a:r>
            <a:endParaRPr lang="en-US" sz="1450" dirty="0"/>
          </a:p>
          <a:p>
            <a:pPr marL="342900" indent="-342900">
              <a:spcAft>
                <a:spcPts val="600"/>
              </a:spcAft>
              <a:buSzPct val="100000"/>
              <a:buChar char="•"/>
            </a:pPr>
            <a:r>
              <a:rPr lang="en-US" sz="1450" dirty="0">
                <a:solidFill>
                  <a:srgbClr val="1B2333"/>
                </a:solidFill>
                <a:latin typeface="Calibri" pitchFamily="34" charset="0"/>
                <a:ea typeface="Calibri" pitchFamily="34" charset="-122"/>
                <a:cs typeface="Calibri" pitchFamily="34" charset="-120"/>
              </a:rPr>
              <a:t>The trigger was regulatory: an RBI moratorium on 5 March 2020 under Section 45 of the Banking Regulation Act, 1949 — withdrawals capped at Rs 50,000, board superseded.</a:t>
            </a:r>
            <a:endParaRPr lang="en-US" sz="1450" dirty="0"/>
          </a:p>
          <a:p>
            <a:pPr marL="342900" indent="-342900">
              <a:spcAft>
                <a:spcPts val="600"/>
              </a:spcAft>
              <a:buSzPct val="100000"/>
              <a:buChar char="•"/>
            </a:pPr>
            <a:r>
              <a:rPr lang="en-US" sz="1450" dirty="0">
                <a:solidFill>
                  <a:srgbClr val="1B2333"/>
                </a:solidFill>
                <a:latin typeface="Calibri" pitchFamily="34" charset="0"/>
                <a:ea typeface="Calibri" pitchFamily="34" charset="-122"/>
                <a:cs typeface="Calibri" pitchFamily="34" charset="-120"/>
              </a:rPr>
              <a:t>Merton defines default as assets falling below debt; the RBI acted on a supervisory view the bank could not meet its liabilities as they fell due.</a:t>
            </a:r>
            <a:endParaRPr lang="en-US" sz="1450" dirty="0"/>
          </a:p>
          <a:p>
            <a:pPr marL="342900" indent="-342900">
              <a:spcAft>
                <a:spcPts val="600"/>
              </a:spcAft>
              <a:buSzPct val="100000"/>
              <a:buChar char="•"/>
            </a:pPr>
            <a:r>
              <a:rPr lang="en-US" sz="1450" dirty="0">
                <a:solidFill>
                  <a:srgbClr val="1B2333"/>
                </a:solidFill>
                <a:latin typeface="Calibri" pitchFamily="34" charset="0"/>
                <a:ea typeface="Calibri" pitchFamily="34" charset="-122"/>
                <a:cs typeface="Calibri" pitchFamily="34" charset="-120"/>
              </a:rPr>
              <a:t>Test uses three markers in order: rating actions, the RBI moratorium, and ICRA's own [ICRA] D default label the next day.</a:t>
            </a:r>
            <a:endParaRPr lang="en-US" sz="1450" dirty="0"/>
          </a:p>
        </p:txBody>
      </p:sp>
      <p:sp>
        <p:nvSpPr>
          <p:cNvPr id="8" name="Text 6"/>
          <p:cNvSpPr txBox="1"/>
          <p:nvPr/>
        </p:nvSpPr>
        <p:spPr>
          <a:xfrm>
            <a:off x="11521440" y="6510528"/>
            <a:ext cx="548640" cy="274320"/>
          </a:xfrm>
          <a:prstGeom prst="rect">
            <a:avLst/>
          </a:prstGeom>
          <a:noFill/>
          <a:ln/>
        </p:spPr>
        <p:txBody>
          <a:bodyPr wrap="square" lIns="0" tIns="0" rIns="0" bIns="0" rtlCol="0" anchor="t"/>
          <a:lstStyle/>
          <a:p>
            <a:pPr algn="r" indent="0" marL="0">
              <a:buNone/>
            </a:pPr>
            <a:r>
              <a:rPr lang="en-US" sz="1000" dirty="0">
                <a:solidFill>
                  <a:srgbClr val="B8BFCC"/>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320040"/>
          </a:xfrm>
          <a:prstGeom prst="rect">
            <a:avLst/>
          </a:prstGeom>
          <a:noFill/>
          <a:ln/>
        </p:spPr>
        <p:txBody>
          <a:bodyPr wrap="square" lIns="0" tIns="0" rIns="0" bIns="0" rtlCol="0" anchor="t"/>
          <a:lstStyle/>
          <a:p>
            <a:pPr indent="0" marL="0">
              <a:buNone/>
            </a:pPr>
            <a:r>
              <a:rPr lang="en-US" sz="1200" b="1" spc="200" kern="0" dirty="0">
                <a:solidFill>
                  <a:srgbClr val="1F8A7A"/>
                </a:solidFill>
                <a:latin typeface="Calibri" pitchFamily="34" charset="0"/>
                <a:ea typeface="Calibri" pitchFamily="34" charset="-122"/>
                <a:cs typeface="Calibri" pitchFamily="34" charset="-120"/>
              </a:rPr>
              <a:t>05 · THE CASE</a:t>
            </a:r>
            <a:endParaRPr lang="en-US" sz="1200" dirty="0"/>
          </a:p>
        </p:txBody>
      </p:sp>
      <p:sp>
        <p:nvSpPr>
          <p:cNvPr id="3" name="Text 1"/>
          <p:cNvSpPr txBox="1"/>
          <p:nvPr/>
        </p:nvSpPr>
        <p:spPr>
          <a:xfrm>
            <a:off x="548640" y="457200"/>
            <a:ext cx="11064240" cy="731520"/>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Data and method</a:t>
            </a:r>
            <a:endParaRPr lang="en-US" sz="2900" dirty="0"/>
          </a:p>
        </p:txBody>
      </p:sp>
      <p:sp>
        <p:nvSpPr>
          <p:cNvPr id="4" name="Shape 2"/>
          <p:cNvSpPr/>
          <p:nvPr/>
        </p:nvSpPr>
        <p:spPr>
          <a:xfrm>
            <a:off x="548640" y="1371600"/>
            <a:ext cx="5394960" cy="2011680"/>
          </a:xfrm>
          <a:prstGeom prst="roundRect">
            <a:avLst>
              <a:gd name="adj" fmla="val 3636"/>
            </a:avLst>
          </a:prstGeom>
          <a:solidFill>
            <a:srgbClr val="EEF2F8"/>
          </a:solidFill>
          <a:ln w="12700">
            <a:solidFill>
              <a:srgbClr val="EEF2F8"/>
            </a:solidFill>
            <a:prstDash val="solid"/>
          </a:ln>
        </p:spPr>
      </p:sp>
      <p:sp>
        <p:nvSpPr>
          <p:cNvPr id="5" name="Text 3"/>
          <p:cNvSpPr txBox="1"/>
          <p:nvPr/>
        </p:nvSpPr>
        <p:spPr>
          <a:xfrm>
            <a:off x="822960" y="1554480"/>
            <a:ext cx="4846320" cy="36576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Equity</a:t>
            </a:r>
            <a:endParaRPr lang="en-US" sz="1700" dirty="0"/>
          </a:p>
        </p:txBody>
      </p:sp>
      <p:sp>
        <p:nvSpPr>
          <p:cNvPr id="6" name="Text 4"/>
          <p:cNvSpPr txBox="1"/>
          <p:nvPr/>
        </p:nvSpPr>
        <p:spPr>
          <a:xfrm>
            <a:off x="822960" y="1965960"/>
            <a:ext cx="4846320" cy="1280160"/>
          </a:xfrm>
          <a:prstGeom prst="rect">
            <a:avLst/>
          </a:prstGeom>
          <a:noFill/>
          <a:ln/>
        </p:spPr>
        <p:txBody>
          <a:bodyPr wrap="square" lIns="0" tIns="0" rIns="0" bIns="0" rtlCol="0" anchor="t"/>
          <a:lstStyle/>
          <a:p>
            <a:pPr indent="0" marL="0">
              <a:buNone/>
            </a:pPr>
            <a:r>
              <a:rPr lang="en-US" sz="1350" dirty="0">
                <a:solidFill>
                  <a:srgbClr val="1B2333"/>
                </a:solidFill>
                <a:latin typeface="Calibri" pitchFamily="34" charset="0"/>
                <a:ea typeface="Calibri" pitchFamily="34" charset="-122"/>
                <a:cs typeface="Calibri" pitchFamily="34" charset="-120"/>
              </a:rPr>
              <a:t>Daily close × shares outstanding. 231.0 cr shares to mid-Aug 2019, then 254.9 cr after the QIP.</a:t>
            </a:r>
            <a:endParaRPr lang="en-US" sz="1350" dirty="0"/>
          </a:p>
        </p:txBody>
      </p:sp>
      <p:sp>
        <p:nvSpPr>
          <p:cNvPr id="7" name="Shape 5"/>
          <p:cNvSpPr/>
          <p:nvPr/>
        </p:nvSpPr>
        <p:spPr>
          <a:xfrm>
            <a:off x="6217920" y="1371600"/>
            <a:ext cx="5394960" cy="2011680"/>
          </a:xfrm>
          <a:prstGeom prst="roundRect">
            <a:avLst>
              <a:gd name="adj" fmla="val 3636"/>
            </a:avLst>
          </a:prstGeom>
          <a:solidFill>
            <a:srgbClr val="EEF2F8"/>
          </a:solidFill>
          <a:ln w="12700">
            <a:solidFill>
              <a:srgbClr val="EEF2F8"/>
            </a:solidFill>
            <a:prstDash val="solid"/>
          </a:ln>
        </p:spPr>
      </p:sp>
      <p:sp>
        <p:nvSpPr>
          <p:cNvPr id="8" name="Text 6"/>
          <p:cNvSpPr txBox="1"/>
          <p:nvPr/>
        </p:nvSpPr>
        <p:spPr>
          <a:xfrm>
            <a:off x="6492240" y="1554480"/>
            <a:ext cx="4846320" cy="36576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Default point D</a:t>
            </a:r>
            <a:endParaRPr lang="en-US" sz="1700" dirty="0"/>
          </a:p>
        </p:txBody>
      </p:sp>
      <p:sp>
        <p:nvSpPr>
          <p:cNvPr id="9" name="Text 7"/>
          <p:cNvSpPr txBox="1"/>
          <p:nvPr/>
        </p:nvSpPr>
        <p:spPr>
          <a:xfrm>
            <a:off x="6492240" y="1965960"/>
            <a:ext cx="4846320" cy="1280160"/>
          </a:xfrm>
          <a:prstGeom prst="rect">
            <a:avLst/>
          </a:prstGeom>
          <a:noFill/>
          <a:ln/>
        </p:spPr>
        <p:txBody>
          <a:bodyPr wrap="square" lIns="0" tIns="0" rIns="0" bIns="0" rtlCol="0" anchor="t"/>
          <a:lstStyle/>
          <a:p>
            <a:pPr indent="0" marL="0">
              <a:buNone/>
            </a:pPr>
            <a:r>
              <a:rPr lang="en-US" sz="1350" dirty="0">
                <a:solidFill>
                  <a:srgbClr val="1B2333"/>
                </a:solidFill>
                <a:latin typeface="Calibri" pitchFamily="34" charset="0"/>
                <a:ea typeface="Calibri" pitchFamily="34" charset="-122"/>
                <a:cs typeface="Calibri" pitchFamily="34" charset="-120"/>
              </a:rPr>
              <a:t>Total liabilities (deposits + borrowings + other) from the balance sheet published at that time — what a market participant could actually see.</a:t>
            </a:r>
            <a:endParaRPr lang="en-US" sz="1350" dirty="0"/>
          </a:p>
        </p:txBody>
      </p:sp>
      <p:sp>
        <p:nvSpPr>
          <p:cNvPr id="10" name="Shape 8"/>
          <p:cNvSpPr/>
          <p:nvPr/>
        </p:nvSpPr>
        <p:spPr>
          <a:xfrm>
            <a:off x="548640" y="3566160"/>
            <a:ext cx="5394960" cy="2011680"/>
          </a:xfrm>
          <a:prstGeom prst="roundRect">
            <a:avLst>
              <a:gd name="adj" fmla="val 3636"/>
            </a:avLst>
          </a:prstGeom>
          <a:solidFill>
            <a:srgbClr val="EEF2F8"/>
          </a:solidFill>
          <a:ln w="12700">
            <a:solidFill>
              <a:srgbClr val="EEF2F8"/>
            </a:solidFill>
            <a:prstDash val="solid"/>
          </a:ln>
        </p:spPr>
      </p:sp>
      <p:sp>
        <p:nvSpPr>
          <p:cNvPr id="11" name="Text 9"/>
          <p:cNvSpPr txBox="1"/>
          <p:nvPr/>
        </p:nvSpPr>
        <p:spPr>
          <a:xfrm>
            <a:off x="822960" y="3749040"/>
            <a:ext cx="4846320" cy="36576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Volatility σ_E</a:t>
            </a:r>
            <a:endParaRPr lang="en-US" sz="1700" dirty="0"/>
          </a:p>
        </p:txBody>
      </p:sp>
      <p:sp>
        <p:nvSpPr>
          <p:cNvPr id="12" name="Text 10"/>
          <p:cNvSpPr txBox="1"/>
          <p:nvPr/>
        </p:nvSpPr>
        <p:spPr>
          <a:xfrm>
            <a:off x="822960" y="4160520"/>
            <a:ext cx="4846320" cy="1280160"/>
          </a:xfrm>
          <a:prstGeom prst="rect">
            <a:avLst/>
          </a:prstGeom>
          <a:noFill/>
          <a:ln/>
        </p:spPr>
        <p:txBody>
          <a:bodyPr wrap="square" lIns="0" tIns="0" rIns="0" bIns="0" rtlCol="0" anchor="t"/>
          <a:lstStyle/>
          <a:p>
            <a:pPr indent="0" marL="0">
              <a:buNone/>
            </a:pPr>
            <a:r>
              <a:rPr lang="en-US" sz="1350" dirty="0">
                <a:solidFill>
                  <a:srgbClr val="1B2333"/>
                </a:solidFill>
                <a:latin typeface="Calibri" pitchFamily="34" charset="0"/>
                <a:ea typeface="Calibri" pitchFamily="34" charset="-122"/>
                <a:cs typeface="Calibri" pitchFamily="34" charset="-120"/>
              </a:rPr>
              <a:t>Trailing 60-day daily log-returns, annualised by √252.</a:t>
            </a:r>
            <a:endParaRPr lang="en-US" sz="1350" dirty="0"/>
          </a:p>
        </p:txBody>
      </p:sp>
      <p:sp>
        <p:nvSpPr>
          <p:cNvPr id="13" name="Shape 11"/>
          <p:cNvSpPr/>
          <p:nvPr/>
        </p:nvSpPr>
        <p:spPr>
          <a:xfrm>
            <a:off x="6217920" y="3566160"/>
            <a:ext cx="5394960" cy="2011680"/>
          </a:xfrm>
          <a:prstGeom prst="roundRect">
            <a:avLst>
              <a:gd name="adj" fmla="val 3636"/>
            </a:avLst>
          </a:prstGeom>
          <a:solidFill>
            <a:srgbClr val="EEF2F8"/>
          </a:solidFill>
          <a:ln w="12700">
            <a:solidFill>
              <a:srgbClr val="EEF2F8"/>
            </a:solidFill>
            <a:prstDash val="solid"/>
          </a:ln>
        </p:spPr>
      </p:sp>
      <p:sp>
        <p:nvSpPr>
          <p:cNvPr id="14" name="Text 12"/>
          <p:cNvSpPr txBox="1"/>
          <p:nvPr/>
        </p:nvSpPr>
        <p:spPr>
          <a:xfrm>
            <a:off x="6492240" y="3749040"/>
            <a:ext cx="4846320" cy="36576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Rates &amp; drift</a:t>
            </a:r>
            <a:endParaRPr lang="en-US" sz="1700" dirty="0"/>
          </a:p>
        </p:txBody>
      </p:sp>
      <p:sp>
        <p:nvSpPr>
          <p:cNvPr id="15" name="Text 13"/>
          <p:cNvSpPr txBox="1"/>
          <p:nvPr/>
        </p:nvSpPr>
        <p:spPr>
          <a:xfrm>
            <a:off x="6492240" y="4160520"/>
            <a:ext cx="4846320" cy="1280160"/>
          </a:xfrm>
          <a:prstGeom prst="rect">
            <a:avLst/>
          </a:prstGeom>
          <a:noFill/>
          <a:ln/>
        </p:spPr>
        <p:txBody>
          <a:bodyPr wrap="square" lIns="0" tIns="0" rIns="0" bIns="0" rtlCol="0" anchor="t"/>
          <a:lstStyle/>
          <a:p>
            <a:pPr indent="0" marL="0">
              <a:buNone/>
            </a:pPr>
            <a:r>
              <a:rPr lang="en-US" sz="1350" dirty="0">
                <a:solidFill>
                  <a:srgbClr val="1B2333"/>
                </a:solidFill>
                <a:latin typeface="Calibri" pitchFamily="34" charset="0"/>
                <a:ea typeface="Calibri" pitchFamily="34" charset="-122"/>
                <a:cs typeface="Calibri" pitchFamily="34" charset="-120"/>
              </a:rPr>
              <a:t>r = 6%, T = 1 year. Physical DD uses μ = 10%; d₂ uses μ = r. Both plotted; a robustness check follows.</a:t>
            </a:r>
            <a:endParaRPr lang="en-US" sz="1350" dirty="0"/>
          </a:p>
        </p:txBody>
      </p:sp>
      <p:sp>
        <p:nvSpPr>
          <p:cNvPr id="16" name="Text 14"/>
          <p:cNvSpPr txBox="1"/>
          <p:nvPr/>
        </p:nvSpPr>
        <p:spPr>
          <a:xfrm>
            <a:off x="11521440" y="6510528"/>
            <a:ext cx="548640" cy="274320"/>
          </a:xfrm>
          <a:prstGeom prst="rect">
            <a:avLst/>
          </a:prstGeom>
          <a:noFill/>
          <a:ln/>
        </p:spPr>
        <p:txBody>
          <a:bodyPr wrap="square" lIns="0" tIns="0" rIns="0" bIns="0" rtlCol="0" anchor="t"/>
          <a:lstStyle/>
          <a:p>
            <a:pPr algn="r" indent="0" marL="0">
              <a:buNone/>
            </a:pPr>
            <a:r>
              <a:rPr lang="en-US" sz="1000" dirty="0">
                <a:solidFill>
                  <a:srgbClr val="B8BFCC"/>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320040"/>
          </a:xfrm>
          <a:prstGeom prst="rect">
            <a:avLst/>
          </a:prstGeom>
          <a:noFill/>
          <a:ln/>
        </p:spPr>
        <p:txBody>
          <a:bodyPr wrap="square" lIns="0" tIns="0" rIns="0" bIns="0" rtlCol="0" anchor="t"/>
          <a:lstStyle/>
          <a:p>
            <a:pPr indent="0" marL="0">
              <a:buNone/>
            </a:pPr>
            <a:r>
              <a:rPr lang="en-US" sz="1200" b="1" spc="200" kern="0" dirty="0">
                <a:solidFill>
                  <a:srgbClr val="1F8A7A"/>
                </a:solidFill>
                <a:latin typeface="Calibri" pitchFamily="34" charset="0"/>
                <a:ea typeface="Calibri" pitchFamily="34" charset="-122"/>
                <a:cs typeface="Calibri" pitchFamily="34" charset="-120"/>
              </a:rPr>
              <a:t>05 · THE CASE — RESULTS</a:t>
            </a:r>
            <a:endParaRPr lang="en-US" sz="1200" dirty="0"/>
          </a:p>
        </p:txBody>
      </p:sp>
      <p:sp>
        <p:nvSpPr>
          <p:cNvPr id="3" name="Text 1"/>
          <p:cNvSpPr txBox="1"/>
          <p:nvPr/>
        </p:nvSpPr>
        <p:spPr>
          <a:xfrm>
            <a:off x="548640" y="457200"/>
            <a:ext cx="11064240" cy="731520"/>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Distance to default vs. the rating actions</a:t>
            </a:r>
            <a:endParaRPr lang="en-US" sz="2900" dirty="0"/>
          </a:p>
        </p:txBody>
      </p:sp>
      <p:pic>
        <p:nvPicPr>
          <p:cNvPr id="4" name="Image 0" descr="figs/dd_timeline.png">    </p:cNvPr>
          <p:cNvPicPr>
            <a:picLocks noChangeAspect="1"/>
          </p:cNvPicPr>
          <p:nvPr/>
        </p:nvPicPr>
        <p:blipFill>
          <a:blip r:embed="rId1"/>
          <a:stretch>
            <a:fillRect/>
          </a:stretch>
        </p:blipFill>
        <p:spPr>
          <a:xfrm>
            <a:off x="457200" y="1143000"/>
            <a:ext cx="11247120" cy="5178232"/>
          </a:xfrm>
          <a:prstGeom prst="rect">
            <a:avLst/>
          </a:prstGeom>
        </p:spPr>
      </p:pic>
      <p:sp>
        <p:nvSpPr>
          <p:cNvPr id="5" name="Text 2"/>
          <p:cNvSpPr txBox="1"/>
          <p:nvPr/>
        </p:nvSpPr>
        <p:spPr>
          <a:xfrm>
            <a:off x="457200" y="6263640"/>
            <a:ext cx="11247120" cy="502920"/>
          </a:xfrm>
          <a:prstGeom prst="rect">
            <a:avLst/>
          </a:prstGeom>
          <a:noFill/>
          <a:ln/>
        </p:spPr>
        <p:txBody>
          <a:bodyPr wrap="square" lIns="0" tIns="0" rIns="0" bIns="0" rtlCol="0" anchor="t"/>
          <a:lstStyle/>
          <a:p>
            <a:pPr indent="0" marL="0">
              <a:buNone/>
            </a:pPr>
            <a:r>
              <a:rPr lang="en-US" sz="1350" i="1" dirty="0">
                <a:solidFill>
                  <a:srgbClr val="5B6577"/>
                </a:solidFill>
                <a:latin typeface="Calibri" pitchFamily="34" charset="0"/>
                <a:ea typeface="Calibri" pitchFamily="34" charset="-122"/>
                <a:cs typeface="Calibri" pitchFamily="34" charset="-120"/>
              </a:rPr>
              <a:t>DD collapses on the day of each stress event, well ahead of the matching rating action — except at the moratorium itself.</a:t>
            </a:r>
            <a:endParaRPr lang="en-US" sz="1350" dirty="0"/>
          </a:p>
        </p:txBody>
      </p:sp>
      <p:sp>
        <p:nvSpPr>
          <p:cNvPr id="6" name="Text 3"/>
          <p:cNvSpPr txBox="1"/>
          <p:nvPr/>
        </p:nvSpPr>
        <p:spPr>
          <a:xfrm>
            <a:off x="11521440" y="6510528"/>
            <a:ext cx="548640" cy="274320"/>
          </a:xfrm>
          <a:prstGeom prst="rect">
            <a:avLst/>
          </a:prstGeom>
          <a:noFill/>
          <a:ln/>
        </p:spPr>
        <p:txBody>
          <a:bodyPr wrap="square" lIns="0" tIns="0" rIns="0" bIns="0" rtlCol="0" anchor="t"/>
          <a:lstStyle/>
          <a:p>
            <a:pPr algn="r" indent="0" marL="0">
              <a:buNone/>
            </a:pPr>
            <a:r>
              <a:rPr lang="en-US" sz="1000" dirty="0">
                <a:solidFill>
                  <a:srgbClr val="B8BFCC"/>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320040"/>
          </a:xfrm>
          <a:prstGeom prst="rect">
            <a:avLst/>
          </a:prstGeom>
          <a:noFill/>
          <a:ln/>
        </p:spPr>
        <p:txBody>
          <a:bodyPr wrap="square" lIns="0" tIns="0" rIns="0" bIns="0" rtlCol="0" anchor="t"/>
          <a:lstStyle/>
          <a:p>
            <a:pPr indent="0" marL="0">
              <a:buNone/>
            </a:pPr>
            <a:r>
              <a:rPr lang="en-US" sz="1200" b="1" spc="200" kern="0" dirty="0">
                <a:solidFill>
                  <a:srgbClr val="1F8A7A"/>
                </a:solidFill>
                <a:latin typeface="Calibri" pitchFamily="34" charset="0"/>
                <a:ea typeface="Calibri" pitchFamily="34" charset="-122"/>
                <a:cs typeface="Calibri" pitchFamily="34" charset="-120"/>
              </a:rPr>
              <a:t>05 · THE CASE — RESULTS</a:t>
            </a:r>
            <a:endParaRPr lang="en-US" sz="1200" dirty="0"/>
          </a:p>
        </p:txBody>
      </p:sp>
      <p:sp>
        <p:nvSpPr>
          <p:cNvPr id="3" name="Text 1"/>
          <p:cNvSpPr txBox="1"/>
          <p:nvPr/>
        </p:nvSpPr>
        <p:spPr>
          <a:xfrm>
            <a:off x="548640" y="457200"/>
            <a:ext cx="11064240" cy="731520"/>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Reading the lag, episode by episode</a:t>
            </a:r>
            <a:endParaRPr lang="en-US" sz="2900" dirty="0"/>
          </a:p>
        </p:txBody>
      </p:sp>
      <p:sp>
        <p:nvSpPr>
          <p:cNvPr id="4" name="Shape 2"/>
          <p:cNvSpPr/>
          <p:nvPr/>
        </p:nvSpPr>
        <p:spPr>
          <a:xfrm>
            <a:off x="548640" y="1371600"/>
            <a:ext cx="2304288" cy="429768"/>
          </a:xfrm>
          <a:prstGeom prst="roundRect">
            <a:avLst>
              <a:gd name="adj" fmla="val 17021"/>
            </a:avLst>
          </a:prstGeom>
          <a:solidFill>
            <a:srgbClr val="14213D"/>
          </a:solidFill>
          <a:ln w="12700">
            <a:solidFill>
              <a:srgbClr val="14213D"/>
            </a:solidFill>
            <a:prstDash val="solid"/>
          </a:ln>
        </p:spPr>
      </p:sp>
      <p:sp>
        <p:nvSpPr>
          <p:cNvPr id="5" name="Text 3"/>
          <p:cNvSpPr txBox="1"/>
          <p:nvPr/>
        </p:nvSpPr>
        <p:spPr>
          <a:xfrm>
            <a:off x="685800" y="1463040"/>
            <a:ext cx="20574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Episode</a:t>
            </a:r>
            <a:endParaRPr lang="en-US" sz="1400" dirty="0"/>
          </a:p>
        </p:txBody>
      </p:sp>
      <p:sp>
        <p:nvSpPr>
          <p:cNvPr id="6" name="Shape 4"/>
          <p:cNvSpPr/>
          <p:nvPr/>
        </p:nvSpPr>
        <p:spPr>
          <a:xfrm>
            <a:off x="2926080" y="1371600"/>
            <a:ext cx="4133088" cy="429768"/>
          </a:xfrm>
          <a:prstGeom prst="roundRect">
            <a:avLst>
              <a:gd name="adj" fmla="val 17021"/>
            </a:avLst>
          </a:prstGeom>
          <a:solidFill>
            <a:srgbClr val="14213D"/>
          </a:solidFill>
          <a:ln w="12700">
            <a:solidFill>
              <a:srgbClr val="14213D"/>
            </a:solidFill>
            <a:prstDash val="solid"/>
          </a:ln>
        </p:spPr>
      </p:sp>
      <p:sp>
        <p:nvSpPr>
          <p:cNvPr id="7" name="Text 5"/>
          <p:cNvSpPr txBox="1"/>
          <p:nvPr/>
        </p:nvSpPr>
        <p:spPr>
          <a:xfrm>
            <a:off x="3063240" y="1463040"/>
            <a:ext cx="38862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Market signal (DD)</a:t>
            </a:r>
            <a:endParaRPr lang="en-US" sz="1400" dirty="0"/>
          </a:p>
        </p:txBody>
      </p:sp>
      <p:sp>
        <p:nvSpPr>
          <p:cNvPr id="8" name="Shape 6"/>
          <p:cNvSpPr/>
          <p:nvPr/>
        </p:nvSpPr>
        <p:spPr>
          <a:xfrm>
            <a:off x="7132320" y="1371600"/>
            <a:ext cx="4407408" cy="429768"/>
          </a:xfrm>
          <a:prstGeom prst="roundRect">
            <a:avLst>
              <a:gd name="adj" fmla="val 17021"/>
            </a:avLst>
          </a:prstGeom>
          <a:solidFill>
            <a:srgbClr val="14213D"/>
          </a:solidFill>
          <a:ln w="12700">
            <a:solidFill>
              <a:srgbClr val="14213D"/>
            </a:solidFill>
            <a:prstDash val="solid"/>
          </a:ln>
        </p:spPr>
      </p:sp>
      <p:sp>
        <p:nvSpPr>
          <p:cNvPr id="9" name="Text 7"/>
          <p:cNvSpPr txBox="1"/>
          <p:nvPr/>
        </p:nvSpPr>
        <p:spPr>
          <a:xfrm>
            <a:off x="7269480" y="1463040"/>
            <a:ext cx="416052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Agency response</a:t>
            </a:r>
            <a:endParaRPr lang="en-US" sz="1400" dirty="0"/>
          </a:p>
        </p:txBody>
      </p:sp>
      <p:sp>
        <p:nvSpPr>
          <p:cNvPr id="10" name="Shape 8"/>
          <p:cNvSpPr/>
          <p:nvPr/>
        </p:nvSpPr>
        <p:spPr>
          <a:xfrm>
            <a:off x="548640" y="1874520"/>
            <a:ext cx="2304288" cy="978408"/>
          </a:xfrm>
          <a:prstGeom prst="roundRect">
            <a:avLst>
              <a:gd name="adj" fmla="val 7477"/>
            </a:avLst>
          </a:prstGeom>
          <a:solidFill>
            <a:srgbClr val="EEF2F8"/>
          </a:solidFill>
          <a:ln w="12700">
            <a:solidFill>
              <a:srgbClr val="EEF2F8"/>
            </a:solidFill>
            <a:prstDash val="solid"/>
          </a:ln>
        </p:spPr>
      </p:sp>
      <p:sp>
        <p:nvSpPr>
          <p:cNvPr id="11" name="Text 9"/>
          <p:cNvSpPr txBox="1"/>
          <p:nvPr/>
        </p:nvSpPr>
        <p:spPr>
          <a:xfrm>
            <a:off x="685800" y="1984248"/>
            <a:ext cx="2057400" cy="868680"/>
          </a:xfrm>
          <a:prstGeom prst="rect">
            <a:avLst/>
          </a:prstGeom>
          <a:noFill/>
          <a:ln/>
        </p:spPr>
        <p:txBody>
          <a:bodyPr wrap="square" lIns="0" tIns="0" rIns="0" bIns="0" rtlCol="0" anchor="ctr"/>
          <a:lstStyle/>
          <a:p>
            <a:pPr indent="0" marL="0">
              <a:buNone/>
            </a:pPr>
            <a:r>
              <a:rPr lang="en-US" sz="1250" dirty="0">
                <a:solidFill>
                  <a:srgbClr val="1B2333"/>
                </a:solidFill>
                <a:latin typeface="Calibri" pitchFamily="34" charset="0"/>
                <a:ea typeface="Calibri" pitchFamily="34" charset="-122"/>
                <a:cs typeface="Calibri" pitchFamily="34" charset="-120"/>
              </a:rPr>
              <a:t>CEO-term ruling</a:t>
            </a:r>
            <a:endParaRPr lang="en-US" sz="1250" dirty="0"/>
          </a:p>
          <a:p>
            <a:pPr indent="0" marL="0">
              <a:buNone/>
            </a:pPr>
            <a:r>
              <a:rPr lang="en-US" sz="1250" dirty="0">
                <a:solidFill>
                  <a:srgbClr val="1B2333"/>
                </a:solidFill>
                <a:latin typeface="Calibri" pitchFamily="34" charset="0"/>
                <a:ea typeface="Calibri" pitchFamily="34" charset="-122"/>
                <a:cs typeface="Calibri" pitchFamily="34" charset="-120"/>
              </a:rPr>
              <a:t>(Sep 2018)</a:t>
            </a:r>
            <a:endParaRPr lang="en-US" sz="1250" dirty="0"/>
          </a:p>
        </p:txBody>
      </p:sp>
      <p:sp>
        <p:nvSpPr>
          <p:cNvPr id="12" name="Shape 10"/>
          <p:cNvSpPr/>
          <p:nvPr/>
        </p:nvSpPr>
        <p:spPr>
          <a:xfrm>
            <a:off x="2926080" y="1874520"/>
            <a:ext cx="4133088" cy="978408"/>
          </a:xfrm>
          <a:prstGeom prst="roundRect">
            <a:avLst>
              <a:gd name="adj" fmla="val 7477"/>
            </a:avLst>
          </a:prstGeom>
          <a:solidFill>
            <a:srgbClr val="EEF2F8"/>
          </a:solidFill>
          <a:ln w="12700">
            <a:solidFill>
              <a:srgbClr val="EEF2F8"/>
            </a:solidFill>
            <a:prstDash val="solid"/>
          </a:ln>
        </p:spPr>
      </p:sp>
      <p:sp>
        <p:nvSpPr>
          <p:cNvPr id="13" name="Text 11"/>
          <p:cNvSpPr txBox="1"/>
          <p:nvPr/>
        </p:nvSpPr>
        <p:spPr>
          <a:xfrm>
            <a:off x="3063240" y="1984248"/>
            <a:ext cx="3886200" cy="868680"/>
          </a:xfrm>
          <a:prstGeom prst="rect">
            <a:avLst/>
          </a:prstGeom>
          <a:noFill/>
          <a:ln/>
        </p:spPr>
        <p:txBody>
          <a:bodyPr wrap="square" lIns="0" tIns="0" rIns="0" bIns="0" rtlCol="0" anchor="ctr"/>
          <a:lstStyle/>
          <a:p>
            <a:pPr indent="0" marL="0">
              <a:buNone/>
            </a:pPr>
            <a:r>
              <a:rPr lang="en-US" sz="1250" dirty="0">
                <a:solidFill>
                  <a:srgbClr val="1B2333"/>
                </a:solidFill>
                <a:latin typeface="Calibri" pitchFamily="34" charset="0"/>
                <a:ea typeface="Calibri" pitchFamily="34" charset="-122"/>
                <a:cs typeface="Calibri" pitchFamily="34" charset="-120"/>
              </a:rPr>
              <a:t>Falls from 4.2 to 1.5 on 21 Sep 2018</a:t>
            </a:r>
            <a:endParaRPr lang="en-US" sz="1250" dirty="0"/>
          </a:p>
        </p:txBody>
      </p:sp>
      <p:sp>
        <p:nvSpPr>
          <p:cNvPr id="14" name="Shape 12"/>
          <p:cNvSpPr/>
          <p:nvPr/>
        </p:nvSpPr>
        <p:spPr>
          <a:xfrm>
            <a:off x="7132320" y="1874520"/>
            <a:ext cx="4407408" cy="978408"/>
          </a:xfrm>
          <a:prstGeom prst="roundRect">
            <a:avLst>
              <a:gd name="adj" fmla="val 7477"/>
            </a:avLst>
          </a:prstGeom>
          <a:solidFill>
            <a:srgbClr val="EEF2F8"/>
          </a:solidFill>
          <a:ln w="12700">
            <a:solidFill>
              <a:srgbClr val="EEF2F8"/>
            </a:solidFill>
            <a:prstDash val="solid"/>
          </a:ln>
        </p:spPr>
      </p:sp>
      <p:sp>
        <p:nvSpPr>
          <p:cNvPr id="15" name="Text 13"/>
          <p:cNvSpPr txBox="1"/>
          <p:nvPr/>
        </p:nvSpPr>
        <p:spPr>
          <a:xfrm>
            <a:off x="7269480" y="1984248"/>
            <a:ext cx="4160520" cy="868680"/>
          </a:xfrm>
          <a:prstGeom prst="rect">
            <a:avLst/>
          </a:prstGeom>
          <a:noFill/>
          <a:ln/>
        </p:spPr>
        <p:txBody>
          <a:bodyPr wrap="square" lIns="0" tIns="0" rIns="0" bIns="0" rtlCol="0" anchor="ctr"/>
          <a:lstStyle/>
          <a:p>
            <a:pPr indent="0" marL="0">
              <a:buNone/>
            </a:pPr>
            <a:r>
              <a:rPr lang="en-US" sz="1250" dirty="0">
                <a:solidFill>
                  <a:srgbClr val="1B2333"/>
                </a:solidFill>
                <a:latin typeface="Calibri" pitchFamily="34" charset="0"/>
                <a:ea typeface="Calibri" pitchFamily="34" charset="-122"/>
                <a:cs typeface="Calibri" pitchFamily="34" charset="-120"/>
              </a:rPr>
              <a:t>CARE watch +10d · ICRA watch +57d · first downgrades +68d</a:t>
            </a:r>
            <a:endParaRPr lang="en-US" sz="1250" dirty="0"/>
          </a:p>
        </p:txBody>
      </p:sp>
      <p:sp>
        <p:nvSpPr>
          <p:cNvPr id="16" name="Shape 14"/>
          <p:cNvSpPr/>
          <p:nvPr/>
        </p:nvSpPr>
        <p:spPr>
          <a:xfrm>
            <a:off x="548640" y="2926080"/>
            <a:ext cx="2304288" cy="978408"/>
          </a:xfrm>
          <a:prstGeom prst="roundRect">
            <a:avLst>
              <a:gd name="adj" fmla="val 7477"/>
            </a:avLst>
          </a:prstGeom>
          <a:solidFill>
            <a:srgbClr val="FFFFFF"/>
          </a:solidFill>
          <a:ln w="12700">
            <a:solidFill>
              <a:srgbClr val="FFFFFF"/>
            </a:solidFill>
            <a:prstDash val="solid"/>
          </a:ln>
        </p:spPr>
      </p:sp>
      <p:sp>
        <p:nvSpPr>
          <p:cNvPr id="17" name="Text 15"/>
          <p:cNvSpPr txBox="1"/>
          <p:nvPr/>
        </p:nvSpPr>
        <p:spPr>
          <a:xfrm>
            <a:off x="685800" y="3035808"/>
            <a:ext cx="2057400" cy="868680"/>
          </a:xfrm>
          <a:prstGeom prst="rect">
            <a:avLst/>
          </a:prstGeom>
          <a:noFill/>
          <a:ln/>
        </p:spPr>
        <p:txBody>
          <a:bodyPr wrap="square" lIns="0" tIns="0" rIns="0" bIns="0" rtlCol="0" anchor="ctr"/>
          <a:lstStyle/>
          <a:p>
            <a:pPr indent="0" marL="0">
              <a:buNone/>
            </a:pPr>
            <a:r>
              <a:rPr lang="en-US" sz="1250" dirty="0">
                <a:solidFill>
                  <a:srgbClr val="1B2333"/>
                </a:solidFill>
                <a:latin typeface="Calibri" pitchFamily="34" charset="0"/>
                <a:ea typeface="Calibri" pitchFamily="34" charset="-122"/>
                <a:cs typeface="Calibri" pitchFamily="34" charset="-120"/>
              </a:rPr>
              <a:t>Q4 FY19 loss</a:t>
            </a:r>
            <a:endParaRPr lang="en-US" sz="1250" dirty="0"/>
          </a:p>
          <a:p>
            <a:pPr indent="0" marL="0">
              <a:buNone/>
            </a:pPr>
            <a:r>
              <a:rPr lang="en-US" sz="1250" dirty="0">
                <a:solidFill>
                  <a:srgbClr val="1B2333"/>
                </a:solidFill>
                <a:latin typeface="Calibri" pitchFamily="34" charset="0"/>
                <a:ea typeface="Calibri" pitchFamily="34" charset="-122"/>
                <a:cs typeface="Calibri" pitchFamily="34" charset="-120"/>
              </a:rPr>
              <a:t>(Apr 2019)</a:t>
            </a:r>
            <a:endParaRPr lang="en-US" sz="1250" dirty="0"/>
          </a:p>
        </p:txBody>
      </p:sp>
      <p:sp>
        <p:nvSpPr>
          <p:cNvPr id="18" name="Shape 16"/>
          <p:cNvSpPr/>
          <p:nvPr/>
        </p:nvSpPr>
        <p:spPr>
          <a:xfrm>
            <a:off x="2926080" y="2926080"/>
            <a:ext cx="4133088" cy="978408"/>
          </a:xfrm>
          <a:prstGeom prst="roundRect">
            <a:avLst>
              <a:gd name="adj" fmla="val 7477"/>
            </a:avLst>
          </a:prstGeom>
          <a:solidFill>
            <a:srgbClr val="FFFFFF"/>
          </a:solidFill>
          <a:ln w="12700">
            <a:solidFill>
              <a:srgbClr val="FFFFFF"/>
            </a:solidFill>
            <a:prstDash val="solid"/>
          </a:ln>
        </p:spPr>
      </p:sp>
      <p:sp>
        <p:nvSpPr>
          <p:cNvPr id="19" name="Text 17"/>
          <p:cNvSpPr txBox="1"/>
          <p:nvPr/>
        </p:nvSpPr>
        <p:spPr>
          <a:xfrm>
            <a:off x="3063240" y="3035808"/>
            <a:ext cx="3886200" cy="868680"/>
          </a:xfrm>
          <a:prstGeom prst="rect">
            <a:avLst/>
          </a:prstGeom>
          <a:noFill/>
          <a:ln/>
        </p:spPr>
        <p:txBody>
          <a:bodyPr wrap="square" lIns="0" tIns="0" rIns="0" bIns="0" rtlCol="0" anchor="ctr"/>
          <a:lstStyle/>
          <a:p>
            <a:pPr indent="0" marL="0">
              <a:buNone/>
            </a:pPr>
            <a:r>
              <a:rPr lang="en-US" sz="1250" dirty="0">
                <a:solidFill>
                  <a:srgbClr val="1B2333"/>
                </a:solidFill>
                <a:latin typeface="Calibri" pitchFamily="34" charset="0"/>
                <a:ea typeface="Calibri" pitchFamily="34" charset="-122"/>
                <a:cs typeface="Calibri" pitchFamily="34" charset="-120"/>
              </a:rPr>
              <a:t>1.9 → 0.9 on 30 Apr 2019</a:t>
            </a:r>
            <a:endParaRPr lang="en-US" sz="1250" dirty="0"/>
          </a:p>
        </p:txBody>
      </p:sp>
      <p:sp>
        <p:nvSpPr>
          <p:cNvPr id="20" name="Shape 18"/>
          <p:cNvSpPr/>
          <p:nvPr/>
        </p:nvSpPr>
        <p:spPr>
          <a:xfrm>
            <a:off x="7132320" y="2926080"/>
            <a:ext cx="4407408" cy="978408"/>
          </a:xfrm>
          <a:prstGeom prst="roundRect">
            <a:avLst>
              <a:gd name="adj" fmla="val 7477"/>
            </a:avLst>
          </a:prstGeom>
          <a:solidFill>
            <a:srgbClr val="FFFFFF"/>
          </a:solidFill>
          <a:ln w="12700">
            <a:solidFill>
              <a:srgbClr val="FFFFFF"/>
            </a:solidFill>
            <a:prstDash val="solid"/>
          </a:ln>
        </p:spPr>
      </p:sp>
      <p:sp>
        <p:nvSpPr>
          <p:cNvPr id="21" name="Text 19"/>
          <p:cNvSpPr txBox="1"/>
          <p:nvPr/>
        </p:nvSpPr>
        <p:spPr>
          <a:xfrm>
            <a:off x="7269480" y="3035808"/>
            <a:ext cx="4160520" cy="868680"/>
          </a:xfrm>
          <a:prstGeom prst="rect">
            <a:avLst/>
          </a:prstGeom>
          <a:noFill/>
          <a:ln/>
        </p:spPr>
        <p:txBody>
          <a:bodyPr wrap="square" lIns="0" tIns="0" rIns="0" bIns="0" rtlCol="0" anchor="ctr"/>
          <a:lstStyle/>
          <a:p>
            <a:pPr indent="0" marL="0">
              <a:buNone/>
            </a:pPr>
            <a:r>
              <a:rPr lang="en-US" sz="1250" dirty="0">
                <a:solidFill>
                  <a:srgbClr val="1B2333"/>
                </a:solidFill>
                <a:latin typeface="Calibri" pitchFamily="34" charset="0"/>
                <a:ea typeface="Calibri" pitchFamily="34" charset="-122"/>
                <a:cs typeface="Calibri" pitchFamily="34" charset="-120"/>
              </a:rPr>
              <a:t>ICRA downgrade +3d · India Ratings +8d</a:t>
            </a:r>
            <a:endParaRPr lang="en-US" sz="1250" dirty="0"/>
          </a:p>
        </p:txBody>
      </p:sp>
      <p:sp>
        <p:nvSpPr>
          <p:cNvPr id="22" name="Shape 20"/>
          <p:cNvSpPr/>
          <p:nvPr/>
        </p:nvSpPr>
        <p:spPr>
          <a:xfrm>
            <a:off x="548640" y="3977640"/>
            <a:ext cx="2304288" cy="978408"/>
          </a:xfrm>
          <a:prstGeom prst="roundRect">
            <a:avLst>
              <a:gd name="adj" fmla="val 7477"/>
            </a:avLst>
          </a:prstGeom>
          <a:solidFill>
            <a:srgbClr val="EEF2F8"/>
          </a:solidFill>
          <a:ln w="12700">
            <a:solidFill>
              <a:srgbClr val="EEF2F8"/>
            </a:solidFill>
            <a:prstDash val="solid"/>
          </a:ln>
        </p:spPr>
      </p:sp>
      <p:sp>
        <p:nvSpPr>
          <p:cNvPr id="23" name="Text 21"/>
          <p:cNvSpPr txBox="1"/>
          <p:nvPr/>
        </p:nvSpPr>
        <p:spPr>
          <a:xfrm>
            <a:off x="685800" y="4087368"/>
            <a:ext cx="2057400" cy="868680"/>
          </a:xfrm>
          <a:prstGeom prst="rect">
            <a:avLst/>
          </a:prstGeom>
          <a:noFill/>
          <a:ln/>
        </p:spPr>
        <p:txBody>
          <a:bodyPr wrap="square" lIns="0" tIns="0" rIns="0" bIns="0" rtlCol="0" anchor="ctr"/>
          <a:lstStyle/>
          <a:p>
            <a:pPr indent="0" marL="0">
              <a:buNone/>
            </a:pPr>
            <a:r>
              <a:rPr lang="en-US" sz="1250" dirty="0">
                <a:solidFill>
                  <a:srgbClr val="1B2333"/>
                </a:solidFill>
                <a:latin typeface="Calibri" pitchFamily="34" charset="0"/>
                <a:ea typeface="Calibri" pitchFamily="34" charset="-122"/>
                <a:cs typeface="Calibri" pitchFamily="34" charset="-120"/>
              </a:rPr>
              <a:t>Slide into FY19</a:t>
            </a:r>
            <a:endParaRPr lang="en-US" sz="1250" dirty="0"/>
          </a:p>
          <a:p>
            <a:pPr indent="0" marL="0">
              <a:buNone/>
            </a:pPr>
            <a:r>
              <a:rPr lang="en-US" sz="1250" dirty="0">
                <a:solidFill>
                  <a:srgbClr val="1B2333"/>
                </a:solidFill>
                <a:latin typeface="Calibri" pitchFamily="34" charset="0"/>
                <a:ea typeface="Calibri" pitchFamily="34" charset="-122"/>
                <a:cs typeface="Calibri" pitchFamily="34" charset="-120"/>
              </a:rPr>
              <a:t>divergence (2019)</a:t>
            </a:r>
            <a:endParaRPr lang="en-US" sz="1250" dirty="0"/>
          </a:p>
        </p:txBody>
      </p:sp>
      <p:sp>
        <p:nvSpPr>
          <p:cNvPr id="24" name="Shape 22"/>
          <p:cNvSpPr/>
          <p:nvPr/>
        </p:nvSpPr>
        <p:spPr>
          <a:xfrm>
            <a:off x="2926080" y="3977640"/>
            <a:ext cx="4133088" cy="978408"/>
          </a:xfrm>
          <a:prstGeom prst="roundRect">
            <a:avLst>
              <a:gd name="adj" fmla="val 7477"/>
            </a:avLst>
          </a:prstGeom>
          <a:solidFill>
            <a:srgbClr val="EEF2F8"/>
          </a:solidFill>
          <a:ln w="12700">
            <a:solidFill>
              <a:srgbClr val="EEF2F8"/>
            </a:solidFill>
            <a:prstDash val="solid"/>
          </a:ln>
        </p:spPr>
      </p:sp>
      <p:sp>
        <p:nvSpPr>
          <p:cNvPr id="25" name="Text 23"/>
          <p:cNvSpPr txBox="1"/>
          <p:nvPr/>
        </p:nvSpPr>
        <p:spPr>
          <a:xfrm>
            <a:off x="3063240" y="4087368"/>
            <a:ext cx="3886200" cy="868680"/>
          </a:xfrm>
          <a:prstGeom prst="rect">
            <a:avLst/>
          </a:prstGeom>
          <a:noFill/>
          <a:ln/>
        </p:spPr>
        <p:txBody>
          <a:bodyPr wrap="square" lIns="0" tIns="0" rIns="0" bIns="0" rtlCol="0" anchor="ctr"/>
          <a:lstStyle/>
          <a:p>
            <a:pPr indent="0" marL="0">
              <a:buNone/>
            </a:pPr>
            <a:r>
              <a:rPr lang="en-US" sz="1250" dirty="0">
                <a:solidFill>
                  <a:srgbClr val="1B2333"/>
                </a:solidFill>
                <a:latin typeface="Calibri" pitchFamily="34" charset="0"/>
                <a:ea typeface="Calibri" pitchFamily="34" charset="-122"/>
                <a:cs typeface="Calibri" pitchFamily="34" charset="-120"/>
              </a:rPr>
              <a:t>First below 0.5 on 3 Oct; low of 0.15 on 5 Nov</a:t>
            </a:r>
            <a:endParaRPr lang="en-US" sz="1250" dirty="0"/>
          </a:p>
        </p:txBody>
      </p:sp>
      <p:sp>
        <p:nvSpPr>
          <p:cNvPr id="26" name="Shape 24"/>
          <p:cNvSpPr/>
          <p:nvPr/>
        </p:nvSpPr>
        <p:spPr>
          <a:xfrm>
            <a:off x="7132320" y="3977640"/>
            <a:ext cx="4407408" cy="978408"/>
          </a:xfrm>
          <a:prstGeom prst="roundRect">
            <a:avLst>
              <a:gd name="adj" fmla="val 7477"/>
            </a:avLst>
          </a:prstGeom>
          <a:solidFill>
            <a:srgbClr val="EEF2F8"/>
          </a:solidFill>
          <a:ln w="12700">
            <a:solidFill>
              <a:srgbClr val="EEF2F8"/>
            </a:solidFill>
            <a:prstDash val="solid"/>
          </a:ln>
        </p:spPr>
      </p:sp>
      <p:sp>
        <p:nvSpPr>
          <p:cNvPr id="27" name="Text 25"/>
          <p:cNvSpPr txBox="1"/>
          <p:nvPr/>
        </p:nvSpPr>
        <p:spPr>
          <a:xfrm>
            <a:off x="7269480" y="4087368"/>
            <a:ext cx="4160520" cy="868680"/>
          </a:xfrm>
          <a:prstGeom prst="rect">
            <a:avLst/>
          </a:prstGeom>
          <a:noFill/>
          <a:ln/>
        </p:spPr>
        <p:txBody>
          <a:bodyPr wrap="square" lIns="0" tIns="0" rIns="0" bIns="0" rtlCol="0" anchor="ctr"/>
          <a:lstStyle/>
          <a:p>
            <a:pPr indent="0" marL="0">
              <a:buNone/>
            </a:pPr>
            <a:r>
              <a:rPr lang="en-US" sz="1250" dirty="0">
                <a:solidFill>
                  <a:srgbClr val="1B2333"/>
                </a:solidFill>
                <a:latin typeface="Calibri" pitchFamily="34" charset="0"/>
                <a:ea typeface="Calibri" pitchFamily="34" charset="-122"/>
                <a:cs typeface="Calibri" pitchFamily="34" charset="-120"/>
              </a:rPr>
              <a:t>CARE cut +42d · India Ratings +77d</a:t>
            </a:r>
            <a:endParaRPr lang="en-US" sz="1250" dirty="0"/>
          </a:p>
        </p:txBody>
      </p:sp>
      <p:sp>
        <p:nvSpPr>
          <p:cNvPr id="28" name="Shape 26"/>
          <p:cNvSpPr/>
          <p:nvPr/>
        </p:nvSpPr>
        <p:spPr>
          <a:xfrm>
            <a:off x="548640" y="5029200"/>
            <a:ext cx="2304288" cy="978408"/>
          </a:xfrm>
          <a:prstGeom prst="roundRect">
            <a:avLst>
              <a:gd name="adj" fmla="val 7477"/>
            </a:avLst>
          </a:prstGeom>
          <a:solidFill>
            <a:srgbClr val="FFFFFF"/>
          </a:solidFill>
          <a:ln w="12700">
            <a:solidFill>
              <a:srgbClr val="FFFFFF"/>
            </a:solidFill>
            <a:prstDash val="solid"/>
          </a:ln>
        </p:spPr>
      </p:sp>
      <p:sp>
        <p:nvSpPr>
          <p:cNvPr id="29" name="Text 27"/>
          <p:cNvSpPr txBox="1"/>
          <p:nvPr/>
        </p:nvSpPr>
        <p:spPr>
          <a:xfrm>
            <a:off x="685800" y="5138928"/>
            <a:ext cx="2057400" cy="868680"/>
          </a:xfrm>
          <a:prstGeom prst="rect">
            <a:avLst/>
          </a:prstGeom>
          <a:noFill/>
          <a:ln/>
        </p:spPr>
        <p:txBody>
          <a:bodyPr wrap="square" lIns="0" tIns="0" rIns="0" bIns="0" rtlCol="0" anchor="ctr"/>
          <a:lstStyle/>
          <a:p>
            <a:pPr indent="0" marL="0">
              <a:buNone/>
            </a:pPr>
            <a:r>
              <a:rPr lang="en-US" sz="1250" dirty="0">
                <a:solidFill>
                  <a:srgbClr val="1B2333"/>
                </a:solidFill>
                <a:latin typeface="Calibri" pitchFamily="34" charset="0"/>
                <a:ea typeface="Calibri" pitchFamily="34" charset="-122"/>
                <a:cs typeface="Calibri" pitchFamily="34" charset="-120"/>
              </a:rPr>
              <a:t>Moratorium</a:t>
            </a:r>
            <a:endParaRPr lang="en-US" sz="1250" dirty="0"/>
          </a:p>
          <a:p>
            <a:pPr indent="0" marL="0">
              <a:buNone/>
            </a:pPr>
            <a:r>
              <a:rPr lang="en-US" sz="1250" dirty="0">
                <a:solidFill>
                  <a:srgbClr val="1B2333"/>
                </a:solidFill>
                <a:latin typeface="Calibri" pitchFamily="34" charset="0"/>
                <a:ea typeface="Calibri" pitchFamily="34" charset="-122"/>
                <a:cs typeface="Calibri" pitchFamily="34" charset="-120"/>
              </a:rPr>
              <a:t>(Mar 2020)</a:t>
            </a:r>
            <a:endParaRPr lang="en-US" sz="1250" dirty="0"/>
          </a:p>
        </p:txBody>
      </p:sp>
      <p:sp>
        <p:nvSpPr>
          <p:cNvPr id="30" name="Shape 28"/>
          <p:cNvSpPr/>
          <p:nvPr/>
        </p:nvSpPr>
        <p:spPr>
          <a:xfrm>
            <a:off x="2926080" y="5029200"/>
            <a:ext cx="4133088" cy="978408"/>
          </a:xfrm>
          <a:prstGeom prst="roundRect">
            <a:avLst>
              <a:gd name="adj" fmla="val 7477"/>
            </a:avLst>
          </a:prstGeom>
          <a:solidFill>
            <a:srgbClr val="FFFFFF"/>
          </a:solidFill>
          <a:ln w="12700">
            <a:solidFill>
              <a:srgbClr val="FFFFFF"/>
            </a:solidFill>
            <a:prstDash val="solid"/>
          </a:ln>
        </p:spPr>
      </p:sp>
      <p:sp>
        <p:nvSpPr>
          <p:cNvPr id="31" name="Text 29"/>
          <p:cNvSpPr txBox="1"/>
          <p:nvPr/>
        </p:nvSpPr>
        <p:spPr>
          <a:xfrm>
            <a:off x="3063240" y="5138928"/>
            <a:ext cx="3886200" cy="868680"/>
          </a:xfrm>
          <a:prstGeom prst="rect">
            <a:avLst/>
          </a:prstGeom>
          <a:noFill/>
          <a:ln/>
        </p:spPr>
        <p:txBody>
          <a:bodyPr wrap="square" lIns="0" tIns="0" rIns="0" bIns="0" rtlCol="0" anchor="ctr"/>
          <a:lstStyle/>
          <a:p>
            <a:pPr indent="0" marL="0">
              <a:buNone/>
            </a:pPr>
            <a:r>
              <a:rPr lang="en-US" sz="1250" dirty="0">
                <a:solidFill>
                  <a:srgbClr val="1B2333"/>
                </a:solidFill>
                <a:latin typeface="Calibri" pitchFamily="34" charset="0"/>
                <a:ea typeface="Calibri" pitchFamily="34" charset="-122"/>
                <a:cs typeface="Calibri" pitchFamily="34" charset="-120"/>
              </a:rPr>
              <a:t>3.45 on 4 Mar — highest since Sep 2018</a:t>
            </a:r>
            <a:endParaRPr lang="en-US" sz="1250" dirty="0"/>
          </a:p>
        </p:txBody>
      </p:sp>
      <p:sp>
        <p:nvSpPr>
          <p:cNvPr id="32" name="Shape 30"/>
          <p:cNvSpPr/>
          <p:nvPr/>
        </p:nvSpPr>
        <p:spPr>
          <a:xfrm>
            <a:off x="7132320" y="5029200"/>
            <a:ext cx="4407408" cy="978408"/>
          </a:xfrm>
          <a:prstGeom prst="roundRect">
            <a:avLst>
              <a:gd name="adj" fmla="val 7477"/>
            </a:avLst>
          </a:prstGeom>
          <a:solidFill>
            <a:srgbClr val="FFFFFF"/>
          </a:solidFill>
          <a:ln w="12700">
            <a:solidFill>
              <a:srgbClr val="FFFFFF"/>
            </a:solidFill>
            <a:prstDash val="solid"/>
          </a:ln>
        </p:spPr>
      </p:sp>
      <p:sp>
        <p:nvSpPr>
          <p:cNvPr id="33" name="Text 31"/>
          <p:cNvSpPr txBox="1"/>
          <p:nvPr/>
        </p:nvSpPr>
        <p:spPr>
          <a:xfrm>
            <a:off x="7269480" y="5138928"/>
            <a:ext cx="4160520" cy="868680"/>
          </a:xfrm>
          <a:prstGeom prst="rect">
            <a:avLst/>
          </a:prstGeom>
          <a:noFill/>
          <a:ln/>
        </p:spPr>
        <p:txBody>
          <a:bodyPr wrap="square" lIns="0" tIns="0" rIns="0" bIns="0" rtlCol="0" anchor="ctr"/>
          <a:lstStyle/>
          <a:p>
            <a:pPr indent="0" marL="0">
              <a:buNone/>
            </a:pPr>
            <a:r>
              <a:rPr lang="en-US" sz="1250" dirty="0">
                <a:solidFill>
                  <a:srgbClr val="1B2333"/>
                </a:solidFill>
                <a:latin typeface="Calibri" pitchFamily="34" charset="0"/>
                <a:ea typeface="Calibri" pitchFamily="34" charset="-122"/>
                <a:cs typeface="Calibri" pitchFamily="34" charset="-120"/>
              </a:rPr>
              <a:t>RBI acts 5 Mar · ICRA [ICRA] D on 6 Mar</a:t>
            </a:r>
            <a:endParaRPr lang="en-US" sz="1250" dirty="0"/>
          </a:p>
        </p:txBody>
      </p:sp>
      <p:sp>
        <p:nvSpPr>
          <p:cNvPr id="34" name="Text 32"/>
          <p:cNvSpPr txBox="1"/>
          <p:nvPr/>
        </p:nvSpPr>
        <p:spPr>
          <a:xfrm>
            <a:off x="11521440" y="6510528"/>
            <a:ext cx="548640" cy="274320"/>
          </a:xfrm>
          <a:prstGeom prst="rect">
            <a:avLst/>
          </a:prstGeom>
          <a:noFill/>
          <a:ln/>
        </p:spPr>
        <p:txBody>
          <a:bodyPr wrap="square" lIns="0" tIns="0" rIns="0" bIns="0" rtlCol="0" anchor="t"/>
          <a:lstStyle/>
          <a:p>
            <a:pPr algn="r" indent="0" marL="0">
              <a:buNone/>
            </a:pPr>
            <a:r>
              <a:rPr lang="en-US" sz="1000" dirty="0">
                <a:solidFill>
                  <a:srgbClr val="B8BFCC"/>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320040"/>
          </a:xfrm>
          <a:prstGeom prst="rect">
            <a:avLst/>
          </a:prstGeom>
          <a:noFill/>
          <a:ln/>
        </p:spPr>
        <p:txBody>
          <a:bodyPr wrap="square" lIns="0" tIns="0" rIns="0" bIns="0" rtlCol="0" anchor="t"/>
          <a:lstStyle/>
          <a:p>
            <a:pPr indent="0" marL="0">
              <a:buNone/>
            </a:pPr>
            <a:r>
              <a:rPr lang="en-US" sz="1200" b="1" spc="200" kern="0" dirty="0">
                <a:solidFill>
                  <a:srgbClr val="1F8A7A"/>
                </a:solidFill>
                <a:latin typeface="Calibri" pitchFamily="34" charset="0"/>
                <a:ea typeface="Calibri" pitchFamily="34" charset="-122"/>
                <a:cs typeface="Calibri" pitchFamily="34" charset="-120"/>
              </a:rPr>
              <a:t>05 — THE CASE — VERIFIED RECORD</a:t>
            </a:r>
            <a:endParaRPr lang="en-US" sz="1200" dirty="0"/>
          </a:p>
        </p:txBody>
      </p:sp>
      <p:sp>
        <p:nvSpPr>
          <p:cNvPr id="3" name="Text 1"/>
          <p:cNvSpPr txBox="1"/>
          <p:nvPr/>
        </p:nvSpPr>
        <p:spPr>
          <a:xfrm>
            <a:off x="548640" y="457200"/>
            <a:ext cx="11064240" cy="731520"/>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The agencies weren't frozen — just consistently late</a:t>
            </a:r>
            <a:endParaRPr lang="en-US" sz="2900" dirty="0"/>
          </a:p>
        </p:txBody>
      </p:sp>
      <p:sp>
        <p:nvSpPr>
          <p:cNvPr id="4" name="Text 2"/>
          <p:cNvSpPr txBox="1"/>
          <p:nvPr/>
        </p:nvSpPr>
        <p:spPr>
          <a:xfrm>
            <a:off x="548640" y="1188720"/>
            <a:ext cx="11064240" cy="548640"/>
          </a:xfrm>
          <a:prstGeom prst="rect">
            <a:avLst/>
          </a:prstGeom>
          <a:noFill/>
          <a:ln/>
        </p:spPr>
        <p:txBody>
          <a:bodyPr wrap="square" lIns="0" tIns="0" rIns="0" bIns="0" rtlCol="0" anchor="t"/>
          <a:lstStyle/>
          <a:p>
            <a:pPr indent="0" marL="0">
              <a:buNone/>
            </a:pPr>
            <a:r>
              <a:rPr lang="en-US" sz="1450" dirty="0">
                <a:solidFill>
                  <a:srgbClr val="5B6577"/>
                </a:solidFill>
                <a:latin typeface="Calibri" pitchFamily="34" charset="0"/>
                <a:ea typeface="Calibri" pitchFamily="34" charset="-122"/>
                <a:cs typeface="Calibri" pitchFamily="34" charset="-120"/>
              </a:rPr>
              <a:t>On re-verification I found three India Ratings downgrades missing from my first draft. Across 2018–2020 the agencies acted seven separate times — each one behind my computed DD series.</a:t>
            </a:r>
            <a:endParaRPr lang="en-US" sz="1450" dirty="0"/>
          </a:p>
        </p:txBody>
      </p:sp>
      <p:sp>
        <p:nvSpPr>
          <p:cNvPr id="5" name="Shape 3"/>
          <p:cNvSpPr/>
          <p:nvPr/>
        </p:nvSpPr>
        <p:spPr>
          <a:xfrm>
            <a:off x="548640" y="2103120"/>
            <a:ext cx="1470878" cy="2651760"/>
          </a:xfrm>
          <a:prstGeom prst="roundRect">
            <a:avLst>
              <a:gd name="adj" fmla="val 4973"/>
            </a:avLst>
          </a:prstGeom>
          <a:solidFill>
            <a:srgbClr val="FFFFFF"/>
          </a:solidFill>
          <a:ln w="12700">
            <a:solidFill>
              <a:srgbClr val="FFFFFF"/>
            </a:solidFill>
            <a:prstDash val="solid"/>
          </a:ln>
        </p:spPr>
      </p:sp>
      <p:sp>
        <p:nvSpPr>
          <p:cNvPr id="6" name="Shape 4"/>
          <p:cNvSpPr/>
          <p:nvPr/>
        </p:nvSpPr>
        <p:spPr>
          <a:xfrm>
            <a:off x="1256647" y="2286000"/>
            <a:ext cx="164592" cy="164592"/>
          </a:xfrm>
          <a:prstGeom prst="ellipse">
            <a:avLst/>
          </a:prstGeom>
          <a:solidFill>
            <a:srgbClr val="3B6EA8"/>
          </a:solidFill>
          <a:ln w="12700">
            <a:solidFill>
              <a:srgbClr val="3B6EA8"/>
            </a:solidFill>
            <a:prstDash val="solid"/>
          </a:ln>
        </p:spPr>
      </p:sp>
      <p:sp>
        <p:nvSpPr>
          <p:cNvPr id="7" name="Text 5"/>
          <p:cNvSpPr txBox="1"/>
          <p:nvPr/>
        </p:nvSpPr>
        <p:spPr>
          <a:xfrm>
            <a:off x="621792" y="2606040"/>
            <a:ext cx="1324574" cy="822960"/>
          </a:xfrm>
          <a:prstGeom prst="rect">
            <a:avLst/>
          </a:prstGeom>
          <a:noFill/>
          <a:ln/>
        </p:spPr>
        <p:txBody>
          <a:bodyPr wrap="square" lIns="0" tIns="0" rIns="0" bIns="0" rtlCol="0" anchor="t"/>
          <a:lstStyle/>
          <a:p>
            <a:pPr algn="ctr" indent="0" marL="0">
              <a:buNone/>
            </a:pPr>
            <a:r>
              <a:rPr lang="en-US" sz="1300" b="1" dirty="0">
                <a:solidFill>
                  <a:srgbClr val="14213D"/>
                </a:solidFill>
                <a:latin typeface="Cambria" pitchFamily="34" charset="0"/>
                <a:ea typeface="Cambria" pitchFamily="34" charset="-122"/>
                <a:cs typeface="Cambria" pitchFamily="34" charset="-120"/>
              </a:rPr>
              <a:t>1 Oct 2018</a:t>
            </a:r>
            <a:endParaRPr lang="en-US" sz="1300" dirty="0"/>
          </a:p>
        </p:txBody>
      </p:sp>
      <p:sp>
        <p:nvSpPr>
          <p:cNvPr id="8" name="Text 6"/>
          <p:cNvSpPr txBox="1"/>
          <p:nvPr/>
        </p:nvSpPr>
        <p:spPr>
          <a:xfrm>
            <a:off x="621792" y="3291840"/>
            <a:ext cx="1324574" cy="1280160"/>
          </a:xfrm>
          <a:prstGeom prst="rect">
            <a:avLst/>
          </a:prstGeom>
          <a:noFill/>
          <a:ln/>
        </p:spPr>
        <p:txBody>
          <a:bodyPr wrap="square" lIns="0" tIns="0" rIns="0" bIns="0" rtlCol="0" anchor="t"/>
          <a:lstStyle/>
          <a:p>
            <a:pPr algn="ctr" indent="0" marL="0">
              <a:buNone/>
            </a:pPr>
            <a:r>
              <a:rPr lang="en-US" sz="1050" dirty="0">
                <a:solidFill>
                  <a:srgbClr val="1B2333"/>
                </a:solidFill>
                <a:latin typeface="Calibri" pitchFamily="34" charset="0"/>
                <a:ea typeface="Calibri" pitchFamily="34" charset="-122"/>
                <a:cs typeface="Calibri" pitchFamily="34" charset="-120"/>
              </a:rPr>
              <a:t>CARE → watch (verified)</a:t>
            </a:r>
            <a:endParaRPr lang="en-US" sz="1050" dirty="0"/>
          </a:p>
        </p:txBody>
      </p:sp>
      <p:sp>
        <p:nvSpPr>
          <p:cNvPr id="9" name="Shape 7"/>
          <p:cNvSpPr/>
          <p:nvPr/>
        </p:nvSpPr>
        <p:spPr>
          <a:xfrm>
            <a:off x="2129246" y="2103120"/>
            <a:ext cx="1470878" cy="2651760"/>
          </a:xfrm>
          <a:prstGeom prst="roundRect">
            <a:avLst>
              <a:gd name="adj" fmla="val 4973"/>
            </a:avLst>
          </a:prstGeom>
          <a:solidFill>
            <a:srgbClr val="EEF2F8"/>
          </a:solidFill>
          <a:ln w="12700">
            <a:solidFill>
              <a:srgbClr val="EEF2F8"/>
            </a:solidFill>
            <a:prstDash val="solid"/>
          </a:ln>
        </p:spPr>
      </p:sp>
      <p:sp>
        <p:nvSpPr>
          <p:cNvPr id="10" name="Shape 8"/>
          <p:cNvSpPr/>
          <p:nvPr/>
        </p:nvSpPr>
        <p:spPr>
          <a:xfrm>
            <a:off x="2837253" y="2286000"/>
            <a:ext cx="164592" cy="164592"/>
          </a:xfrm>
          <a:prstGeom prst="ellipse">
            <a:avLst/>
          </a:prstGeom>
          <a:solidFill>
            <a:srgbClr val="3B6EA8"/>
          </a:solidFill>
          <a:ln w="12700">
            <a:solidFill>
              <a:srgbClr val="3B6EA8"/>
            </a:solidFill>
            <a:prstDash val="solid"/>
          </a:ln>
        </p:spPr>
      </p:sp>
      <p:sp>
        <p:nvSpPr>
          <p:cNvPr id="11" name="Text 9"/>
          <p:cNvSpPr txBox="1"/>
          <p:nvPr/>
        </p:nvSpPr>
        <p:spPr>
          <a:xfrm>
            <a:off x="2202398" y="2606040"/>
            <a:ext cx="1324574" cy="822960"/>
          </a:xfrm>
          <a:prstGeom prst="rect">
            <a:avLst/>
          </a:prstGeom>
          <a:noFill/>
          <a:ln/>
        </p:spPr>
        <p:txBody>
          <a:bodyPr wrap="square" lIns="0" tIns="0" rIns="0" bIns="0" rtlCol="0" anchor="t"/>
          <a:lstStyle/>
          <a:p>
            <a:pPr algn="ctr" indent="0" marL="0">
              <a:buNone/>
            </a:pPr>
            <a:r>
              <a:rPr lang="en-US" sz="1300" b="1" dirty="0">
                <a:solidFill>
                  <a:srgbClr val="14213D"/>
                </a:solidFill>
                <a:latin typeface="Cambria" pitchFamily="34" charset="0"/>
                <a:ea typeface="Cambria" pitchFamily="34" charset="-122"/>
                <a:cs typeface="Cambria" pitchFamily="34" charset="-120"/>
              </a:rPr>
              <a:t>28 Nov 2018</a:t>
            </a:r>
            <a:endParaRPr lang="en-US" sz="1300" dirty="0"/>
          </a:p>
        </p:txBody>
      </p:sp>
      <p:sp>
        <p:nvSpPr>
          <p:cNvPr id="12" name="Text 10"/>
          <p:cNvSpPr txBox="1"/>
          <p:nvPr/>
        </p:nvSpPr>
        <p:spPr>
          <a:xfrm>
            <a:off x="2202398" y="3291840"/>
            <a:ext cx="1324574" cy="1280160"/>
          </a:xfrm>
          <a:prstGeom prst="rect">
            <a:avLst/>
          </a:prstGeom>
          <a:noFill/>
          <a:ln/>
        </p:spPr>
        <p:txBody>
          <a:bodyPr wrap="square" lIns="0" tIns="0" rIns="0" bIns="0" rtlCol="0" anchor="t"/>
          <a:lstStyle/>
          <a:p>
            <a:pPr algn="ctr" indent="0" marL="0">
              <a:buNone/>
            </a:pPr>
            <a:r>
              <a:rPr lang="en-US" sz="1050" dirty="0">
                <a:solidFill>
                  <a:srgbClr val="1B2333"/>
                </a:solidFill>
                <a:latin typeface="Calibri" pitchFamily="34" charset="0"/>
                <a:ea typeface="Calibri" pitchFamily="34" charset="-122"/>
                <a:cs typeface="Calibri" pitchFamily="34" charset="-120"/>
              </a:rPr>
              <a:t>ICRA + CARE downgrade</a:t>
            </a:r>
            <a:endParaRPr lang="en-US" sz="1050" dirty="0"/>
          </a:p>
        </p:txBody>
      </p:sp>
      <p:sp>
        <p:nvSpPr>
          <p:cNvPr id="13" name="Shape 11"/>
          <p:cNvSpPr/>
          <p:nvPr/>
        </p:nvSpPr>
        <p:spPr>
          <a:xfrm>
            <a:off x="3709851" y="2103120"/>
            <a:ext cx="1470878" cy="2651760"/>
          </a:xfrm>
          <a:prstGeom prst="roundRect">
            <a:avLst>
              <a:gd name="adj" fmla="val 4973"/>
            </a:avLst>
          </a:prstGeom>
          <a:solidFill>
            <a:srgbClr val="FFFFFF"/>
          </a:solidFill>
          <a:ln w="12700">
            <a:solidFill>
              <a:srgbClr val="FFFFFF"/>
            </a:solidFill>
            <a:prstDash val="solid"/>
          </a:ln>
        </p:spPr>
      </p:sp>
      <p:sp>
        <p:nvSpPr>
          <p:cNvPr id="14" name="Shape 12"/>
          <p:cNvSpPr/>
          <p:nvPr/>
        </p:nvSpPr>
        <p:spPr>
          <a:xfrm>
            <a:off x="4417858" y="2286000"/>
            <a:ext cx="164592" cy="164592"/>
          </a:xfrm>
          <a:prstGeom prst="ellipse">
            <a:avLst/>
          </a:prstGeom>
          <a:solidFill>
            <a:srgbClr val="3B6EA8"/>
          </a:solidFill>
          <a:ln w="12700">
            <a:solidFill>
              <a:srgbClr val="3B6EA8"/>
            </a:solidFill>
            <a:prstDash val="solid"/>
          </a:ln>
        </p:spPr>
      </p:sp>
      <p:sp>
        <p:nvSpPr>
          <p:cNvPr id="15" name="Text 13"/>
          <p:cNvSpPr txBox="1"/>
          <p:nvPr/>
        </p:nvSpPr>
        <p:spPr>
          <a:xfrm>
            <a:off x="3783003" y="2606040"/>
            <a:ext cx="1324574" cy="822960"/>
          </a:xfrm>
          <a:prstGeom prst="rect">
            <a:avLst/>
          </a:prstGeom>
          <a:noFill/>
          <a:ln/>
        </p:spPr>
        <p:txBody>
          <a:bodyPr wrap="square" lIns="0" tIns="0" rIns="0" bIns="0" rtlCol="0" anchor="t"/>
          <a:lstStyle/>
          <a:p>
            <a:pPr algn="ctr" indent="0" marL="0">
              <a:buNone/>
            </a:pPr>
            <a:r>
              <a:rPr lang="en-US" sz="1300" b="1" dirty="0">
                <a:solidFill>
                  <a:srgbClr val="14213D"/>
                </a:solidFill>
                <a:latin typeface="Cambria" pitchFamily="34" charset="0"/>
                <a:ea typeface="Cambria" pitchFamily="34" charset="-122"/>
                <a:cs typeface="Cambria" pitchFamily="34" charset="-120"/>
              </a:rPr>
              <a:t>8 May 2019</a:t>
            </a:r>
            <a:endParaRPr lang="en-US" sz="1300" dirty="0"/>
          </a:p>
        </p:txBody>
      </p:sp>
      <p:sp>
        <p:nvSpPr>
          <p:cNvPr id="16" name="Text 14"/>
          <p:cNvSpPr txBox="1"/>
          <p:nvPr/>
        </p:nvSpPr>
        <p:spPr>
          <a:xfrm>
            <a:off x="3783003" y="3291840"/>
            <a:ext cx="1324574" cy="1280160"/>
          </a:xfrm>
          <a:prstGeom prst="rect">
            <a:avLst/>
          </a:prstGeom>
          <a:noFill/>
          <a:ln/>
        </p:spPr>
        <p:txBody>
          <a:bodyPr wrap="square" lIns="0" tIns="0" rIns="0" bIns="0" rtlCol="0" anchor="t"/>
          <a:lstStyle/>
          <a:p>
            <a:pPr algn="ctr" indent="0" marL="0">
              <a:buNone/>
            </a:pPr>
            <a:r>
              <a:rPr lang="en-US" sz="1050" dirty="0">
                <a:solidFill>
                  <a:srgbClr val="1B2333"/>
                </a:solidFill>
                <a:latin typeface="Calibri" pitchFamily="34" charset="0"/>
                <a:ea typeface="Calibri" pitchFamily="34" charset="-122"/>
                <a:cs typeface="Calibri" pitchFamily="34" charset="-120"/>
              </a:rPr>
              <a:t>India Ratings → AA− (verified)</a:t>
            </a:r>
            <a:endParaRPr lang="en-US" sz="1050" dirty="0"/>
          </a:p>
        </p:txBody>
      </p:sp>
      <p:sp>
        <p:nvSpPr>
          <p:cNvPr id="17" name="Shape 15"/>
          <p:cNvSpPr/>
          <p:nvPr/>
        </p:nvSpPr>
        <p:spPr>
          <a:xfrm>
            <a:off x="5290457" y="2103120"/>
            <a:ext cx="1470878" cy="2651760"/>
          </a:xfrm>
          <a:prstGeom prst="roundRect">
            <a:avLst>
              <a:gd name="adj" fmla="val 4973"/>
            </a:avLst>
          </a:prstGeom>
          <a:solidFill>
            <a:srgbClr val="EEF2F8"/>
          </a:solidFill>
          <a:ln w="12700">
            <a:solidFill>
              <a:srgbClr val="EEF2F8"/>
            </a:solidFill>
            <a:prstDash val="solid"/>
          </a:ln>
        </p:spPr>
      </p:sp>
      <p:sp>
        <p:nvSpPr>
          <p:cNvPr id="18" name="Shape 16"/>
          <p:cNvSpPr/>
          <p:nvPr/>
        </p:nvSpPr>
        <p:spPr>
          <a:xfrm>
            <a:off x="5998464" y="2286000"/>
            <a:ext cx="164592" cy="164592"/>
          </a:xfrm>
          <a:prstGeom prst="ellipse">
            <a:avLst/>
          </a:prstGeom>
          <a:solidFill>
            <a:srgbClr val="3B6EA8"/>
          </a:solidFill>
          <a:ln w="12700">
            <a:solidFill>
              <a:srgbClr val="3B6EA8"/>
            </a:solidFill>
            <a:prstDash val="solid"/>
          </a:ln>
        </p:spPr>
      </p:sp>
      <p:sp>
        <p:nvSpPr>
          <p:cNvPr id="19" name="Text 17"/>
          <p:cNvSpPr txBox="1"/>
          <p:nvPr/>
        </p:nvSpPr>
        <p:spPr>
          <a:xfrm>
            <a:off x="5363609" y="2606040"/>
            <a:ext cx="1324574" cy="822960"/>
          </a:xfrm>
          <a:prstGeom prst="rect">
            <a:avLst/>
          </a:prstGeom>
          <a:noFill/>
          <a:ln/>
        </p:spPr>
        <p:txBody>
          <a:bodyPr wrap="square" lIns="0" tIns="0" rIns="0" bIns="0" rtlCol="0" anchor="t"/>
          <a:lstStyle/>
          <a:p>
            <a:pPr algn="ctr" indent="0" marL="0">
              <a:buNone/>
            </a:pPr>
            <a:r>
              <a:rPr lang="en-US" sz="1300" b="1" dirty="0">
                <a:solidFill>
                  <a:srgbClr val="14213D"/>
                </a:solidFill>
                <a:latin typeface="Cambria" pitchFamily="34" charset="0"/>
                <a:ea typeface="Cambria" pitchFamily="34" charset="-122"/>
                <a:cs typeface="Cambria" pitchFamily="34" charset="-120"/>
              </a:rPr>
              <a:t>31 Aug 2019</a:t>
            </a:r>
            <a:endParaRPr lang="en-US" sz="1300" dirty="0"/>
          </a:p>
        </p:txBody>
      </p:sp>
      <p:sp>
        <p:nvSpPr>
          <p:cNvPr id="20" name="Text 18"/>
          <p:cNvSpPr txBox="1"/>
          <p:nvPr/>
        </p:nvSpPr>
        <p:spPr>
          <a:xfrm>
            <a:off x="5363609" y="3291840"/>
            <a:ext cx="1324574" cy="1280160"/>
          </a:xfrm>
          <a:prstGeom prst="rect">
            <a:avLst/>
          </a:prstGeom>
          <a:noFill/>
          <a:ln/>
        </p:spPr>
        <p:txBody>
          <a:bodyPr wrap="square" lIns="0" tIns="0" rIns="0" bIns="0" rtlCol="0" anchor="t"/>
          <a:lstStyle/>
          <a:p>
            <a:pPr algn="ctr" indent="0" marL="0">
              <a:buNone/>
            </a:pPr>
            <a:r>
              <a:rPr lang="en-US" sz="1050" dirty="0">
                <a:solidFill>
                  <a:srgbClr val="1B2333"/>
                </a:solidFill>
                <a:latin typeface="Calibri" pitchFamily="34" charset="0"/>
                <a:ea typeface="Calibri" pitchFamily="34" charset="-122"/>
                <a:cs typeface="Calibri" pitchFamily="34" charset="-120"/>
              </a:rPr>
              <a:t>India Ratings → A+</a:t>
            </a:r>
            <a:endParaRPr lang="en-US" sz="1050" dirty="0"/>
          </a:p>
        </p:txBody>
      </p:sp>
      <p:sp>
        <p:nvSpPr>
          <p:cNvPr id="21" name="Shape 19"/>
          <p:cNvSpPr/>
          <p:nvPr/>
        </p:nvSpPr>
        <p:spPr>
          <a:xfrm>
            <a:off x="6871063" y="2103120"/>
            <a:ext cx="1470878" cy="2651760"/>
          </a:xfrm>
          <a:prstGeom prst="roundRect">
            <a:avLst>
              <a:gd name="adj" fmla="val 4973"/>
            </a:avLst>
          </a:prstGeom>
          <a:solidFill>
            <a:srgbClr val="FFFFFF"/>
          </a:solidFill>
          <a:ln w="12700">
            <a:solidFill>
              <a:srgbClr val="FFFFFF"/>
            </a:solidFill>
            <a:prstDash val="solid"/>
          </a:ln>
        </p:spPr>
      </p:sp>
      <p:sp>
        <p:nvSpPr>
          <p:cNvPr id="22" name="Shape 20"/>
          <p:cNvSpPr/>
          <p:nvPr/>
        </p:nvSpPr>
        <p:spPr>
          <a:xfrm>
            <a:off x="7579070" y="2286000"/>
            <a:ext cx="164592" cy="164592"/>
          </a:xfrm>
          <a:prstGeom prst="ellipse">
            <a:avLst/>
          </a:prstGeom>
          <a:solidFill>
            <a:srgbClr val="3B6EA8"/>
          </a:solidFill>
          <a:ln w="12700">
            <a:solidFill>
              <a:srgbClr val="3B6EA8"/>
            </a:solidFill>
            <a:prstDash val="solid"/>
          </a:ln>
        </p:spPr>
      </p:sp>
      <p:sp>
        <p:nvSpPr>
          <p:cNvPr id="23" name="Text 21"/>
          <p:cNvSpPr txBox="1"/>
          <p:nvPr/>
        </p:nvSpPr>
        <p:spPr>
          <a:xfrm>
            <a:off x="6944215" y="2606040"/>
            <a:ext cx="1324574" cy="822960"/>
          </a:xfrm>
          <a:prstGeom prst="rect">
            <a:avLst/>
          </a:prstGeom>
          <a:noFill/>
          <a:ln/>
        </p:spPr>
        <p:txBody>
          <a:bodyPr wrap="square" lIns="0" tIns="0" rIns="0" bIns="0" rtlCol="0" anchor="t"/>
          <a:lstStyle/>
          <a:p>
            <a:pPr algn="ctr" indent="0" marL="0">
              <a:buNone/>
            </a:pPr>
            <a:r>
              <a:rPr lang="en-US" sz="1300" b="1" dirty="0">
                <a:solidFill>
                  <a:srgbClr val="14213D"/>
                </a:solidFill>
                <a:latin typeface="Cambria" pitchFamily="34" charset="0"/>
                <a:ea typeface="Cambria" pitchFamily="34" charset="-122"/>
                <a:cs typeface="Cambria" pitchFamily="34" charset="-120"/>
              </a:rPr>
              <a:t>14 Nov 2019</a:t>
            </a:r>
            <a:endParaRPr lang="en-US" sz="1300" dirty="0"/>
          </a:p>
        </p:txBody>
      </p:sp>
      <p:sp>
        <p:nvSpPr>
          <p:cNvPr id="24" name="Text 22"/>
          <p:cNvSpPr txBox="1"/>
          <p:nvPr/>
        </p:nvSpPr>
        <p:spPr>
          <a:xfrm>
            <a:off x="6944215" y="3291840"/>
            <a:ext cx="1324574" cy="1280160"/>
          </a:xfrm>
          <a:prstGeom prst="rect">
            <a:avLst/>
          </a:prstGeom>
          <a:noFill/>
          <a:ln/>
        </p:spPr>
        <p:txBody>
          <a:bodyPr wrap="square" lIns="0" tIns="0" rIns="0" bIns="0" rtlCol="0" anchor="t"/>
          <a:lstStyle/>
          <a:p>
            <a:pPr algn="ctr" indent="0" marL="0">
              <a:buNone/>
            </a:pPr>
            <a:r>
              <a:rPr lang="en-US" sz="1050" dirty="0">
                <a:solidFill>
                  <a:srgbClr val="1B2333"/>
                </a:solidFill>
                <a:latin typeface="Calibri" pitchFamily="34" charset="0"/>
                <a:ea typeface="Calibri" pitchFamily="34" charset="-122"/>
                <a:cs typeface="Calibri" pitchFamily="34" charset="-120"/>
              </a:rPr>
              <a:t>CARE → A+ / watch</a:t>
            </a:r>
            <a:endParaRPr lang="en-US" sz="1050" dirty="0"/>
          </a:p>
        </p:txBody>
      </p:sp>
      <p:sp>
        <p:nvSpPr>
          <p:cNvPr id="25" name="Shape 23"/>
          <p:cNvSpPr/>
          <p:nvPr/>
        </p:nvSpPr>
        <p:spPr>
          <a:xfrm>
            <a:off x="8451669" y="2103120"/>
            <a:ext cx="1470878" cy="2651760"/>
          </a:xfrm>
          <a:prstGeom prst="roundRect">
            <a:avLst>
              <a:gd name="adj" fmla="val 4973"/>
            </a:avLst>
          </a:prstGeom>
          <a:solidFill>
            <a:srgbClr val="EEF2F8"/>
          </a:solidFill>
          <a:ln w="12700">
            <a:solidFill>
              <a:srgbClr val="EEF2F8"/>
            </a:solidFill>
            <a:prstDash val="solid"/>
          </a:ln>
        </p:spPr>
      </p:sp>
      <p:sp>
        <p:nvSpPr>
          <p:cNvPr id="26" name="Shape 24"/>
          <p:cNvSpPr/>
          <p:nvPr/>
        </p:nvSpPr>
        <p:spPr>
          <a:xfrm>
            <a:off x="9159675" y="2286000"/>
            <a:ext cx="164592" cy="164592"/>
          </a:xfrm>
          <a:prstGeom prst="ellipse">
            <a:avLst/>
          </a:prstGeom>
          <a:solidFill>
            <a:srgbClr val="3B6EA8"/>
          </a:solidFill>
          <a:ln w="12700">
            <a:solidFill>
              <a:srgbClr val="3B6EA8"/>
            </a:solidFill>
            <a:prstDash val="solid"/>
          </a:ln>
        </p:spPr>
      </p:sp>
      <p:sp>
        <p:nvSpPr>
          <p:cNvPr id="27" name="Text 25"/>
          <p:cNvSpPr txBox="1"/>
          <p:nvPr/>
        </p:nvSpPr>
        <p:spPr>
          <a:xfrm>
            <a:off x="8524821" y="2606040"/>
            <a:ext cx="1324574" cy="822960"/>
          </a:xfrm>
          <a:prstGeom prst="rect">
            <a:avLst/>
          </a:prstGeom>
          <a:noFill/>
          <a:ln/>
        </p:spPr>
        <p:txBody>
          <a:bodyPr wrap="square" lIns="0" tIns="0" rIns="0" bIns="0" rtlCol="0" anchor="t"/>
          <a:lstStyle/>
          <a:p>
            <a:pPr algn="ctr" indent="0" marL="0">
              <a:buNone/>
            </a:pPr>
            <a:r>
              <a:rPr lang="en-US" sz="1300" b="1" dirty="0">
                <a:solidFill>
                  <a:srgbClr val="14213D"/>
                </a:solidFill>
                <a:latin typeface="Cambria" pitchFamily="34" charset="0"/>
                <a:ea typeface="Cambria" pitchFamily="34" charset="-122"/>
                <a:cs typeface="Cambria" pitchFamily="34" charset="-120"/>
              </a:rPr>
              <a:t>19 Dec 2019</a:t>
            </a:r>
            <a:endParaRPr lang="en-US" sz="1300" dirty="0"/>
          </a:p>
        </p:txBody>
      </p:sp>
      <p:sp>
        <p:nvSpPr>
          <p:cNvPr id="28" name="Text 26"/>
          <p:cNvSpPr txBox="1"/>
          <p:nvPr/>
        </p:nvSpPr>
        <p:spPr>
          <a:xfrm>
            <a:off x="8524821" y="3291840"/>
            <a:ext cx="1324574" cy="1280160"/>
          </a:xfrm>
          <a:prstGeom prst="rect">
            <a:avLst/>
          </a:prstGeom>
          <a:noFill/>
          <a:ln/>
        </p:spPr>
        <p:txBody>
          <a:bodyPr wrap="square" lIns="0" tIns="0" rIns="0" bIns="0" rtlCol="0" anchor="t"/>
          <a:lstStyle/>
          <a:p>
            <a:pPr algn="ctr" indent="0" marL="0">
              <a:buNone/>
            </a:pPr>
            <a:r>
              <a:rPr lang="en-US" sz="1050" dirty="0">
                <a:solidFill>
                  <a:srgbClr val="1B2333"/>
                </a:solidFill>
                <a:latin typeface="Calibri" pitchFamily="34" charset="0"/>
                <a:ea typeface="Calibri" pitchFamily="34" charset="-122"/>
                <a:cs typeface="Calibri" pitchFamily="34" charset="-120"/>
              </a:rPr>
              <a:t>India Ratings → A</a:t>
            </a:r>
            <a:endParaRPr lang="en-US" sz="1050" dirty="0"/>
          </a:p>
        </p:txBody>
      </p:sp>
      <p:sp>
        <p:nvSpPr>
          <p:cNvPr id="29" name="Shape 27"/>
          <p:cNvSpPr/>
          <p:nvPr/>
        </p:nvSpPr>
        <p:spPr>
          <a:xfrm>
            <a:off x="10032274" y="2103120"/>
            <a:ext cx="1470878" cy="2651760"/>
          </a:xfrm>
          <a:prstGeom prst="roundRect">
            <a:avLst>
              <a:gd name="adj" fmla="val 4973"/>
            </a:avLst>
          </a:prstGeom>
          <a:solidFill>
            <a:srgbClr val="FFFFFF"/>
          </a:solidFill>
          <a:ln w="12700">
            <a:solidFill>
              <a:srgbClr val="FFFFFF"/>
            </a:solidFill>
            <a:prstDash val="solid"/>
          </a:ln>
        </p:spPr>
      </p:sp>
      <p:sp>
        <p:nvSpPr>
          <p:cNvPr id="30" name="Shape 28"/>
          <p:cNvSpPr/>
          <p:nvPr/>
        </p:nvSpPr>
        <p:spPr>
          <a:xfrm>
            <a:off x="10740281" y="2286000"/>
            <a:ext cx="164592" cy="164592"/>
          </a:xfrm>
          <a:prstGeom prst="ellipse">
            <a:avLst/>
          </a:prstGeom>
          <a:solidFill>
            <a:srgbClr val="3B6EA8"/>
          </a:solidFill>
          <a:ln w="12700">
            <a:solidFill>
              <a:srgbClr val="3B6EA8"/>
            </a:solidFill>
            <a:prstDash val="solid"/>
          </a:ln>
        </p:spPr>
      </p:sp>
      <p:sp>
        <p:nvSpPr>
          <p:cNvPr id="31" name="Text 29"/>
          <p:cNvSpPr txBox="1"/>
          <p:nvPr/>
        </p:nvSpPr>
        <p:spPr>
          <a:xfrm>
            <a:off x="10105426" y="2606040"/>
            <a:ext cx="1324574" cy="822960"/>
          </a:xfrm>
          <a:prstGeom prst="rect">
            <a:avLst/>
          </a:prstGeom>
          <a:noFill/>
          <a:ln/>
        </p:spPr>
        <p:txBody>
          <a:bodyPr wrap="square" lIns="0" tIns="0" rIns="0" bIns="0" rtlCol="0" anchor="t"/>
          <a:lstStyle/>
          <a:p>
            <a:pPr algn="ctr" indent="0" marL="0">
              <a:buNone/>
            </a:pPr>
            <a:r>
              <a:rPr lang="en-US" sz="1300" b="1" dirty="0">
                <a:solidFill>
                  <a:srgbClr val="14213D"/>
                </a:solidFill>
                <a:latin typeface="Cambria" pitchFamily="34" charset="0"/>
                <a:ea typeface="Cambria" pitchFamily="34" charset="-122"/>
                <a:cs typeface="Cambria" pitchFamily="34" charset="-120"/>
              </a:rPr>
              <a:t>12 Feb 2020</a:t>
            </a:r>
            <a:endParaRPr lang="en-US" sz="1300" dirty="0"/>
          </a:p>
        </p:txBody>
      </p:sp>
      <p:sp>
        <p:nvSpPr>
          <p:cNvPr id="32" name="Text 30"/>
          <p:cNvSpPr txBox="1"/>
          <p:nvPr/>
        </p:nvSpPr>
        <p:spPr>
          <a:xfrm>
            <a:off x="10105426" y="3291840"/>
            <a:ext cx="1324574" cy="1280160"/>
          </a:xfrm>
          <a:prstGeom prst="rect">
            <a:avLst/>
          </a:prstGeom>
          <a:noFill/>
          <a:ln/>
        </p:spPr>
        <p:txBody>
          <a:bodyPr wrap="square" lIns="0" tIns="0" rIns="0" bIns="0" rtlCol="0" anchor="t"/>
          <a:lstStyle/>
          <a:p>
            <a:pPr algn="ctr" indent="0" marL="0">
              <a:buNone/>
            </a:pPr>
            <a:r>
              <a:rPr lang="en-US" sz="1050" dirty="0">
                <a:solidFill>
                  <a:srgbClr val="1B2333"/>
                </a:solidFill>
                <a:latin typeface="Calibri" pitchFamily="34" charset="0"/>
                <a:ea typeface="Calibri" pitchFamily="34" charset="-122"/>
                <a:cs typeface="Calibri" pitchFamily="34" charset="-120"/>
              </a:rPr>
              <a:t>India Ratings → A−</a:t>
            </a:r>
            <a:endParaRPr lang="en-US" sz="1050" dirty="0"/>
          </a:p>
        </p:txBody>
      </p:sp>
      <p:sp>
        <p:nvSpPr>
          <p:cNvPr id="33" name="Shape 31"/>
          <p:cNvSpPr/>
          <p:nvPr/>
        </p:nvSpPr>
        <p:spPr>
          <a:xfrm>
            <a:off x="548640" y="5029200"/>
            <a:ext cx="11064240" cy="1325880"/>
          </a:xfrm>
          <a:prstGeom prst="roundRect">
            <a:avLst>
              <a:gd name="adj" fmla="val 5517"/>
            </a:avLst>
          </a:prstGeom>
          <a:solidFill>
            <a:srgbClr val="14213D"/>
          </a:solidFill>
          <a:ln w="12700">
            <a:solidFill>
              <a:srgbClr val="14213D"/>
            </a:solidFill>
            <a:prstDash val="solid"/>
          </a:ln>
        </p:spPr>
      </p:sp>
      <p:sp>
        <p:nvSpPr>
          <p:cNvPr id="34" name="Text 32"/>
          <p:cNvSpPr txBox="1"/>
          <p:nvPr/>
        </p:nvSpPr>
        <p:spPr>
          <a:xfrm>
            <a:off x="914400" y="5166360"/>
            <a:ext cx="10332720" cy="109728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None of these are missing or late maliciously. SEBI's own 2023 order into CARE found interference was proven for DHFL — but, after cross-examination, explicitly NOT sustained for Yes Bank. The slowness here looks structural, not a cover-up.</a:t>
            </a:r>
            <a:endParaRPr lang="en-US" sz="1350" dirty="0"/>
          </a:p>
        </p:txBody>
      </p:sp>
      <p:sp>
        <p:nvSpPr>
          <p:cNvPr id="35" name="Text 33"/>
          <p:cNvSpPr txBox="1"/>
          <p:nvPr/>
        </p:nvSpPr>
        <p:spPr>
          <a:xfrm>
            <a:off x="11521440" y="6510528"/>
            <a:ext cx="548640" cy="274320"/>
          </a:xfrm>
          <a:prstGeom prst="rect">
            <a:avLst/>
          </a:prstGeom>
          <a:noFill/>
          <a:ln/>
        </p:spPr>
        <p:txBody>
          <a:bodyPr wrap="square" lIns="0" tIns="0" rIns="0" bIns="0" rtlCol="0" anchor="t"/>
          <a:lstStyle/>
          <a:p>
            <a:pPr algn="r" indent="0" marL="0">
              <a:buNone/>
            </a:pPr>
            <a:r>
              <a:rPr lang="en-US" sz="1000" dirty="0">
                <a:solidFill>
                  <a:srgbClr val="B8BFCC"/>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320040"/>
          </a:xfrm>
          <a:prstGeom prst="rect">
            <a:avLst/>
          </a:prstGeom>
          <a:noFill/>
          <a:ln/>
        </p:spPr>
        <p:txBody>
          <a:bodyPr wrap="square" lIns="0" tIns="0" rIns="0" bIns="0" rtlCol="0" anchor="t"/>
          <a:lstStyle/>
          <a:p>
            <a:pPr indent="0" marL="0">
              <a:buNone/>
            </a:pPr>
            <a:r>
              <a:rPr lang="en-US" sz="1200" b="1" spc="200" kern="0" dirty="0">
                <a:solidFill>
                  <a:srgbClr val="1F8A7A"/>
                </a:solidFill>
                <a:latin typeface="Calibri" pitchFamily="34" charset="0"/>
                <a:ea typeface="Calibri" pitchFamily="34" charset="-122"/>
                <a:cs typeface="Calibri" pitchFamily="34" charset="-120"/>
              </a:rPr>
              <a:t>05 · THE CASE — ROBUSTNESS</a:t>
            </a:r>
            <a:endParaRPr lang="en-US" sz="1200" dirty="0"/>
          </a:p>
        </p:txBody>
      </p:sp>
      <p:sp>
        <p:nvSpPr>
          <p:cNvPr id="3" name="Text 1"/>
          <p:cNvSpPr txBox="1"/>
          <p:nvPr/>
        </p:nvSpPr>
        <p:spPr>
          <a:xfrm>
            <a:off x="548640" y="457200"/>
            <a:ext cx="11064240" cy="731520"/>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Is the timing an artefact of the assumptions?</a:t>
            </a:r>
            <a:endParaRPr lang="en-US" sz="2900" dirty="0"/>
          </a:p>
        </p:txBody>
      </p:sp>
      <p:pic>
        <p:nvPicPr>
          <p:cNvPr id="4" name="Image 0" descr="figs/sensitivity.png">    </p:cNvPr>
          <p:cNvPicPr>
            <a:picLocks noChangeAspect="1"/>
          </p:cNvPicPr>
          <p:nvPr/>
        </p:nvPicPr>
        <p:blipFill>
          <a:blip r:embed="rId1"/>
          <a:stretch>
            <a:fillRect/>
          </a:stretch>
        </p:blipFill>
        <p:spPr>
          <a:xfrm>
            <a:off x="457200" y="1234440"/>
            <a:ext cx="11247120" cy="4162200"/>
          </a:xfrm>
          <a:prstGeom prst="rect">
            <a:avLst/>
          </a:prstGeom>
        </p:spPr>
      </p:pic>
      <p:sp>
        <p:nvSpPr>
          <p:cNvPr id="5" name="Text 2"/>
          <p:cNvSpPr txBox="1"/>
          <p:nvPr/>
        </p:nvSpPr>
        <p:spPr>
          <a:xfrm>
            <a:off x="548640" y="5989320"/>
            <a:ext cx="11064240" cy="777240"/>
          </a:xfrm>
          <a:prstGeom prst="rect">
            <a:avLst/>
          </a:prstGeom>
          <a:noFill/>
          <a:ln/>
        </p:spPr>
        <p:txBody>
          <a:bodyPr wrap="square" lIns="0" tIns="0" rIns="0" bIns="0" rtlCol="0" anchor="t"/>
          <a:lstStyle/>
          <a:p>
            <a:pPr indent="0" marL="0">
              <a:buNone/>
            </a:pPr>
            <a:r>
              <a:rPr lang="en-US" sz="1350" dirty="0">
                <a:solidFill>
                  <a:srgbClr val="5B6577"/>
                </a:solidFill>
                <a:latin typeface="Calibri" pitchFamily="34" charset="0"/>
                <a:ea typeface="Calibri" pitchFamily="34" charset="-122"/>
                <a:cs typeface="Calibri" pitchFamily="34" charset="-120"/>
              </a:rPr>
              <a:t>Across seven variants (drift, volatility window, and a 15-30% haircut on D), the April and October 2019 warnings survive every time, and the March 2020 read stays elevated in every variant. The level moves with the assumptions; the timing does not.</a:t>
            </a:r>
            <a:endParaRPr lang="en-US" sz="1350" dirty="0"/>
          </a:p>
        </p:txBody>
      </p:sp>
      <p:sp>
        <p:nvSpPr>
          <p:cNvPr id="6" name="Text 3"/>
          <p:cNvSpPr txBox="1"/>
          <p:nvPr/>
        </p:nvSpPr>
        <p:spPr>
          <a:xfrm>
            <a:off x="11521440" y="6510528"/>
            <a:ext cx="548640" cy="274320"/>
          </a:xfrm>
          <a:prstGeom prst="rect">
            <a:avLst/>
          </a:prstGeom>
          <a:noFill/>
          <a:ln/>
        </p:spPr>
        <p:txBody>
          <a:bodyPr wrap="square" lIns="0" tIns="0" rIns="0" bIns="0" rtlCol="0" anchor="t"/>
          <a:lstStyle/>
          <a:p>
            <a:pPr algn="r" indent="0" marL="0">
              <a:buNone/>
            </a:pPr>
            <a:r>
              <a:rPr lang="en-US" sz="1000" dirty="0">
                <a:solidFill>
                  <a:srgbClr val="B8BFCC"/>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320040"/>
          </a:xfrm>
          <a:prstGeom prst="rect">
            <a:avLst/>
          </a:prstGeom>
          <a:noFill/>
          <a:ln/>
        </p:spPr>
        <p:txBody>
          <a:bodyPr wrap="square" lIns="0" tIns="0" rIns="0" bIns="0" rtlCol="0" anchor="t"/>
          <a:lstStyle/>
          <a:p>
            <a:pPr indent="0" marL="0">
              <a:buNone/>
            </a:pPr>
            <a:r>
              <a:rPr lang="en-US" sz="1200" b="1" spc="200" kern="0" dirty="0">
                <a:solidFill>
                  <a:srgbClr val="F3C97A"/>
                </a:solidFill>
                <a:latin typeface="Calibri" pitchFamily="34" charset="0"/>
                <a:ea typeface="Calibri" pitchFamily="34" charset="-122"/>
                <a:cs typeface="Calibri" pitchFamily="34" charset="-120"/>
              </a:rPr>
              <a:t>06 · VERDICT &amp; LIMITS</a:t>
            </a:r>
            <a:endParaRPr lang="en-US" sz="1200" dirty="0"/>
          </a:p>
        </p:txBody>
      </p:sp>
      <p:sp>
        <p:nvSpPr>
          <p:cNvPr id="3" name="Text 1"/>
          <p:cNvSpPr txBox="1"/>
          <p:nvPr/>
        </p:nvSpPr>
        <p:spPr>
          <a:xfrm>
            <a:off x="548640" y="457200"/>
            <a:ext cx="11064240" cy="731520"/>
          </a:xfrm>
          <a:prstGeom prst="rect">
            <a:avLst/>
          </a:prstGeom>
          <a:noFill/>
          <a:ln/>
        </p:spPr>
        <p:txBody>
          <a:bodyPr wrap="square" lIns="0" tIns="0" rIns="0" bIns="0"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The verdict</a:t>
            </a:r>
            <a:endParaRPr lang="en-US" sz="2900" dirty="0"/>
          </a:p>
        </p:txBody>
      </p:sp>
      <p:sp>
        <p:nvSpPr>
          <p:cNvPr id="4" name="Shape 2"/>
          <p:cNvSpPr/>
          <p:nvPr/>
        </p:nvSpPr>
        <p:spPr>
          <a:xfrm>
            <a:off x="548640" y="1371600"/>
            <a:ext cx="11064240" cy="2834640"/>
          </a:xfrm>
          <a:prstGeom prst="roundRect">
            <a:avLst>
              <a:gd name="adj" fmla="val 2581"/>
            </a:avLst>
          </a:prstGeom>
          <a:solidFill>
            <a:srgbClr val="1F3159"/>
          </a:solidFill>
          <a:ln w="12700">
            <a:solidFill>
              <a:srgbClr val="1F3159"/>
            </a:solidFill>
            <a:prstDash val="solid"/>
          </a:ln>
        </p:spPr>
      </p:sp>
      <p:sp>
        <p:nvSpPr>
          <p:cNvPr id="5" name="Text 3"/>
          <p:cNvSpPr txBox="1"/>
          <p:nvPr/>
        </p:nvSpPr>
        <p:spPr>
          <a:xfrm>
            <a:off x="914400" y="1554480"/>
            <a:ext cx="10332720" cy="457200"/>
          </a:xfrm>
          <a:prstGeom prst="rect">
            <a:avLst/>
          </a:prstGeom>
          <a:noFill/>
          <a:ln/>
        </p:spPr>
        <p:txBody>
          <a:bodyPr wrap="square" lIns="0" tIns="0" rIns="0" bIns="0" rtlCol="0" anchor="t"/>
          <a:lstStyle/>
          <a:p>
            <a:pPr indent="0" marL="0">
              <a:buNone/>
            </a:pPr>
            <a:r>
              <a:rPr lang="en-US" sz="2000" b="1" dirty="0">
                <a:solidFill>
                  <a:srgbClr val="F3C97A"/>
                </a:solidFill>
                <a:latin typeface="Cambria" pitchFamily="34" charset="0"/>
                <a:ea typeface="Cambria" pitchFamily="34" charset="-122"/>
                <a:cs typeface="Cambria" pitchFamily="34" charset="-120"/>
              </a:rPr>
              <a:t>The market moved first — but did not time the intervention</a:t>
            </a:r>
            <a:endParaRPr lang="en-US" sz="2000" dirty="0"/>
          </a:p>
        </p:txBody>
      </p:sp>
      <p:sp>
        <p:nvSpPr>
          <p:cNvPr id="6" name="Text 4"/>
          <p:cNvSpPr txBox="1"/>
          <p:nvPr/>
        </p:nvSpPr>
        <p:spPr>
          <a:xfrm>
            <a:off x="914400" y="2103120"/>
            <a:ext cx="10332720" cy="201168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rgbClr val="FFFFFF"/>
                </a:solidFill>
                <a:latin typeface="Calibri" pitchFamily="34" charset="0"/>
                <a:ea typeface="Calibri" pitchFamily="34" charset="-122"/>
                <a:cs typeface="Calibri" pitchFamily="34" charset="-120"/>
              </a:rPr>
              <a:t>In every downgrade episode, DD collapsed on the day of the stress news, ahead of the agencies by 3 to 68 days.</a:t>
            </a:r>
            <a:endParaRPr lang="en-US" sz="1450" dirty="0"/>
          </a:p>
          <a:p>
            <a:pPr marL="342900" indent="-342900">
              <a:spcAft>
                <a:spcPts val="600"/>
              </a:spcAft>
              <a:buSzPct val="100000"/>
              <a:buChar char="•"/>
            </a:pPr>
            <a:r>
              <a:rPr lang="en-US" sz="1450" dirty="0">
                <a:solidFill>
                  <a:srgbClr val="FFFFFF"/>
                </a:solidFill>
                <a:latin typeface="Calibri" pitchFamily="34" charset="0"/>
                <a:ea typeface="Calibri" pitchFamily="34" charset="-122"/>
                <a:cs typeface="Calibri" pitchFamily="34" charset="-120"/>
              </a:rPr>
              <a:t>But on 4 March 2020, the day before the moratorium, DD stood at its highest reading since September 2018 — the regulator acted on private supervisory information and an unpublished quarterly loss.</a:t>
            </a:r>
            <a:endParaRPr lang="en-US" sz="1450" dirty="0"/>
          </a:p>
          <a:p>
            <a:pPr marL="342900" indent="-342900">
              <a:spcAft>
                <a:spcPts val="600"/>
              </a:spcAft>
              <a:buSzPct val="100000"/>
              <a:buChar char="•"/>
            </a:pPr>
            <a:r>
              <a:rPr lang="en-US" sz="1450" dirty="0">
                <a:solidFill>
                  <a:srgbClr val="FFFFFF"/>
                </a:solidFill>
                <a:latin typeface="Calibri" pitchFamily="34" charset="0"/>
                <a:ea typeface="Calibri" pitchFamily="34" charset="-122"/>
                <a:cs typeface="Calibri" pitchFamily="34" charset="-120"/>
              </a:rPr>
              <a:t>What DD gave was a persistent, correct warning of chronic distress. What ratings gave was slower, stepwise confirmation. Neither predicted the date.</a:t>
            </a:r>
            <a:endParaRPr lang="en-US" sz="1450" dirty="0"/>
          </a:p>
        </p:txBody>
      </p:sp>
      <p:sp>
        <p:nvSpPr>
          <p:cNvPr id="7" name="Text 5"/>
          <p:cNvSpPr txBox="1"/>
          <p:nvPr/>
        </p:nvSpPr>
        <p:spPr>
          <a:xfrm>
            <a:off x="548640" y="4480560"/>
            <a:ext cx="11064240" cy="1737360"/>
          </a:xfrm>
          <a:prstGeom prst="rect">
            <a:avLst/>
          </a:prstGeom>
          <a:noFill/>
          <a:ln/>
        </p:spPr>
        <p:txBody>
          <a:bodyPr wrap="square" lIns="0" tIns="0" rIns="0" bIns="0" rtlCol="0" anchor="t"/>
          <a:lstStyle/>
          <a:p>
            <a:pPr indent="0" marL="0">
              <a:buNone/>
            </a:pPr>
            <a:r>
              <a:rPr lang="en-US" sz="1400" b="1" dirty="0">
                <a:solidFill>
                  <a:srgbClr val="F3C97A"/>
                </a:solidFill>
                <a:latin typeface="Calibri" pitchFamily="34" charset="0"/>
                <a:ea typeface="Calibri" pitchFamily="34" charset="-122"/>
                <a:cs typeface="Calibri" pitchFamily="34" charset="-120"/>
              </a:rPr>
              <a:t>Two honest qualifications:  </a:t>
            </a:r>
            <a:pPr indent="0" marL="0">
              <a:buNone/>
            </a:pPr>
            <a:r>
              <a:rPr lang="en-US" sz="1400" dirty="0">
                <a:solidFill>
                  <a:srgbClr val="D6DEEC"/>
                </a:solidFill>
                <a:latin typeface="Calibri" pitchFamily="34" charset="0"/>
                <a:ea typeface="Calibri" pitchFamily="34" charset="-122"/>
                <a:cs typeface="Calibri" pitchFamily="34" charset="-120"/>
              </a:rPr>
              <a:t>(1) market and agencies often reacted to the same public news, so “faster” partly means “trades daily vs. meets periodically”, not “knows more.”  (2) DD also fell sharply in Sep 2018 and partly recovered without a failure — a fixed alarm threshold would have given a long run of false alarms first.</a:t>
            </a:r>
            <a:endParaRPr lang="en-US" sz="1400" dirty="0"/>
          </a:p>
        </p:txBody>
      </p:sp>
      <p:sp>
        <p:nvSpPr>
          <p:cNvPr id="8" name="Text 6"/>
          <p:cNvSpPr txBox="1"/>
          <p:nvPr/>
        </p:nvSpPr>
        <p:spPr>
          <a:xfrm>
            <a:off x="11521440" y="6510528"/>
            <a:ext cx="548640" cy="274320"/>
          </a:xfrm>
          <a:prstGeom prst="rect">
            <a:avLst/>
          </a:prstGeom>
          <a:noFill/>
          <a:ln/>
        </p:spPr>
        <p:txBody>
          <a:bodyPr wrap="square" lIns="0" tIns="0" rIns="0" bIns="0" rtlCol="0" anchor="t"/>
          <a:lstStyle/>
          <a:p>
            <a:pPr algn="r" indent="0" marL="0">
              <a:buNone/>
            </a:pPr>
            <a:r>
              <a:rPr lang="en-US" sz="1000" dirty="0">
                <a:solidFill>
                  <a:srgbClr val="8A97B8"/>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320040"/>
          </a:xfrm>
          <a:prstGeom prst="rect">
            <a:avLst/>
          </a:prstGeom>
          <a:noFill/>
          <a:ln/>
        </p:spPr>
        <p:txBody>
          <a:bodyPr wrap="square" lIns="0" tIns="0" rIns="0" bIns="0" rtlCol="0" anchor="t"/>
          <a:lstStyle/>
          <a:p>
            <a:pPr indent="0" marL="0">
              <a:buNone/>
            </a:pPr>
            <a:r>
              <a:rPr lang="en-US" sz="1200" b="1" spc="200" kern="0" dirty="0">
                <a:solidFill>
                  <a:srgbClr val="1F8A7A"/>
                </a:solidFill>
                <a:latin typeface="Calibri" pitchFamily="34" charset="0"/>
                <a:ea typeface="Calibri" pitchFamily="34" charset="-122"/>
                <a:cs typeface="Calibri" pitchFamily="34" charset="-120"/>
              </a:rPr>
              <a:t>06 · VERDICT &amp; LIMITS</a:t>
            </a:r>
            <a:endParaRPr lang="en-US" sz="1200" dirty="0"/>
          </a:p>
        </p:txBody>
      </p:sp>
      <p:sp>
        <p:nvSpPr>
          <p:cNvPr id="3" name="Text 1"/>
          <p:cNvSpPr txBox="1"/>
          <p:nvPr/>
        </p:nvSpPr>
        <p:spPr>
          <a:xfrm>
            <a:off x="548640" y="457200"/>
            <a:ext cx="11064240" cy="731520"/>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Where Merton breaks, specifically for banks</a:t>
            </a:r>
            <a:endParaRPr lang="en-US" sz="2900" dirty="0"/>
          </a:p>
        </p:txBody>
      </p:sp>
      <p:sp>
        <p:nvSpPr>
          <p:cNvPr id="4" name="Shape 2"/>
          <p:cNvSpPr/>
          <p:nvPr/>
        </p:nvSpPr>
        <p:spPr>
          <a:xfrm>
            <a:off x="548640" y="1325880"/>
            <a:ext cx="5394960" cy="1508760"/>
          </a:xfrm>
          <a:prstGeom prst="roundRect">
            <a:avLst>
              <a:gd name="adj" fmla="val 4848"/>
            </a:avLst>
          </a:prstGeom>
          <a:solidFill>
            <a:srgbClr val="EEF2F8"/>
          </a:solidFill>
          <a:ln w="12700">
            <a:solidFill>
              <a:srgbClr val="EEF2F8"/>
            </a:solidFill>
            <a:prstDash val="solid"/>
          </a:ln>
        </p:spPr>
      </p:sp>
      <p:sp>
        <p:nvSpPr>
          <p:cNvPr id="5" name="Text 3"/>
          <p:cNvSpPr txBox="1"/>
          <p:nvPr/>
        </p:nvSpPr>
        <p:spPr>
          <a:xfrm>
            <a:off x="777240" y="1463040"/>
            <a:ext cx="4937760" cy="365760"/>
          </a:xfrm>
          <a:prstGeom prst="rect">
            <a:avLst/>
          </a:prstGeom>
          <a:noFill/>
          <a:ln/>
        </p:spPr>
        <p:txBody>
          <a:bodyPr wrap="square" lIns="0" tIns="0" rIns="0" bIns="0" rtlCol="0" anchor="t"/>
          <a:lstStyle/>
          <a:p>
            <a:pPr indent="0" marL="0">
              <a:buNone/>
            </a:pPr>
            <a:r>
              <a:rPr lang="en-US" sz="1550" b="1" dirty="0">
                <a:solidFill>
                  <a:srgbClr val="14213D"/>
                </a:solidFill>
                <a:latin typeface="Cambria" pitchFamily="34" charset="0"/>
                <a:ea typeface="Cambria" pitchFamily="34" charset="-122"/>
                <a:cs typeface="Cambria" pitchFamily="34" charset="-120"/>
              </a:rPr>
              <a:t>Deposits aren't bonds</a:t>
            </a:r>
            <a:endParaRPr lang="en-US" sz="1550" dirty="0"/>
          </a:p>
        </p:txBody>
      </p:sp>
      <p:sp>
        <p:nvSpPr>
          <p:cNvPr id="6" name="Text 4"/>
          <p:cNvSpPr txBox="1"/>
          <p:nvPr/>
        </p:nvSpPr>
        <p:spPr>
          <a:xfrm>
            <a:off x="777240" y="1856232"/>
            <a:ext cx="4937760" cy="914400"/>
          </a:xfrm>
          <a:prstGeom prst="rect">
            <a:avLst/>
          </a:prstGeom>
          <a:noFill/>
          <a:ln/>
        </p:spPr>
        <p:txBody>
          <a:bodyPr wrap="square" lIns="0" tIns="0" rIns="0" bIns="0" rtlCol="0" anchor="t"/>
          <a:lstStyle/>
          <a:p>
            <a:pPr indent="0" marL="0">
              <a:buNone/>
            </a:pPr>
            <a:r>
              <a:rPr lang="en-US" sz="1200" dirty="0">
                <a:solidFill>
                  <a:srgbClr val="1B2333"/>
                </a:solidFill>
                <a:latin typeface="Calibri" pitchFamily="34" charset="0"/>
                <a:ea typeface="Calibri" pitchFamily="34" charset="-122"/>
                <a:cs typeface="Calibri" pitchFamily="34" charset="-120"/>
              </a:rPr>
              <a:t>Short-term, runnable liabilities that behave like debt but aren't traded — the default point is inherently ambiguous.</a:t>
            </a:r>
            <a:endParaRPr lang="en-US" sz="1200" dirty="0"/>
          </a:p>
        </p:txBody>
      </p:sp>
      <p:sp>
        <p:nvSpPr>
          <p:cNvPr id="7" name="Shape 5"/>
          <p:cNvSpPr/>
          <p:nvPr/>
        </p:nvSpPr>
        <p:spPr>
          <a:xfrm>
            <a:off x="6217920" y="1325880"/>
            <a:ext cx="5394960" cy="1508760"/>
          </a:xfrm>
          <a:prstGeom prst="roundRect">
            <a:avLst>
              <a:gd name="adj" fmla="val 4848"/>
            </a:avLst>
          </a:prstGeom>
          <a:solidFill>
            <a:srgbClr val="EEF2F8"/>
          </a:solidFill>
          <a:ln w="12700">
            <a:solidFill>
              <a:srgbClr val="EEF2F8"/>
            </a:solidFill>
            <a:prstDash val="solid"/>
          </a:ln>
        </p:spPr>
      </p:sp>
      <p:sp>
        <p:nvSpPr>
          <p:cNvPr id="8" name="Text 6"/>
          <p:cNvSpPr txBox="1"/>
          <p:nvPr/>
        </p:nvSpPr>
        <p:spPr>
          <a:xfrm>
            <a:off x="6446520" y="1463040"/>
            <a:ext cx="4937760" cy="365760"/>
          </a:xfrm>
          <a:prstGeom prst="rect">
            <a:avLst/>
          </a:prstGeom>
          <a:noFill/>
          <a:ln/>
        </p:spPr>
        <p:txBody>
          <a:bodyPr wrap="square" lIns="0" tIns="0" rIns="0" bIns="0" rtlCol="0" anchor="t"/>
          <a:lstStyle/>
          <a:p>
            <a:pPr indent="0" marL="0">
              <a:buNone/>
            </a:pPr>
            <a:r>
              <a:rPr lang="en-US" sz="1550" b="1" dirty="0">
                <a:solidFill>
                  <a:srgbClr val="14213D"/>
                </a:solidFill>
                <a:latin typeface="Cambria" pitchFamily="34" charset="0"/>
                <a:ea typeface="Cambria" pitchFamily="34" charset="-122"/>
                <a:cs typeface="Cambria" pitchFamily="34" charset="-120"/>
              </a:rPr>
              <a:t>Asset quality is opaque</a:t>
            </a:r>
            <a:endParaRPr lang="en-US" sz="1550" dirty="0"/>
          </a:p>
        </p:txBody>
      </p:sp>
      <p:sp>
        <p:nvSpPr>
          <p:cNvPr id="9" name="Text 7"/>
          <p:cNvSpPr txBox="1"/>
          <p:nvPr/>
        </p:nvSpPr>
        <p:spPr>
          <a:xfrm>
            <a:off x="6446520" y="1856232"/>
            <a:ext cx="4937760" cy="914400"/>
          </a:xfrm>
          <a:prstGeom prst="rect">
            <a:avLst/>
          </a:prstGeom>
          <a:noFill/>
          <a:ln/>
        </p:spPr>
        <p:txBody>
          <a:bodyPr wrap="square" lIns="0" tIns="0" rIns="0" bIns="0" rtlCol="0" anchor="t"/>
          <a:lstStyle/>
          <a:p>
            <a:pPr indent="0" marL="0">
              <a:buNone/>
            </a:pPr>
            <a:r>
              <a:rPr lang="en-US" sz="1200" dirty="0">
                <a:solidFill>
                  <a:srgbClr val="1B2333"/>
                </a:solidFill>
                <a:latin typeface="Calibri" pitchFamily="34" charset="0"/>
                <a:ea typeface="Calibri" pitchFamily="34" charset="-122"/>
                <a:cs typeface="Calibri" pitchFamily="34" charset="-120"/>
              </a:rPr>
              <a:t>V is inferred from the equity price; RBI divergence reports show reported vs. supervisor-assessed NPAs differing by thousands of crores.</a:t>
            </a:r>
            <a:endParaRPr lang="en-US" sz="1200" dirty="0"/>
          </a:p>
        </p:txBody>
      </p:sp>
      <p:sp>
        <p:nvSpPr>
          <p:cNvPr id="10" name="Shape 8"/>
          <p:cNvSpPr/>
          <p:nvPr/>
        </p:nvSpPr>
        <p:spPr>
          <a:xfrm>
            <a:off x="548640" y="3017520"/>
            <a:ext cx="5394960" cy="1508760"/>
          </a:xfrm>
          <a:prstGeom prst="roundRect">
            <a:avLst>
              <a:gd name="adj" fmla="val 4848"/>
            </a:avLst>
          </a:prstGeom>
          <a:solidFill>
            <a:srgbClr val="EEF2F8"/>
          </a:solidFill>
          <a:ln w="12700">
            <a:solidFill>
              <a:srgbClr val="EEF2F8"/>
            </a:solidFill>
            <a:prstDash val="solid"/>
          </a:ln>
        </p:spPr>
      </p:sp>
      <p:sp>
        <p:nvSpPr>
          <p:cNvPr id="11" name="Text 9"/>
          <p:cNvSpPr txBox="1"/>
          <p:nvPr/>
        </p:nvSpPr>
        <p:spPr>
          <a:xfrm>
            <a:off x="777240" y="3154680"/>
            <a:ext cx="4937760" cy="365760"/>
          </a:xfrm>
          <a:prstGeom prst="rect">
            <a:avLst/>
          </a:prstGeom>
          <a:noFill/>
          <a:ln/>
        </p:spPr>
        <p:txBody>
          <a:bodyPr wrap="square" lIns="0" tIns="0" rIns="0" bIns="0" rtlCol="0" anchor="t"/>
          <a:lstStyle/>
          <a:p>
            <a:pPr indent="0" marL="0">
              <a:buNone/>
            </a:pPr>
            <a:r>
              <a:rPr lang="en-US" sz="1550" b="1" dirty="0">
                <a:solidFill>
                  <a:srgbClr val="14213D"/>
                </a:solidFill>
                <a:latin typeface="Cambria" pitchFamily="34" charset="0"/>
                <a:ea typeface="Cambria" pitchFamily="34" charset="-122"/>
                <a:cs typeface="Cambria" pitchFamily="34" charset="-120"/>
              </a:rPr>
              <a:t>Regulatory forbearance</a:t>
            </a:r>
            <a:endParaRPr lang="en-US" sz="1550" dirty="0"/>
          </a:p>
        </p:txBody>
      </p:sp>
      <p:sp>
        <p:nvSpPr>
          <p:cNvPr id="12" name="Text 10"/>
          <p:cNvSpPr txBox="1"/>
          <p:nvPr/>
        </p:nvSpPr>
        <p:spPr>
          <a:xfrm>
            <a:off x="777240" y="3547872"/>
            <a:ext cx="4937760" cy="914400"/>
          </a:xfrm>
          <a:prstGeom prst="rect">
            <a:avLst/>
          </a:prstGeom>
          <a:noFill/>
          <a:ln/>
        </p:spPr>
        <p:txBody>
          <a:bodyPr wrap="square" lIns="0" tIns="0" rIns="0" bIns="0" rtlCol="0" anchor="t"/>
          <a:lstStyle/>
          <a:p>
            <a:pPr indent="0" marL="0">
              <a:buNone/>
            </a:pPr>
            <a:r>
              <a:rPr lang="en-US" sz="1200" dirty="0">
                <a:solidFill>
                  <a:srgbClr val="1B2333"/>
                </a:solidFill>
                <a:latin typeface="Calibri" pitchFamily="34" charset="0"/>
                <a:ea typeface="Calibri" pitchFamily="34" charset="-122"/>
                <a:cs typeface="Calibri" pitchFamily="34" charset="-120"/>
              </a:rPr>
              <a:t>Rules that delay recognising bad loans keep reported assets above economic value; a bank can be economically insolvent yet still open.</a:t>
            </a:r>
            <a:endParaRPr lang="en-US" sz="1200" dirty="0"/>
          </a:p>
        </p:txBody>
      </p:sp>
      <p:sp>
        <p:nvSpPr>
          <p:cNvPr id="13" name="Shape 11"/>
          <p:cNvSpPr/>
          <p:nvPr/>
        </p:nvSpPr>
        <p:spPr>
          <a:xfrm>
            <a:off x="6217920" y="3017520"/>
            <a:ext cx="5394960" cy="1508760"/>
          </a:xfrm>
          <a:prstGeom prst="roundRect">
            <a:avLst>
              <a:gd name="adj" fmla="val 4848"/>
            </a:avLst>
          </a:prstGeom>
          <a:solidFill>
            <a:srgbClr val="EEF2F8"/>
          </a:solidFill>
          <a:ln w="12700">
            <a:solidFill>
              <a:srgbClr val="EEF2F8"/>
            </a:solidFill>
            <a:prstDash val="solid"/>
          </a:ln>
        </p:spPr>
      </p:sp>
      <p:sp>
        <p:nvSpPr>
          <p:cNvPr id="14" name="Text 12"/>
          <p:cNvSpPr txBox="1"/>
          <p:nvPr/>
        </p:nvSpPr>
        <p:spPr>
          <a:xfrm>
            <a:off x="6446520" y="3154680"/>
            <a:ext cx="4937760" cy="365760"/>
          </a:xfrm>
          <a:prstGeom prst="rect">
            <a:avLst/>
          </a:prstGeom>
          <a:noFill/>
          <a:ln/>
        </p:spPr>
        <p:txBody>
          <a:bodyPr wrap="square" lIns="0" tIns="0" rIns="0" bIns="0" rtlCol="0" anchor="t"/>
          <a:lstStyle/>
          <a:p>
            <a:pPr indent="0" marL="0">
              <a:buNone/>
            </a:pPr>
            <a:r>
              <a:rPr lang="en-US" sz="1550" b="1" dirty="0">
                <a:solidFill>
                  <a:srgbClr val="14213D"/>
                </a:solidFill>
                <a:latin typeface="Cambria" pitchFamily="34" charset="0"/>
                <a:ea typeface="Cambria" pitchFamily="34" charset="-122"/>
                <a:cs typeface="Cambria" pitchFamily="34" charset="-120"/>
              </a:rPr>
              <a:t>The credit-spread puzzle</a:t>
            </a:r>
            <a:endParaRPr lang="en-US" sz="1550" dirty="0"/>
          </a:p>
        </p:txBody>
      </p:sp>
      <p:sp>
        <p:nvSpPr>
          <p:cNvPr id="15" name="Text 13"/>
          <p:cNvSpPr txBox="1"/>
          <p:nvPr/>
        </p:nvSpPr>
        <p:spPr>
          <a:xfrm>
            <a:off x="6446520" y="3547872"/>
            <a:ext cx="4937760" cy="914400"/>
          </a:xfrm>
          <a:prstGeom prst="rect">
            <a:avLst/>
          </a:prstGeom>
          <a:noFill/>
          <a:ln/>
        </p:spPr>
        <p:txBody>
          <a:bodyPr wrap="square" lIns="0" tIns="0" rIns="0" bIns="0" rtlCol="0" anchor="t"/>
          <a:lstStyle/>
          <a:p>
            <a:pPr indent="0" marL="0">
              <a:buNone/>
            </a:pPr>
            <a:r>
              <a:rPr lang="en-US" sz="1200" dirty="0">
                <a:solidFill>
                  <a:srgbClr val="1B2333"/>
                </a:solidFill>
                <a:latin typeface="Calibri" pitchFamily="34" charset="0"/>
                <a:ea typeface="Calibri" pitchFamily="34" charset="-122"/>
                <a:cs typeface="Calibri" pitchFamily="34" charset="-120"/>
              </a:rPr>
              <a:t>Merton-type models empirically understate real-world spreads for investment-grade issuers (Huang &amp; Huang, 2012) — the normal curve underweights tail losses.</a:t>
            </a:r>
            <a:endParaRPr lang="en-US" sz="1200" dirty="0"/>
          </a:p>
        </p:txBody>
      </p:sp>
      <p:sp>
        <p:nvSpPr>
          <p:cNvPr id="16" name="Shape 14"/>
          <p:cNvSpPr/>
          <p:nvPr/>
        </p:nvSpPr>
        <p:spPr>
          <a:xfrm>
            <a:off x="548640" y="4709160"/>
            <a:ext cx="5394960" cy="1508760"/>
          </a:xfrm>
          <a:prstGeom prst="roundRect">
            <a:avLst>
              <a:gd name="adj" fmla="val 4848"/>
            </a:avLst>
          </a:prstGeom>
          <a:solidFill>
            <a:srgbClr val="14213D"/>
          </a:solidFill>
          <a:ln w="12700">
            <a:solidFill>
              <a:srgbClr val="14213D"/>
            </a:solidFill>
            <a:prstDash val="solid"/>
          </a:ln>
        </p:spPr>
      </p:sp>
      <p:sp>
        <p:nvSpPr>
          <p:cNvPr id="17" name="Text 15"/>
          <p:cNvSpPr txBox="1"/>
          <p:nvPr/>
        </p:nvSpPr>
        <p:spPr>
          <a:xfrm>
            <a:off x="777240" y="4846320"/>
            <a:ext cx="4937760" cy="365760"/>
          </a:xfrm>
          <a:prstGeom prst="rect">
            <a:avLst/>
          </a:prstGeom>
          <a:noFill/>
          <a:ln/>
        </p:spPr>
        <p:txBody>
          <a:bodyPr wrap="square" lIns="0" tIns="0" rIns="0" bIns="0" rtlCol="0" anchor="t"/>
          <a:lstStyle/>
          <a:p>
            <a:pPr indent="0" marL="0">
              <a:buNone/>
            </a:pPr>
            <a:r>
              <a:rPr lang="en-US" sz="1550" b="1" dirty="0">
                <a:solidFill>
                  <a:srgbClr val="F3C97A"/>
                </a:solidFill>
                <a:latin typeface="Cambria" pitchFamily="34" charset="0"/>
                <a:ea typeface="Cambria" pitchFamily="34" charset="-122"/>
                <a:cs typeface="Cambria" pitchFamily="34" charset="-120"/>
              </a:rPr>
              <a:t>Estimation error throughout</a:t>
            </a:r>
            <a:endParaRPr lang="en-US" sz="1550" dirty="0"/>
          </a:p>
        </p:txBody>
      </p:sp>
      <p:sp>
        <p:nvSpPr>
          <p:cNvPr id="18" name="Text 16"/>
          <p:cNvSpPr txBox="1"/>
          <p:nvPr/>
        </p:nvSpPr>
        <p:spPr>
          <a:xfrm>
            <a:off x="777240" y="5239512"/>
            <a:ext cx="4937760" cy="91440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V, σ_V, D, μ and the vol window are all chosen or estimated; an old volatility spike leaving the window moved DD by more than credit quality changed.</a:t>
            </a:r>
            <a:endParaRPr lang="en-US" sz="1200" dirty="0"/>
          </a:p>
        </p:txBody>
      </p:sp>
      <p:sp>
        <p:nvSpPr>
          <p:cNvPr id="19" name="Text 17"/>
          <p:cNvSpPr txBox="1"/>
          <p:nvPr/>
        </p:nvSpPr>
        <p:spPr>
          <a:xfrm>
            <a:off x="11521440" y="6510528"/>
            <a:ext cx="548640" cy="274320"/>
          </a:xfrm>
          <a:prstGeom prst="rect">
            <a:avLst/>
          </a:prstGeom>
          <a:noFill/>
          <a:ln/>
        </p:spPr>
        <p:txBody>
          <a:bodyPr wrap="square" lIns="0" tIns="0" rIns="0" bIns="0" rtlCol="0" anchor="t"/>
          <a:lstStyle/>
          <a:p>
            <a:pPr algn="r" indent="0" marL="0">
              <a:buNone/>
            </a:pPr>
            <a:r>
              <a:rPr lang="en-US" sz="1000" dirty="0">
                <a:solidFill>
                  <a:srgbClr val="B8BFCC"/>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320040"/>
          </a:xfrm>
          <a:prstGeom prst="rect">
            <a:avLst/>
          </a:prstGeom>
          <a:noFill/>
          <a:ln/>
        </p:spPr>
        <p:txBody>
          <a:bodyPr wrap="square" lIns="0" tIns="0" rIns="0" bIns="0" rtlCol="0" anchor="t"/>
          <a:lstStyle/>
          <a:p>
            <a:pPr indent="0" marL="0">
              <a:buNone/>
            </a:pPr>
            <a:r>
              <a:rPr lang="en-US" sz="1200" b="1" spc="200" kern="0" dirty="0">
                <a:solidFill>
                  <a:srgbClr val="1F8A7A"/>
                </a:solidFill>
                <a:latin typeface="Calibri" pitchFamily="34" charset="0"/>
                <a:ea typeface="Calibri" pitchFamily="34" charset="-122"/>
                <a:cs typeface="Calibri" pitchFamily="34" charset="-120"/>
              </a:rPr>
              <a:t>06 · REAL-WORLD IMPLICATIONS</a:t>
            </a:r>
            <a:endParaRPr lang="en-US" sz="1200" dirty="0"/>
          </a:p>
        </p:txBody>
      </p:sp>
      <p:sp>
        <p:nvSpPr>
          <p:cNvPr id="3" name="Text 1"/>
          <p:cNvSpPr txBox="1"/>
          <p:nvPr/>
        </p:nvSpPr>
        <p:spPr>
          <a:xfrm>
            <a:off x="548640" y="457200"/>
            <a:ext cx="11064240" cy="731520"/>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So what? Four different readers, four different answers</a:t>
            </a:r>
            <a:endParaRPr lang="en-US" sz="2900" dirty="0"/>
          </a:p>
        </p:txBody>
      </p:sp>
      <p:sp>
        <p:nvSpPr>
          <p:cNvPr id="4" name="Shape 2"/>
          <p:cNvSpPr/>
          <p:nvPr/>
        </p:nvSpPr>
        <p:spPr>
          <a:xfrm>
            <a:off x="548640" y="1371600"/>
            <a:ext cx="5394960" cy="2240280"/>
          </a:xfrm>
          <a:prstGeom prst="roundRect">
            <a:avLst>
              <a:gd name="adj" fmla="val 3265"/>
            </a:avLst>
          </a:prstGeom>
          <a:solidFill>
            <a:srgbClr val="EEF2F8"/>
          </a:solidFill>
          <a:ln w="12700">
            <a:solidFill>
              <a:srgbClr val="EEF2F8"/>
            </a:solidFill>
            <a:prstDash val="solid"/>
          </a:ln>
        </p:spPr>
      </p:sp>
      <p:sp>
        <p:nvSpPr>
          <p:cNvPr id="5" name="Text 3"/>
          <p:cNvSpPr txBox="1"/>
          <p:nvPr/>
        </p:nvSpPr>
        <p:spPr>
          <a:xfrm>
            <a:off x="822960" y="1536192"/>
            <a:ext cx="4846320" cy="365760"/>
          </a:xfrm>
          <a:prstGeom prst="rect">
            <a:avLst/>
          </a:prstGeom>
          <a:noFill/>
          <a:ln/>
        </p:spPr>
        <p:txBody>
          <a:bodyPr wrap="square" lIns="0" tIns="0" rIns="0" bIns="0" rtlCol="0" anchor="t"/>
          <a:lstStyle/>
          <a:p>
            <a:pPr indent="0" marL="0">
              <a:buNone/>
            </a:pPr>
            <a:r>
              <a:rPr lang="en-US" sz="1600" b="1" dirty="0">
                <a:solidFill>
                  <a:srgbClr val="14213D"/>
                </a:solidFill>
                <a:latin typeface="Cambria" pitchFamily="34" charset="0"/>
                <a:ea typeface="Cambria" pitchFamily="34" charset="-122"/>
                <a:cs typeface="Cambria" pitchFamily="34" charset="-120"/>
              </a:rPr>
              <a:t>An investor / bondholder</a:t>
            </a:r>
            <a:endParaRPr lang="en-US" sz="1600" dirty="0"/>
          </a:p>
        </p:txBody>
      </p:sp>
      <p:sp>
        <p:nvSpPr>
          <p:cNvPr id="6" name="Text 4"/>
          <p:cNvSpPr txBox="1"/>
          <p:nvPr/>
        </p:nvSpPr>
        <p:spPr>
          <a:xfrm>
            <a:off x="822960" y="1938528"/>
            <a:ext cx="4846320" cy="1600200"/>
          </a:xfrm>
          <a:prstGeom prst="rect">
            <a:avLst/>
          </a:prstGeom>
          <a:noFill/>
          <a:ln/>
        </p:spPr>
        <p:txBody>
          <a:bodyPr wrap="square" lIns="0" tIns="0" rIns="0" bIns="0" rtlCol="0" anchor="t"/>
          <a:lstStyle/>
          <a:p>
            <a:pPr indent="0" marL="0">
              <a:buNone/>
            </a:pPr>
            <a:r>
              <a:rPr lang="en-US" sz="1200" dirty="0">
                <a:solidFill>
                  <a:srgbClr val="1B2333"/>
                </a:solidFill>
                <a:latin typeface="Calibri" pitchFamily="34" charset="0"/>
                <a:ea typeface="Calibri" pitchFamily="34" charset="-122"/>
                <a:cs typeface="Calibri" pitchFamily="34" charset="-120"/>
              </a:rPr>
              <a:t>A usable, free, public early warning existed from Sep 2018 — over a year before agencies seriously questioned capital. But it also would have false-alarmed: DD partly recovered in early 2019 without a failure.</a:t>
            </a:r>
            <a:endParaRPr lang="en-US" sz="1200" dirty="0"/>
          </a:p>
        </p:txBody>
      </p:sp>
      <p:sp>
        <p:nvSpPr>
          <p:cNvPr id="7" name="Shape 5"/>
          <p:cNvSpPr/>
          <p:nvPr/>
        </p:nvSpPr>
        <p:spPr>
          <a:xfrm>
            <a:off x="6217920" y="1371600"/>
            <a:ext cx="5394960" cy="2240280"/>
          </a:xfrm>
          <a:prstGeom prst="roundRect">
            <a:avLst>
              <a:gd name="adj" fmla="val 3265"/>
            </a:avLst>
          </a:prstGeom>
          <a:solidFill>
            <a:srgbClr val="EEF2F8"/>
          </a:solidFill>
          <a:ln w="12700">
            <a:solidFill>
              <a:srgbClr val="EEF2F8"/>
            </a:solidFill>
            <a:prstDash val="solid"/>
          </a:ln>
        </p:spPr>
      </p:sp>
      <p:sp>
        <p:nvSpPr>
          <p:cNvPr id="8" name="Text 6"/>
          <p:cNvSpPr txBox="1"/>
          <p:nvPr/>
        </p:nvSpPr>
        <p:spPr>
          <a:xfrm>
            <a:off x="6492240" y="1536192"/>
            <a:ext cx="4846320" cy="365760"/>
          </a:xfrm>
          <a:prstGeom prst="rect">
            <a:avLst/>
          </a:prstGeom>
          <a:noFill/>
          <a:ln/>
        </p:spPr>
        <p:txBody>
          <a:bodyPr wrap="square" lIns="0" tIns="0" rIns="0" bIns="0" rtlCol="0" anchor="t"/>
          <a:lstStyle/>
          <a:p>
            <a:pPr indent="0" marL="0">
              <a:buNone/>
            </a:pPr>
            <a:r>
              <a:rPr lang="en-US" sz="1600" b="1" dirty="0">
                <a:solidFill>
                  <a:srgbClr val="14213D"/>
                </a:solidFill>
                <a:latin typeface="Cambria" pitchFamily="34" charset="0"/>
                <a:ea typeface="Cambria" pitchFamily="34" charset="-122"/>
                <a:cs typeface="Cambria" pitchFamily="34" charset="-120"/>
              </a:rPr>
              <a:t>A bank's own risk desk</a:t>
            </a:r>
            <a:endParaRPr lang="en-US" sz="1600" dirty="0"/>
          </a:p>
        </p:txBody>
      </p:sp>
      <p:sp>
        <p:nvSpPr>
          <p:cNvPr id="9" name="Text 7"/>
          <p:cNvSpPr txBox="1"/>
          <p:nvPr/>
        </p:nvSpPr>
        <p:spPr>
          <a:xfrm>
            <a:off x="6492240" y="1938528"/>
            <a:ext cx="4846320" cy="1600200"/>
          </a:xfrm>
          <a:prstGeom prst="rect">
            <a:avLst/>
          </a:prstGeom>
          <a:noFill/>
          <a:ln/>
        </p:spPr>
        <p:txBody>
          <a:bodyPr wrap="square" lIns="0" tIns="0" rIns="0" bIns="0" rtlCol="0" anchor="t"/>
          <a:lstStyle/>
          <a:p>
            <a:pPr indent="0" marL="0">
              <a:buNone/>
            </a:pPr>
            <a:r>
              <a:rPr lang="en-US" sz="1200" dirty="0">
                <a:solidFill>
                  <a:srgbClr val="1B2333"/>
                </a:solidFill>
                <a:latin typeface="Calibri" pitchFamily="34" charset="0"/>
                <a:ea typeface="Calibri" pitchFamily="34" charset="-122"/>
                <a:cs typeface="Calibri" pitchFamily="34" charset="-120"/>
              </a:rPr>
              <a:t>The two signals fail in opposite ways — DD is loud but blind to what the market can't see; ratings are slow but can draw on private supervisory-style access. Run both; watch where they disagree.</a:t>
            </a:r>
            <a:endParaRPr lang="en-US" sz="1200" dirty="0"/>
          </a:p>
        </p:txBody>
      </p:sp>
      <p:sp>
        <p:nvSpPr>
          <p:cNvPr id="10" name="Shape 8"/>
          <p:cNvSpPr/>
          <p:nvPr/>
        </p:nvSpPr>
        <p:spPr>
          <a:xfrm>
            <a:off x="548640" y="3794760"/>
            <a:ext cx="5394960" cy="2240280"/>
          </a:xfrm>
          <a:prstGeom prst="roundRect">
            <a:avLst>
              <a:gd name="adj" fmla="val 3265"/>
            </a:avLst>
          </a:prstGeom>
          <a:solidFill>
            <a:srgbClr val="EEF2F8"/>
          </a:solidFill>
          <a:ln w="12700">
            <a:solidFill>
              <a:srgbClr val="EEF2F8"/>
            </a:solidFill>
            <a:prstDash val="solid"/>
          </a:ln>
        </p:spPr>
      </p:sp>
      <p:sp>
        <p:nvSpPr>
          <p:cNvPr id="11" name="Text 9"/>
          <p:cNvSpPr txBox="1"/>
          <p:nvPr/>
        </p:nvSpPr>
        <p:spPr>
          <a:xfrm>
            <a:off x="822960" y="3959352"/>
            <a:ext cx="4846320" cy="365760"/>
          </a:xfrm>
          <a:prstGeom prst="rect">
            <a:avLst/>
          </a:prstGeom>
          <a:noFill/>
          <a:ln/>
        </p:spPr>
        <p:txBody>
          <a:bodyPr wrap="square" lIns="0" tIns="0" rIns="0" bIns="0" rtlCol="0" anchor="t"/>
          <a:lstStyle/>
          <a:p>
            <a:pPr indent="0" marL="0">
              <a:buNone/>
            </a:pPr>
            <a:r>
              <a:rPr lang="en-US" sz="1600" b="1" dirty="0">
                <a:solidFill>
                  <a:srgbClr val="14213D"/>
                </a:solidFill>
                <a:latin typeface="Cambria" pitchFamily="34" charset="0"/>
                <a:ea typeface="Cambria" pitchFamily="34" charset="-122"/>
                <a:cs typeface="Cambria" pitchFamily="34" charset="-120"/>
              </a:rPr>
              <a:t>A regulator</a:t>
            </a:r>
            <a:endParaRPr lang="en-US" sz="1600" dirty="0"/>
          </a:p>
        </p:txBody>
      </p:sp>
      <p:sp>
        <p:nvSpPr>
          <p:cNvPr id="12" name="Text 10"/>
          <p:cNvSpPr txBox="1"/>
          <p:nvPr/>
        </p:nvSpPr>
        <p:spPr>
          <a:xfrm>
            <a:off x="822960" y="4361688"/>
            <a:ext cx="4846320" cy="1600200"/>
          </a:xfrm>
          <a:prstGeom prst="rect">
            <a:avLst/>
          </a:prstGeom>
          <a:noFill/>
          <a:ln/>
        </p:spPr>
        <p:txBody>
          <a:bodyPr wrap="square" lIns="0" tIns="0" rIns="0" bIns="0" rtlCol="0" anchor="t"/>
          <a:lstStyle/>
          <a:p>
            <a:pPr indent="0" marL="0">
              <a:buNone/>
            </a:pPr>
            <a:r>
              <a:rPr lang="en-US" sz="1200" dirty="0">
                <a:solidFill>
                  <a:srgbClr val="1B2333"/>
                </a:solidFill>
                <a:latin typeface="Calibri" pitchFamily="34" charset="0"/>
                <a:ea typeface="Calibri" pitchFamily="34" charset="-122"/>
                <a:cs typeface="Calibri" pitchFamily="34" charset="-120"/>
              </a:rPr>
              <a:t>Neither public signal caught the one fact that mattered most — the unpublished Dec-2019 loss. The lesson isn't ‘trust markets more’; it's that market signals are a cheap tripwire for where to point scarce supervisory attention, not a substitute for supervisory access.</a:t>
            </a:r>
            <a:endParaRPr lang="en-US" sz="1200" dirty="0"/>
          </a:p>
        </p:txBody>
      </p:sp>
      <p:sp>
        <p:nvSpPr>
          <p:cNvPr id="13" name="Shape 11"/>
          <p:cNvSpPr/>
          <p:nvPr/>
        </p:nvSpPr>
        <p:spPr>
          <a:xfrm>
            <a:off x="6217920" y="3794760"/>
            <a:ext cx="5394960" cy="2240280"/>
          </a:xfrm>
          <a:prstGeom prst="roundRect">
            <a:avLst>
              <a:gd name="adj" fmla="val 3265"/>
            </a:avLst>
          </a:prstGeom>
          <a:solidFill>
            <a:srgbClr val="EEF2F8"/>
          </a:solidFill>
          <a:ln w="12700">
            <a:solidFill>
              <a:srgbClr val="EEF2F8"/>
            </a:solidFill>
            <a:prstDash val="solid"/>
          </a:ln>
        </p:spPr>
      </p:sp>
      <p:sp>
        <p:nvSpPr>
          <p:cNvPr id="14" name="Text 12"/>
          <p:cNvSpPr txBox="1"/>
          <p:nvPr/>
        </p:nvSpPr>
        <p:spPr>
          <a:xfrm>
            <a:off x="6492240" y="3959352"/>
            <a:ext cx="4846320" cy="365760"/>
          </a:xfrm>
          <a:prstGeom prst="rect">
            <a:avLst/>
          </a:prstGeom>
          <a:noFill/>
          <a:ln/>
        </p:spPr>
        <p:txBody>
          <a:bodyPr wrap="square" lIns="0" tIns="0" rIns="0" bIns="0" rtlCol="0" anchor="t"/>
          <a:lstStyle/>
          <a:p>
            <a:pPr indent="0" marL="0">
              <a:buNone/>
            </a:pPr>
            <a:r>
              <a:rPr lang="en-US" sz="1600" b="1" dirty="0">
                <a:solidFill>
                  <a:srgbClr val="14213D"/>
                </a:solidFill>
                <a:latin typeface="Cambria" pitchFamily="34" charset="0"/>
                <a:ea typeface="Cambria" pitchFamily="34" charset="-122"/>
                <a:cs typeface="Cambria" pitchFamily="34" charset="-120"/>
              </a:rPr>
              <a:t>On the rating agencies themselves</a:t>
            </a:r>
            <a:endParaRPr lang="en-US" sz="1600" dirty="0"/>
          </a:p>
        </p:txBody>
      </p:sp>
      <p:sp>
        <p:nvSpPr>
          <p:cNvPr id="15" name="Text 13"/>
          <p:cNvSpPr txBox="1"/>
          <p:nvPr/>
        </p:nvSpPr>
        <p:spPr>
          <a:xfrm>
            <a:off x="6492240" y="4361688"/>
            <a:ext cx="4846320" cy="1600200"/>
          </a:xfrm>
          <a:prstGeom prst="rect">
            <a:avLst/>
          </a:prstGeom>
          <a:noFill/>
          <a:ln/>
        </p:spPr>
        <p:txBody>
          <a:bodyPr wrap="square" lIns="0" tIns="0" rIns="0" bIns="0" rtlCol="0" anchor="t"/>
          <a:lstStyle/>
          <a:p>
            <a:pPr indent="0" marL="0">
              <a:buNone/>
            </a:pPr>
            <a:r>
              <a:rPr lang="en-US" sz="1200" dirty="0">
                <a:solidFill>
                  <a:srgbClr val="1B2333"/>
                </a:solidFill>
                <a:latin typeface="Calibri" pitchFamily="34" charset="0"/>
                <a:ea typeface="Calibri" pitchFamily="34" charset="-122"/>
                <a:cs typeface="Calibri" pitchFamily="34" charset="-120"/>
              </a:rPr>
              <a:t>SEBI's own 2023 order found real interference — for DHFL. For Yes Bank the same probe did not find enough evidence. The honest reading: the issuer-pays conflict was structurally present across the whole stressed-lender book that period, not proven corruption in this one case.</a:t>
            </a:r>
            <a:endParaRPr lang="en-US" sz="1200" dirty="0"/>
          </a:p>
        </p:txBody>
      </p:sp>
      <p:sp>
        <p:nvSpPr>
          <p:cNvPr id="16" name="Text 14"/>
          <p:cNvSpPr txBox="1"/>
          <p:nvPr/>
        </p:nvSpPr>
        <p:spPr>
          <a:xfrm>
            <a:off x="11521440" y="6510528"/>
            <a:ext cx="548640" cy="274320"/>
          </a:xfrm>
          <a:prstGeom prst="rect">
            <a:avLst/>
          </a:prstGeom>
          <a:noFill/>
          <a:ln/>
        </p:spPr>
        <p:txBody>
          <a:bodyPr wrap="square" lIns="0" tIns="0" rIns="0" bIns="0" rtlCol="0" anchor="t"/>
          <a:lstStyle/>
          <a:p>
            <a:pPr algn="r" indent="0" marL="0">
              <a:buNone/>
            </a:pPr>
            <a:r>
              <a:rPr lang="en-US" sz="1000" dirty="0">
                <a:solidFill>
                  <a:srgbClr val="B8BFCC"/>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320040"/>
          </a:xfrm>
          <a:prstGeom prst="rect">
            <a:avLst/>
          </a:prstGeom>
          <a:noFill/>
          <a:ln/>
        </p:spPr>
        <p:txBody>
          <a:bodyPr wrap="square" lIns="0" tIns="0" rIns="0" bIns="0" rtlCol="0" anchor="t"/>
          <a:lstStyle/>
          <a:p>
            <a:pPr indent="0" marL="0">
              <a:buNone/>
            </a:pPr>
            <a:r>
              <a:rPr lang="en-US" sz="1200" b="1" spc="200" kern="0" dirty="0">
                <a:solidFill>
                  <a:srgbClr val="F3C97A"/>
                </a:solidFill>
                <a:latin typeface="Calibri" pitchFamily="34" charset="0"/>
                <a:ea typeface="Calibri" pitchFamily="34" charset="-122"/>
                <a:cs typeface="Calibri" pitchFamily="34" charset="-120"/>
              </a:rPr>
              <a:t>07 · SYNTHESIS</a:t>
            </a:r>
            <a:endParaRPr lang="en-US" sz="1200" dirty="0"/>
          </a:p>
        </p:txBody>
      </p:sp>
      <p:sp>
        <p:nvSpPr>
          <p:cNvPr id="3" name="Text 1"/>
          <p:cNvSpPr txBox="1"/>
          <p:nvPr/>
        </p:nvSpPr>
        <p:spPr>
          <a:xfrm>
            <a:off x="548640" y="457200"/>
            <a:ext cx="11064240" cy="731520"/>
          </a:xfrm>
          <a:prstGeom prst="rect">
            <a:avLst/>
          </a:prstGeom>
          <a:noFill/>
          <a:ln/>
        </p:spPr>
        <p:txBody>
          <a:bodyPr wrap="square" lIns="0" tIns="0" rIns="0" bIns="0"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Use both — neither signal is enough alone</a:t>
            </a:r>
            <a:endParaRPr lang="en-US" sz="2900" dirty="0"/>
          </a:p>
        </p:txBody>
      </p:sp>
      <p:sp>
        <p:nvSpPr>
          <p:cNvPr id="4" name="Shape 2"/>
          <p:cNvSpPr/>
          <p:nvPr/>
        </p:nvSpPr>
        <p:spPr>
          <a:xfrm>
            <a:off x="548640" y="1463040"/>
            <a:ext cx="5394960" cy="2926080"/>
          </a:xfrm>
          <a:prstGeom prst="roundRect">
            <a:avLst>
              <a:gd name="adj" fmla="val 2500"/>
            </a:avLst>
          </a:prstGeom>
          <a:solidFill>
            <a:srgbClr val="1F3159"/>
          </a:solidFill>
          <a:ln w="12700">
            <a:solidFill>
              <a:srgbClr val="1F3159"/>
            </a:solidFill>
            <a:prstDash val="solid"/>
          </a:ln>
        </p:spPr>
      </p:sp>
      <p:sp>
        <p:nvSpPr>
          <p:cNvPr id="5" name="Text 3"/>
          <p:cNvSpPr txBox="1"/>
          <p:nvPr/>
        </p:nvSpPr>
        <p:spPr>
          <a:xfrm>
            <a:off x="868680" y="1691640"/>
            <a:ext cx="4754880" cy="457200"/>
          </a:xfrm>
          <a:prstGeom prst="rect">
            <a:avLst/>
          </a:prstGeom>
          <a:noFill/>
          <a:ln/>
        </p:spPr>
        <p:txBody>
          <a:bodyPr wrap="square" lIns="0" tIns="0" rIns="0" bIns="0" rtlCol="0" anchor="t"/>
          <a:lstStyle/>
          <a:p>
            <a:pPr indent="0" marL="0">
              <a:buNone/>
            </a:pPr>
            <a:r>
              <a:rPr lang="en-US" sz="2100" b="1" dirty="0">
                <a:solidFill>
                  <a:srgbClr val="F3C97A"/>
                </a:solidFill>
                <a:latin typeface="Cambria" pitchFamily="34" charset="0"/>
                <a:ea typeface="Cambria" pitchFamily="34" charset="-122"/>
                <a:cs typeface="Cambria" pitchFamily="34" charset="-120"/>
              </a:rPr>
              <a:t>Rating agencies</a:t>
            </a:r>
            <a:endParaRPr lang="en-US" sz="2100" dirty="0"/>
          </a:p>
        </p:txBody>
      </p:sp>
      <p:sp>
        <p:nvSpPr>
          <p:cNvPr id="6" name="Text 4"/>
          <p:cNvSpPr txBox="1"/>
          <p:nvPr/>
        </p:nvSpPr>
        <p:spPr>
          <a:xfrm>
            <a:off x="868680" y="2286000"/>
            <a:ext cx="4754880" cy="2011680"/>
          </a:xfrm>
          <a:prstGeom prst="rect">
            <a:avLst/>
          </a:prstGeom>
          <a:noFill/>
          <a:ln/>
        </p:spPr>
        <p:txBody>
          <a:bodyPr wrap="square" lIns="0" tIns="0" rIns="0" bIns="0" rtlCol="0" anchor="t"/>
          <a:lstStyle/>
          <a:p>
            <a:pPr indent="0" marL="0">
              <a:spcAft>
                <a:spcPts val="800"/>
              </a:spcAft>
              <a:buNone/>
            </a:pPr>
            <a:r>
              <a:rPr lang="en-US" sz="1400" dirty="0">
                <a:solidFill>
                  <a:srgbClr val="FFFFFF"/>
                </a:solidFill>
                <a:latin typeface="Calibri" pitchFamily="34" charset="0"/>
                <a:ea typeface="Calibri" pitchFamily="34" charset="-122"/>
                <a:cs typeface="Calibri" pitchFamily="34" charset="-120"/>
              </a:rPr>
              <a:t>+ Use private, qualitative information</a:t>
            </a:r>
            <a:endParaRPr lang="en-US" sz="1400" dirty="0"/>
          </a:p>
          <a:p>
            <a:pPr indent="0" marL="0">
              <a:spcAft>
                <a:spcPts val="800"/>
              </a:spcAft>
              <a:buNone/>
            </a:pPr>
            <a:r>
              <a:rPr lang="en-US" sz="1400" dirty="0">
                <a:solidFill>
                  <a:srgbClr val="FFFFFF"/>
                </a:solidFill>
                <a:latin typeface="Calibri" pitchFamily="34" charset="0"/>
                <a:ea typeface="Calibri" pitchFamily="34" charset="-122"/>
                <a:cs typeface="Calibri" pitchFamily="34" charset="-120"/>
              </a:rPr>
              <a:t>+ Stable; anchor mandates &amp; regulation</a:t>
            </a:r>
            <a:endParaRPr lang="en-US" sz="1400" dirty="0"/>
          </a:p>
          <a:p>
            <a:pPr indent="0" marL="0">
              <a:spcAft>
                <a:spcPts val="800"/>
              </a:spcAft>
              <a:buNone/>
            </a:pPr>
            <a:r>
              <a:rPr lang="en-US" sz="1400" dirty="0">
                <a:solidFill>
                  <a:srgbClr val="FFFFFF"/>
                </a:solidFill>
                <a:latin typeface="Calibri" pitchFamily="34" charset="0"/>
                <a:ea typeface="Calibri" pitchFamily="34" charset="-122"/>
                <a:cs typeface="Calibri" pitchFamily="34" charset="-120"/>
              </a:rPr>
              <a:t>− Slow; move in steps, after the evidence is in</a:t>
            </a:r>
            <a:endParaRPr lang="en-US" sz="1400" dirty="0"/>
          </a:p>
        </p:txBody>
      </p:sp>
      <p:sp>
        <p:nvSpPr>
          <p:cNvPr id="7" name="Shape 5"/>
          <p:cNvSpPr/>
          <p:nvPr/>
        </p:nvSpPr>
        <p:spPr>
          <a:xfrm>
            <a:off x="6217920" y="1463040"/>
            <a:ext cx="5394960" cy="2926080"/>
          </a:xfrm>
          <a:prstGeom prst="roundRect">
            <a:avLst>
              <a:gd name="adj" fmla="val 2500"/>
            </a:avLst>
          </a:prstGeom>
          <a:solidFill>
            <a:srgbClr val="1F3159"/>
          </a:solidFill>
          <a:ln w="12700">
            <a:solidFill>
              <a:srgbClr val="1F3159"/>
            </a:solidFill>
            <a:prstDash val="solid"/>
          </a:ln>
        </p:spPr>
      </p:sp>
      <p:sp>
        <p:nvSpPr>
          <p:cNvPr id="8" name="Text 6"/>
          <p:cNvSpPr txBox="1"/>
          <p:nvPr/>
        </p:nvSpPr>
        <p:spPr>
          <a:xfrm>
            <a:off x="6537960" y="1691640"/>
            <a:ext cx="4754880" cy="457200"/>
          </a:xfrm>
          <a:prstGeom prst="rect">
            <a:avLst/>
          </a:prstGeom>
          <a:noFill/>
          <a:ln/>
        </p:spPr>
        <p:txBody>
          <a:bodyPr wrap="square" lIns="0" tIns="0" rIns="0" bIns="0" rtlCol="0" anchor="t"/>
          <a:lstStyle/>
          <a:p>
            <a:pPr indent="0" marL="0">
              <a:buNone/>
            </a:pPr>
            <a:r>
              <a:rPr lang="en-US" sz="2100" b="1" dirty="0">
                <a:solidFill>
                  <a:srgbClr val="F3C97A"/>
                </a:solidFill>
                <a:latin typeface="Cambria" pitchFamily="34" charset="0"/>
                <a:ea typeface="Cambria" pitchFamily="34" charset="-122"/>
                <a:cs typeface="Cambria" pitchFamily="34" charset="-120"/>
              </a:rPr>
              <a:t>Market-implied models</a:t>
            </a:r>
            <a:endParaRPr lang="en-US" sz="2100" dirty="0"/>
          </a:p>
        </p:txBody>
      </p:sp>
      <p:sp>
        <p:nvSpPr>
          <p:cNvPr id="9" name="Text 7"/>
          <p:cNvSpPr txBox="1"/>
          <p:nvPr/>
        </p:nvSpPr>
        <p:spPr>
          <a:xfrm>
            <a:off x="6537960" y="2286000"/>
            <a:ext cx="4754880" cy="2011680"/>
          </a:xfrm>
          <a:prstGeom prst="rect">
            <a:avLst/>
          </a:prstGeom>
          <a:noFill/>
          <a:ln/>
        </p:spPr>
        <p:txBody>
          <a:bodyPr wrap="square" lIns="0" tIns="0" rIns="0" bIns="0" rtlCol="0" anchor="t"/>
          <a:lstStyle/>
          <a:p>
            <a:pPr indent="0" marL="0">
              <a:spcAft>
                <a:spcPts val="800"/>
              </a:spcAft>
              <a:buNone/>
            </a:pPr>
            <a:r>
              <a:rPr lang="en-US" sz="1400" dirty="0">
                <a:solidFill>
                  <a:srgbClr val="FFFFFF"/>
                </a:solidFill>
                <a:latin typeface="Calibri" pitchFamily="34" charset="0"/>
                <a:ea typeface="Calibri" pitchFamily="34" charset="-122"/>
                <a:cs typeface="Calibri" pitchFamily="34" charset="-120"/>
              </a:rPr>
              <a:t>+ Continuous, fast, cheap to update</a:t>
            </a:r>
            <a:endParaRPr lang="en-US" sz="1400" dirty="0"/>
          </a:p>
          <a:p>
            <a:pPr indent="0" marL="0">
              <a:spcAft>
                <a:spcPts val="800"/>
              </a:spcAft>
              <a:buNone/>
            </a:pPr>
            <a:r>
              <a:rPr lang="en-US" sz="1400" dirty="0">
                <a:solidFill>
                  <a:srgbClr val="FFFFFF"/>
                </a:solidFill>
                <a:latin typeface="Calibri" pitchFamily="34" charset="0"/>
                <a:ea typeface="Calibri" pitchFamily="34" charset="-122"/>
                <a:cs typeface="Calibri" pitchFamily="34" charset="-120"/>
              </a:rPr>
              <a:t>+ No committee needed</a:t>
            </a:r>
            <a:endParaRPr lang="en-US" sz="1400" dirty="0"/>
          </a:p>
          <a:p>
            <a:pPr indent="0" marL="0">
              <a:spcAft>
                <a:spcPts val="800"/>
              </a:spcAft>
              <a:buNone/>
            </a:pPr>
            <a:r>
              <a:rPr lang="en-US" sz="1400" dirty="0">
                <a:solidFill>
                  <a:srgbClr val="FFFFFF"/>
                </a:solidFill>
                <a:latin typeface="Calibri" pitchFamily="34" charset="0"/>
                <a:ea typeface="Calibri" pitchFamily="34" charset="-122"/>
                <a:cs typeface="Calibri" pitchFamily="34" charset="-120"/>
              </a:rPr>
              <a:t>− Noisy; blind to losses the market can't see; needs traded equity</a:t>
            </a:r>
            <a:endParaRPr lang="en-US" sz="1400" dirty="0"/>
          </a:p>
        </p:txBody>
      </p:sp>
      <p:sp>
        <p:nvSpPr>
          <p:cNvPr id="10" name="Text 8"/>
          <p:cNvSpPr txBox="1"/>
          <p:nvPr/>
        </p:nvSpPr>
        <p:spPr>
          <a:xfrm>
            <a:off x="548640" y="4709160"/>
            <a:ext cx="11064240" cy="822960"/>
          </a:xfrm>
          <a:prstGeom prst="rect">
            <a:avLst/>
          </a:prstGeom>
          <a:noFill/>
          <a:ln/>
        </p:spPr>
        <p:txBody>
          <a:bodyPr wrap="square" lIns="0" tIns="0" rIns="0" bIns="0" rtlCol="0" anchor="t"/>
          <a:lstStyle/>
          <a:p>
            <a:pPr indent="0" marL="0">
              <a:buNone/>
            </a:pPr>
            <a:r>
              <a:rPr lang="en-US" sz="1900" i="1" dirty="0">
                <a:solidFill>
                  <a:srgbClr val="FFFFFF"/>
                </a:solidFill>
                <a:latin typeface="Cambria" pitchFamily="34" charset="0"/>
                <a:ea typeface="Cambria" pitchFamily="34" charset="-122"/>
                <a:cs typeface="Cambria" pitchFamily="34" charset="-120"/>
              </a:rPr>
              <a:t>Real risk management and regulation read both: the committee's judgement and the market's price.</a:t>
            </a:r>
            <a:endParaRPr lang="en-US" sz="1900" dirty="0"/>
          </a:p>
        </p:txBody>
      </p:sp>
      <p:sp>
        <p:nvSpPr>
          <p:cNvPr id="11" name="Text 9"/>
          <p:cNvSpPr txBox="1"/>
          <p:nvPr/>
        </p:nvSpPr>
        <p:spPr>
          <a:xfrm>
            <a:off x="548640" y="5715000"/>
            <a:ext cx="11064240" cy="548640"/>
          </a:xfrm>
          <a:prstGeom prst="rect">
            <a:avLst/>
          </a:prstGeom>
          <a:noFill/>
          <a:ln/>
        </p:spPr>
        <p:txBody>
          <a:bodyPr wrap="square" lIns="0" tIns="0" rIns="0" bIns="0" rtlCol="0" anchor="t"/>
          <a:lstStyle/>
          <a:p>
            <a:pPr indent="0" marL="0">
              <a:buNone/>
            </a:pPr>
            <a:r>
              <a:rPr lang="en-US" sz="1250" dirty="0">
                <a:solidFill>
                  <a:srgbClr val="AFC0DB"/>
                </a:solidFill>
                <a:latin typeface="Calibri" pitchFamily="34" charset="0"/>
                <a:ea typeface="Calibri" pitchFamily="34" charset="-122"/>
                <a:cs typeface="Calibri" pitchFamily="34" charset="-120"/>
              </a:rPr>
              <a:t>Where this idea led next: Vasicek's one-factor extension of the Merton model underlies the Basel IRB capital formula.</a:t>
            </a:r>
            <a:endParaRPr lang="en-US" sz="1250" dirty="0"/>
          </a:p>
        </p:txBody>
      </p:sp>
      <p:sp>
        <p:nvSpPr>
          <p:cNvPr id="12" name="Text 10"/>
          <p:cNvSpPr txBox="1"/>
          <p:nvPr/>
        </p:nvSpPr>
        <p:spPr>
          <a:xfrm>
            <a:off x="11521440" y="6510528"/>
            <a:ext cx="548640" cy="274320"/>
          </a:xfrm>
          <a:prstGeom prst="rect">
            <a:avLst/>
          </a:prstGeom>
          <a:noFill/>
          <a:ln/>
        </p:spPr>
        <p:txBody>
          <a:bodyPr wrap="square" lIns="0" tIns="0" rIns="0" bIns="0" rtlCol="0" anchor="t"/>
          <a:lstStyle/>
          <a:p>
            <a:pPr algn="r" indent="0" marL="0">
              <a:buNone/>
            </a:pPr>
            <a:r>
              <a:rPr lang="en-US" sz="1000" dirty="0">
                <a:solidFill>
                  <a:srgbClr val="8A97B8"/>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731520" y="2377440"/>
            <a:ext cx="10424160" cy="1097280"/>
          </a:xfrm>
          <a:prstGeom prst="rect">
            <a:avLst/>
          </a:prstGeom>
          <a:noFill/>
          <a:ln/>
        </p:spPr>
        <p:txBody>
          <a:bodyPr wrap="square" lIns="0" tIns="0" rIns="0" bIns="0" rtlCol="0" anchor="t"/>
          <a:lstStyle/>
          <a:p>
            <a:pPr indent="0" marL="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3" name="Text 1"/>
          <p:cNvSpPr txBox="1"/>
          <p:nvPr/>
        </p:nvSpPr>
        <p:spPr>
          <a:xfrm>
            <a:off x="731520" y="3429000"/>
            <a:ext cx="10424160" cy="548640"/>
          </a:xfrm>
          <a:prstGeom prst="rect">
            <a:avLst/>
          </a:prstGeom>
          <a:noFill/>
          <a:ln/>
        </p:spPr>
        <p:txBody>
          <a:bodyPr wrap="square" lIns="0" tIns="0" rIns="0" bIns="0" rtlCol="0" anchor="t"/>
          <a:lstStyle/>
          <a:p>
            <a:pPr indent="0" marL="0">
              <a:buNone/>
            </a:pPr>
            <a:r>
              <a:rPr lang="en-US" sz="2000" i="1" dirty="0">
                <a:solidFill>
                  <a:srgbClr val="F3C97A"/>
                </a:solidFill>
                <a:latin typeface="Calibri" pitchFamily="34" charset="0"/>
                <a:ea typeface="Calibri" pitchFamily="34" charset="-122"/>
                <a:cs typeface="Calibri" pitchFamily="34" charset="-120"/>
              </a:rPr>
              <a:t>Questions &amp; discussion</a:t>
            </a:r>
            <a:endParaRPr lang="en-US" sz="2000" dirty="0"/>
          </a:p>
        </p:txBody>
      </p:sp>
      <p:sp>
        <p:nvSpPr>
          <p:cNvPr id="4" name="Text 2"/>
          <p:cNvSpPr txBox="1"/>
          <p:nvPr/>
        </p:nvSpPr>
        <p:spPr>
          <a:xfrm>
            <a:off x="731520" y="6035040"/>
            <a:ext cx="10424160" cy="548640"/>
          </a:xfrm>
          <a:prstGeom prst="rect">
            <a:avLst/>
          </a:prstGeom>
          <a:noFill/>
          <a:ln/>
        </p:spPr>
        <p:txBody>
          <a:bodyPr wrap="square" lIns="0" tIns="0" rIns="0" bIns="0" rtlCol="0" anchor="t"/>
          <a:lstStyle/>
          <a:p>
            <a:pPr indent="0" marL="0">
              <a:buNone/>
            </a:pPr>
            <a:r>
              <a:rPr lang="en-US" sz="1300" dirty="0">
                <a:solidFill>
                  <a:srgbClr val="AFC0DB"/>
                </a:solidFill>
                <a:latin typeface="Calibri" pitchFamily="34" charset="0"/>
                <a:ea typeface="Calibri" pitchFamily="34" charset="-122"/>
                <a:cs typeface="Calibri" pitchFamily="34" charset="-120"/>
              </a:rPr>
              <a:t>Dhritabrata Swarnakar  ·  MS37025, Department of Management Studies, NIT Warangal</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2026-10-01T11:42:14Z</dcterms:created>
  <dcterms:modified xsi:type="dcterms:W3CDTF">2026-10-01T11:42:14Z</dcterms:modified>
</cp:coreProperties>
</file>